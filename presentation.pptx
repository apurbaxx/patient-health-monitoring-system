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63" r:id="rId3"/>
    <p:sldId id="256" r:id="rId4"/>
    <p:sldId id="259" r:id="rId5"/>
    <p:sldId id="260" r:id="rId6"/>
    <p:sldId id="261" r:id="rId7"/>
    <p:sldId id="262" r:id="rId8"/>
  </p:sldIdLst>
  <p:sldSz cx="15925800" cy="8953500"/>
  <p:notesSz cx="6858000" cy="9144000"/>
  <p:embeddedFontLst>
    <p:embeddedFont>
      <p:font typeface="Agency FB" panose="020B0503020202020204" pitchFamily="34" charset="0"/>
      <p:regular r:id="rId9"/>
      <p:bold r:id="rId10"/>
    </p:embeddedFont>
    <p:embeddedFont>
      <p:font typeface="Algerian" panose="04020705040A02060702" pitchFamily="82" charset="0"/>
      <p:regular r:id="rId11"/>
    </p:embeddedFont>
    <p:embeddedFont>
      <p:font typeface="Aptos Narrow" panose="020B0004020202020204" pitchFamily="34" charset="0"/>
      <p:regular r:id="rId12"/>
      <p:bold r:id="rId13"/>
      <p:italic r:id="rId14"/>
      <p:boldItalic r:id="rId15"/>
    </p:embeddedFont>
    <p:embeddedFont>
      <p:font typeface="Arial Narrow" panose="020B0606020202030204" pitchFamily="34" charset="0"/>
      <p:regular r:id="rId16"/>
      <p:bold r:id="rId17"/>
      <p:italic r:id="rId18"/>
      <p:boldItalic r:id="rId19"/>
    </p:embeddedFont>
    <p:embeddedFont>
      <p:font typeface="Bebas Neue Bold" panose="020B0604020202020204" charset="0"/>
      <p:regular r:id="rId20"/>
    </p:embeddedFont>
    <p:embeddedFont>
      <p:font typeface="Farro Bold" panose="020B0604020202020204" charset="0"/>
      <p:regular r:id="rId21"/>
    </p:embeddedFont>
    <p:embeddedFont>
      <p:font typeface="Nourd" panose="020B0604020202020204" charset="0"/>
      <p:regular r:id="rId22"/>
    </p:embeddedFont>
    <p:embeddedFont>
      <p:font typeface="Nourd Bold" panose="020B0604020202020204" charset="0"/>
      <p:regular r:id="rId23"/>
    </p:embeddedFont>
    <p:embeddedFont>
      <p:font typeface="Nunito Bold" panose="020B0604020202020204" charset="0"/>
      <p:regular r:id="rId24"/>
      <p:bold r:id="rId25"/>
    </p:embeddedFont>
    <p:embeddedFont>
      <p:font typeface="Nunito Ultra-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7B6641-6996-4513-B7BD-4CA1C9D37636}" v="26" dt="2026-09-05T13:29:19.9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1" d="100"/>
          <a:sy n="81"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viewProps" Target="viewProps.xml"/><Relationship Id="rId10" Type="http://schemas.openxmlformats.org/officeDocument/2006/relationships/font" Target="fonts/font2.fntdata"/><Relationship Id="rId19" Type="http://schemas.openxmlformats.org/officeDocument/2006/relationships/font" Target="fonts/font11.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urba Das" userId="abd26444a01c02cd" providerId="LiveId" clId="{D3AF2B52-A7D4-441D-9F19-C0949B994032}"/>
    <pc:docChg chg="undo custSel addSld delSld modSld sldOrd">
      <pc:chgData name="Apurba Das" userId="abd26444a01c02cd" providerId="LiveId" clId="{D3AF2B52-A7D4-441D-9F19-C0949B994032}" dt="2026-09-05T13:29:51.854" v="711" actId="20577"/>
      <pc:docMkLst>
        <pc:docMk/>
      </pc:docMkLst>
      <pc:sldChg chg="addSp delSp mod">
        <pc:chgData name="Apurba Das" userId="abd26444a01c02cd" providerId="LiveId" clId="{D3AF2B52-A7D4-441D-9F19-C0949B994032}" dt="2026-09-03T13:34:11.742" v="524" actId="21"/>
        <pc:sldMkLst>
          <pc:docMk/>
          <pc:sldMk cId="0" sldId="256"/>
        </pc:sldMkLst>
        <pc:spChg chg="add del">
          <ac:chgData name="Apurba Das" userId="abd26444a01c02cd" providerId="LiveId" clId="{D3AF2B52-A7D4-441D-9F19-C0949B994032}" dt="2026-09-03T13:34:11.742" v="524" actId="21"/>
          <ac:spMkLst>
            <pc:docMk/>
            <pc:sldMk cId="0" sldId="256"/>
            <ac:spMk id="4" creationId="{00000000-0000-0000-0000-000000000000}"/>
          </ac:spMkLst>
        </pc:spChg>
      </pc:sldChg>
      <pc:sldChg chg="addSp delSp modSp mod">
        <pc:chgData name="Apurba Das" userId="abd26444a01c02cd" providerId="LiveId" clId="{D3AF2B52-A7D4-441D-9F19-C0949B994032}" dt="2026-09-05T13:29:51.854" v="711" actId="20577"/>
        <pc:sldMkLst>
          <pc:docMk/>
          <pc:sldMk cId="2002665287" sldId="257"/>
        </pc:sldMkLst>
        <pc:spChg chg="add mod">
          <ac:chgData name="Apurba Das" userId="abd26444a01c02cd" providerId="LiveId" clId="{D3AF2B52-A7D4-441D-9F19-C0949B994032}" dt="2026-09-05T13:12:06.945" v="651" actId="1076"/>
          <ac:spMkLst>
            <pc:docMk/>
            <pc:sldMk cId="2002665287" sldId="257"/>
            <ac:spMk id="2" creationId="{65FDA832-CBA8-86DC-39D5-78664B2550FF}"/>
          </ac:spMkLst>
        </pc:spChg>
        <pc:spChg chg="mod">
          <ac:chgData name="Apurba Das" userId="abd26444a01c02cd" providerId="LiveId" clId="{D3AF2B52-A7D4-441D-9F19-C0949B994032}" dt="2026-09-05T13:29:51.854" v="711" actId="20577"/>
          <ac:spMkLst>
            <pc:docMk/>
            <pc:sldMk cId="2002665287" sldId="257"/>
            <ac:spMk id="11" creationId="{0C25EA14-D4B7-AF5E-183E-DF6242AD183D}"/>
          </ac:spMkLst>
        </pc:spChg>
        <pc:picChg chg="add del mod">
          <ac:chgData name="Apurba Das" userId="abd26444a01c02cd" providerId="LiveId" clId="{D3AF2B52-A7D4-441D-9F19-C0949B994032}" dt="2026-09-05T13:13:18.571" v="655" actId="478"/>
          <ac:picMkLst>
            <pc:docMk/>
            <pc:sldMk cId="2002665287" sldId="257"/>
            <ac:picMk id="3" creationId="{68EEBD9E-81DB-323D-A4B8-174C9C0E6631}"/>
          </ac:picMkLst>
        </pc:picChg>
        <pc:picChg chg="add mod ord">
          <ac:chgData name="Apurba Das" userId="abd26444a01c02cd" providerId="LiveId" clId="{D3AF2B52-A7D4-441D-9F19-C0949B994032}" dt="2026-09-05T13:14:11.417" v="661" actId="167"/>
          <ac:picMkLst>
            <pc:docMk/>
            <pc:sldMk cId="2002665287" sldId="257"/>
            <ac:picMk id="4" creationId="{4DCF198D-8002-A7DA-5F21-4EAF8C76BFBF}"/>
          </ac:picMkLst>
        </pc:picChg>
      </pc:sldChg>
      <pc:sldChg chg="addSp delSp modSp add mod ord">
        <pc:chgData name="Apurba Das" userId="abd26444a01c02cd" providerId="LiveId" clId="{D3AF2B52-A7D4-441D-9F19-C0949B994032}" dt="2026-09-05T13:15:37.442" v="663" actId="20577"/>
        <pc:sldMkLst>
          <pc:docMk/>
          <pc:sldMk cId="0" sldId="259"/>
        </pc:sldMkLst>
        <pc:spChg chg="mod">
          <ac:chgData name="Apurba Das" userId="abd26444a01c02cd" providerId="LiveId" clId="{D3AF2B52-A7D4-441D-9F19-C0949B994032}" dt="2026-09-03T12:56:43.284" v="7" actId="1076"/>
          <ac:spMkLst>
            <pc:docMk/>
            <pc:sldMk cId="0" sldId="259"/>
            <ac:spMk id="5" creationId="{00000000-0000-0000-0000-000000000000}"/>
          </ac:spMkLst>
        </pc:spChg>
        <pc:spChg chg="mod">
          <ac:chgData name="Apurba Das" userId="abd26444a01c02cd" providerId="LiveId" clId="{D3AF2B52-A7D4-441D-9F19-C0949B994032}" dt="2026-09-03T12:57:07.362" v="13" actId="1076"/>
          <ac:spMkLst>
            <pc:docMk/>
            <pc:sldMk cId="0" sldId="259"/>
            <ac:spMk id="7" creationId="{00000000-0000-0000-0000-000000000000}"/>
          </ac:spMkLst>
        </pc:spChg>
        <pc:spChg chg="mod">
          <ac:chgData name="Apurba Das" userId="abd26444a01c02cd" providerId="LiveId" clId="{D3AF2B52-A7D4-441D-9F19-C0949B994032}" dt="2026-09-03T12:57:00.812" v="11" actId="1076"/>
          <ac:spMkLst>
            <pc:docMk/>
            <pc:sldMk cId="0" sldId="259"/>
            <ac:spMk id="8" creationId="{00000000-0000-0000-0000-000000000000}"/>
          </ac:spMkLst>
        </pc:spChg>
        <pc:spChg chg="mod">
          <ac:chgData name="Apurba Das" userId="abd26444a01c02cd" providerId="LiveId" clId="{D3AF2B52-A7D4-441D-9F19-C0949B994032}" dt="2026-09-03T13:03:11.375" v="239" actId="20577"/>
          <ac:spMkLst>
            <pc:docMk/>
            <pc:sldMk cId="0" sldId="259"/>
            <ac:spMk id="13" creationId="{00000000-0000-0000-0000-000000000000}"/>
          </ac:spMkLst>
        </pc:spChg>
        <pc:spChg chg="mod">
          <ac:chgData name="Apurba Das" userId="abd26444a01c02cd" providerId="LiveId" clId="{D3AF2B52-A7D4-441D-9F19-C0949B994032}" dt="2026-09-03T12:59:29.826" v="71" actId="1076"/>
          <ac:spMkLst>
            <pc:docMk/>
            <pc:sldMk cId="0" sldId="259"/>
            <ac:spMk id="23" creationId="{00000000-0000-0000-0000-000000000000}"/>
          </ac:spMkLst>
        </pc:spChg>
        <pc:spChg chg="mod">
          <ac:chgData name="Apurba Das" userId="abd26444a01c02cd" providerId="LiveId" clId="{D3AF2B52-A7D4-441D-9F19-C0949B994032}" dt="2026-09-03T13:03:17.400" v="240" actId="14100"/>
          <ac:spMkLst>
            <pc:docMk/>
            <pc:sldMk cId="0" sldId="259"/>
            <ac:spMk id="25" creationId="{00000000-0000-0000-0000-000000000000}"/>
          </ac:spMkLst>
        </pc:spChg>
        <pc:spChg chg="mod">
          <ac:chgData name="Apurba Das" userId="abd26444a01c02cd" providerId="LiveId" clId="{D3AF2B52-A7D4-441D-9F19-C0949B994032}" dt="2026-09-03T12:57:23.030" v="16" actId="14100"/>
          <ac:spMkLst>
            <pc:docMk/>
            <pc:sldMk cId="0" sldId="259"/>
            <ac:spMk id="29" creationId="{00000000-0000-0000-0000-000000000000}"/>
          </ac:spMkLst>
        </pc:spChg>
        <pc:spChg chg="mod">
          <ac:chgData name="Apurba Das" userId="abd26444a01c02cd" providerId="LiveId" clId="{D3AF2B52-A7D4-441D-9F19-C0949B994032}" dt="2026-09-03T12:57:35.293" v="19" actId="1076"/>
          <ac:spMkLst>
            <pc:docMk/>
            <pc:sldMk cId="0" sldId="259"/>
            <ac:spMk id="35" creationId="{00000000-0000-0000-0000-000000000000}"/>
          </ac:spMkLst>
        </pc:spChg>
        <pc:spChg chg="add del">
          <ac:chgData name="Apurba Das" userId="abd26444a01c02cd" providerId="LiveId" clId="{D3AF2B52-A7D4-441D-9F19-C0949B994032}" dt="2026-09-03T13:31:11.166" v="504" actId="21"/>
          <ac:spMkLst>
            <pc:docMk/>
            <pc:sldMk cId="0" sldId="259"/>
            <ac:spMk id="41" creationId="{00000000-0000-0000-0000-000000000000}"/>
          </ac:spMkLst>
        </pc:spChg>
        <pc:spChg chg="mod ord">
          <ac:chgData name="Apurba Das" userId="abd26444a01c02cd" providerId="LiveId" clId="{D3AF2B52-A7D4-441D-9F19-C0949B994032}" dt="2026-09-05T13:15:37.442" v="663" actId="20577"/>
          <ac:spMkLst>
            <pc:docMk/>
            <pc:sldMk cId="0" sldId="259"/>
            <ac:spMk id="50" creationId="{00000000-0000-0000-0000-000000000000}"/>
          </ac:spMkLst>
        </pc:spChg>
        <pc:spChg chg="mod">
          <ac:chgData name="Apurba Das" userId="abd26444a01c02cd" providerId="LiveId" clId="{D3AF2B52-A7D4-441D-9F19-C0949B994032}" dt="2026-09-03T13:01:40.935" v="125" actId="403"/>
          <ac:spMkLst>
            <pc:docMk/>
            <pc:sldMk cId="0" sldId="259"/>
            <ac:spMk id="52" creationId="{00000000-0000-0000-0000-000000000000}"/>
          </ac:spMkLst>
        </pc:spChg>
        <pc:spChg chg="mod">
          <ac:chgData name="Apurba Das" userId="abd26444a01c02cd" providerId="LiveId" clId="{D3AF2B52-A7D4-441D-9F19-C0949B994032}" dt="2026-09-03T13:01:37.814" v="121" actId="403"/>
          <ac:spMkLst>
            <pc:docMk/>
            <pc:sldMk cId="0" sldId="259"/>
            <ac:spMk id="53" creationId="{00000000-0000-0000-0000-000000000000}"/>
          </ac:spMkLst>
        </pc:spChg>
        <pc:spChg chg="mod">
          <ac:chgData name="Apurba Das" userId="abd26444a01c02cd" providerId="LiveId" clId="{D3AF2B52-A7D4-441D-9F19-C0949B994032}" dt="2026-09-03T13:01:33.311" v="117" actId="403"/>
          <ac:spMkLst>
            <pc:docMk/>
            <pc:sldMk cId="0" sldId="259"/>
            <ac:spMk id="54" creationId="{00000000-0000-0000-0000-000000000000}"/>
          </ac:spMkLst>
        </pc:spChg>
        <pc:spChg chg="mod">
          <ac:chgData name="Apurba Das" userId="abd26444a01c02cd" providerId="LiveId" clId="{D3AF2B52-A7D4-441D-9F19-C0949B994032}" dt="2026-09-03T13:01:29.135" v="113" actId="403"/>
          <ac:spMkLst>
            <pc:docMk/>
            <pc:sldMk cId="0" sldId="259"/>
            <ac:spMk id="55" creationId="{00000000-0000-0000-0000-000000000000}"/>
          </ac:spMkLst>
        </pc:spChg>
        <pc:spChg chg="mod">
          <ac:chgData name="Apurba Das" userId="abd26444a01c02cd" providerId="LiveId" clId="{D3AF2B52-A7D4-441D-9F19-C0949B994032}" dt="2026-09-03T13:01:25.415" v="109" actId="403"/>
          <ac:spMkLst>
            <pc:docMk/>
            <pc:sldMk cId="0" sldId="259"/>
            <ac:spMk id="56" creationId="{00000000-0000-0000-0000-000000000000}"/>
          </ac:spMkLst>
        </pc:spChg>
        <pc:spChg chg="mod">
          <ac:chgData name="Apurba Das" userId="abd26444a01c02cd" providerId="LiveId" clId="{D3AF2B52-A7D4-441D-9F19-C0949B994032}" dt="2026-09-03T13:46:21.394" v="598" actId="1076"/>
          <ac:spMkLst>
            <pc:docMk/>
            <pc:sldMk cId="0" sldId="259"/>
            <ac:spMk id="57" creationId="{00000000-0000-0000-0000-000000000000}"/>
          </ac:spMkLst>
        </pc:spChg>
        <pc:spChg chg="mod">
          <ac:chgData name="Apurba Das" userId="abd26444a01c02cd" providerId="LiveId" clId="{D3AF2B52-A7D4-441D-9F19-C0949B994032}" dt="2026-09-03T13:45:47.417" v="589" actId="1076"/>
          <ac:spMkLst>
            <pc:docMk/>
            <pc:sldMk cId="0" sldId="259"/>
            <ac:spMk id="58" creationId="{00000000-0000-0000-0000-000000000000}"/>
          </ac:spMkLst>
        </pc:spChg>
        <pc:spChg chg="mod">
          <ac:chgData name="Apurba Das" userId="abd26444a01c02cd" providerId="LiveId" clId="{D3AF2B52-A7D4-441D-9F19-C0949B994032}" dt="2026-09-03T13:46:01.521" v="593" actId="1076"/>
          <ac:spMkLst>
            <pc:docMk/>
            <pc:sldMk cId="0" sldId="259"/>
            <ac:spMk id="59" creationId="{00000000-0000-0000-0000-000000000000}"/>
          </ac:spMkLst>
        </pc:spChg>
        <pc:spChg chg="mod">
          <ac:chgData name="Apurba Das" userId="abd26444a01c02cd" providerId="LiveId" clId="{D3AF2B52-A7D4-441D-9F19-C0949B994032}" dt="2026-09-03T13:45:53.697" v="591" actId="1076"/>
          <ac:spMkLst>
            <pc:docMk/>
            <pc:sldMk cId="0" sldId="259"/>
            <ac:spMk id="60" creationId="{00000000-0000-0000-0000-000000000000}"/>
          </ac:spMkLst>
        </pc:spChg>
        <pc:spChg chg="mod">
          <ac:chgData name="Apurba Das" userId="abd26444a01c02cd" providerId="LiveId" clId="{D3AF2B52-A7D4-441D-9F19-C0949B994032}" dt="2026-09-03T13:46:10.673" v="595" actId="1076"/>
          <ac:spMkLst>
            <pc:docMk/>
            <pc:sldMk cId="0" sldId="259"/>
            <ac:spMk id="61" creationId="{00000000-0000-0000-0000-000000000000}"/>
          </ac:spMkLst>
        </pc:spChg>
        <pc:spChg chg="mod">
          <ac:chgData name="Apurba Das" userId="abd26444a01c02cd" providerId="LiveId" clId="{D3AF2B52-A7D4-441D-9F19-C0949B994032}" dt="2026-09-03T13:46:14.338" v="596" actId="1076"/>
          <ac:spMkLst>
            <pc:docMk/>
            <pc:sldMk cId="0" sldId="259"/>
            <ac:spMk id="62" creationId="{00000000-0000-0000-0000-000000000000}"/>
          </ac:spMkLst>
        </pc:spChg>
        <pc:spChg chg="mod">
          <ac:chgData name="Apurba Das" userId="abd26444a01c02cd" providerId="LiveId" clId="{D3AF2B52-A7D4-441D-9F19-C0949B994032}" dt="2026-09-03T13:00:08.082" v="89" actId="1076"/>
          <ac:spMkLst>
            <pc:docMk/>
            <pc:sldMk cId="0" sldId="259"/>
            <ac:spMk id="67" creationId="{00000000-0000-0000-0000-000000000000}"/>
          </ac:spMkLst>
        </pc:spChg>
        <pc:spChg chg="add del mod">
          <ac:chgData name="Apurba Das" userId="abd26444a01c02cd" providerId="LiveId" clId="{D3AF2B52-A7D4-441D-9F19-C0949B994032}" dt="2026-09-03T12:59:29.092" v="70" actId="403"/>
          <ac:spMkLst>
            <pc:docMk/>
            <pc:sldMk cId="0" sldId="259"/>
            <ac:spMk id="69" creationId="{00000000-0000-0000-0000-000000000000}"/>
          </ac:spMkLst>
        </pc:spChg>
        <pc:spChg chg="mod">
          <ac:chgData name="Apurba Das" userId="abd26444a01c02cd" providerId="LiveId" clId="{D3AF2B52-A7D4-441D-9F19-C0949B994032}" dt="2026-09-03T13:04:25.322" v="249" actId="1076"/>
          <ac:spMkLst>
            <pc:docMk/>
            <pc:sldMk cId="0" sldId="259"/>
            <ac:spMk id="79" creationId="{00000000-0000-0000-0000-000000000000}"/>
          </ac:spMkLst>
        </pc:spChg>
        <pc:spChg chg="mod">
          <ac:chgData name="Apurba Das" userId="abd26444a01c02cd" providerId="LiveId" clId="{D3AF2B52-A7D4-441D-9F19-C0949B994032}" dt="2026-09-03T13:04:34.136" v="250" actId="14100"/>
          <ac:spMkLst>
            <pc:docMk/>
            <pc:sldMk cId="0" sldId="259"/>
            <ac:spMk id="80" creationId="{00000000-0000-0000-0000-000000000000}"/>
          </ac:spMkLst>
        </pc:spChg>
        <pc:spChg chg="mod">
          <ac:chgData name="Apurba Das" userId="abd26444a01c02cd" providerId="LiveId" clId="{D3AF2B52-A7D4-441D-9F19-C0949B994032}" dt="2026-09-03T13:05:56.125" v="282" actId="1076"/>
          <ac:spMkLst>
            <pc:docMk/>
            <pc:sldMk cId="0" sldId="259"/>
            <ac:spMk id="81" creationId="{00000000-0000-0000-0000-000000000000}"/>
          </ac:spMkLst>
        </pc:spChg>
        <pc:spChg chg="add mod">
          <ac:chgData name="Apurba Das" userId="abd26444a01c02cd" providerId="LiveId" clId="{D3AF2B52-A7D4-441D-9F19-C0949B994032}" dt="2026-09-03T13:40:44.400" v="583" actId="1076"/>
          <ac:spMkLst>
            <pc:docMk/>
            <pc:sldMk cId="0" sldId="259"/>
            <ac:spMk id="82" creationId="{3637CDA3-5033-9FC5-92CD-507688693519}"/>
          </ac:spMkLst>
        </pc:spChg>
        <pc:spChg chg="add mod ord">
          <ac:chgData name="Apurba Das" userId="abd26444a01c02cd" providerId="LiveId" clId="{D3AF2B52-A7D4-441D-9F19-C0949B994032}" dt="2026-09-03T13:05:50.131" v="281" actId="167"/>
          <ac:spMkLst>
            <pc:docMk/>
            <pc:sldMk cId="0" sldId="259"/>
            <ac:spMk id="83" creationId="{22CC83B4-9D25-CA28-00BD-8540B3A6D6C9}"/>
          </ac:spMkLst>
        </pc:spChg>
        <pc:spChg chg="add mod">
          <ac:chgData name="Apurba Das" userId="abd26444a01c02cd" providerId="LiveId" clId="{D3AF2B52-A7D4-441D-9F19-C0949B994032}" dt="2026-09-03T13:04:59.119" v="256" actId="1076"/>
          <ac:spMkLst>
            <pc:docMk/>
            <pc:sldMk cId="0" sldId="259"/>
            <ac:spMk id="91" creationId="{53FD4AAC-7285-452D-8814-71F45331E128}"/>
          </ac:spMkLst>
        </pc:spChg>
        <pc:spChg chg="add mod">
          <ac:chgData name="Apurba Das" userId="abd26444a01c02cd" providerId="LiveId" clId="{D3AF2B52-A7D4-441D-9F19-C0949B994032}" dt="2026-09-03T13:03:23.385" v="241" actId="403"/>
          <ac:spMkLst>
            <pc:docMk/>
            <pc:sldMk cId="0" sldId="259"/>
            <ac:spMk id="92" creationId="{728F802A-EB57-8B1D-7528-6832F993AF2B}"/>
          </ac:spMkLst>
        </pc:spChg>
        <pc:spChg chg="add mod">
          <ac:chgData name="Apurba Das" userId="abd26444a01c02cd" providerId="LiveId" clId="{D3AF2B52-A7D4-441D-9F19-C0949B994032}" dt="2026-09-03T13:05:14.947" v="258" actId="1076"/>
          <ac:spMkLst>
            <pc:docMk/>
            <pc:sldMk cId="0" sldId="259"/>
            <ac:spMk id="95" creationId="{8DF92261-D575-488F-E395-04D30CEC1321}"/>
          </ac:spMkLst>
        </pc:spChg>
        <pc:spChg chg="add mod">
          <ac:chgData name="Apurba Das" userId="abd26444a01c02cd" providerId="LiveId" clId="{D3AF2B52-A7D4-441D-9F19-C0949B994032}" dt="2026-09-03T13:05:32.964" v="277" actId="20577"/>
          <ac:spMkLst>
            <pc:docMk/>
            <pc:sldMk cId="0" sldId="259"/>
            <ac:spMk id="96" creationId="{C6B02CE1-173D-11F5-34F6-79B92ED74E93}"/>
          </ac:spMkLst>
        </pc:spChg>
        <pc:spChg chg="add">
          <ac:chgData name="Apurba Das" userId="abd26444a01c02cd" providerId="LiveId" clId="{D3AF2B52-A7D4-441D-9F19-C0949B994032}" dt="2026-09-03T13:34:16.848" v="526" actId="22"/>
          <ac:spMkLst>
            <pc:docMk/>
            <pc:sldMk cId="0" sldId="259"/>
            <ac:spMk id="101" creationId="{03FDDC66-69AF-072E-63A5-0272E8D4AB5E}"/>
          </ac:spMkLst>
        </pc:spChg>
        <pc:spChg chg="add mod">
          <ac:chgData name="Apurba Das" userId="abd26444a01c02cd" providerId="LiveId" clId="{D3AF2B52-A7D4-441D-9F19-C0949B994032}" dt="2026-09-03T13:40:53.633" v="586" actId="1076"/>
          <ac:spMkLst>
            <pc:docMk/>
            <pc:sldMk cId="0" sldId="259"/>
            <ac:spMk id="102" creationId="{76908BE8-C2AA-A009-8AEF-72CC4E1BD2C9}"/>
          </ac:spMkLst>
        </pc:spChg>
        <pc:picChg chg="add del mod">
          <ac:chgData name="Apurba Das" userId="abd26444a01c02cd" providerId="LiveId" clId="{D3AF2B52-A7D4-441D-9F19-C0949B994032}" dt="2026-09-03T13:29:35.906" v="493" actId="21"/>
          <ac:picMkLst>
            <pc:docMk/>
            <pc:sldMk cId="0" sldId="259"/>
            <ac:picMk id="94" creationId="{4E69EA1A-D87B-369C-0CD5-9FAA92FB9F7C}"/>
          </ac:picMkLst>
        </pc:picChg>
        <pc:picChg chg="add mod">
          <ac:chgData name="Apurba Das" userId="abd26444a01c02cd" providerId="LiveId" clId="{D3AF2B52-A7D4-441D-9F19-C0949B994032}" dt="2026-09-03T13:40:57.408" v="587" actId="1076"/>
          <ac:picMkLst>
            <pc:docMk/>
            <pc:sldMk cId="0" sldId="259"/>
            <ac:picMk id="98" creationId="{7250D6D0-B8E8-483A-1E56-9F689502D273}"/>
          </ac:picMkLst>
        </pc:picChg>
        <pc:cxnChg chg="add mod">
          <ac:chgData name="Apurba Das" userId="abd26444a01c02cd" providerId="LiveId" clId="{D3AF2B52-A7D4-441D-9F19-C0949B994032}" dt="2026-09-03T13:01:59.863" v="127" actId="1076"/>
          <ac:cxnSpMkLst>
            <pc:docMk/>
            <pc:sldMk cId="0" sldId="259"/>
            <ac:cxnSpMk id="86" creationId="{A5D45AD4-A570-23C7-3FBC-BC05D95843C3}"/>
          </ac:cxnSpMkLst>
        </pc:cxnChg>
        <pc:cxnChg chg="add mod">
          <ac:chgData name="Apurba Das" userId="abd26444a01c02cd" providerId="LiveId" clId="{D3AF2B52-A7D4-441D-9F19-C0949B994032}" dt="2026-09-03T13:02:07.148" v="152" actId="1038"/>
          <ac:cxnSpMkLst>
            <pc:docMk/>
            <pc:sldMk cId="0" sldId="259"/>
            <ac:cxnSpMk id="87" creationId="{2A88076D-77FF-FABC-97B7-8382475D5218}"/>
          </ac:cxnSpMkLst>
        </pc:cxnChg>
        <pc:cxnChg chg="add mod">
          <ac:chgData name="Apurba Das" userId="abd26444a01c02cd" providerId="LiveId" clId="{D3AF2B52-A7D4-441D-9F19-C0949B994032}" dt="2026-09-03T13:02:11.706" v="175" actId="1038"/>
          <ac:cxnSpMkLst>
            <pc:docMk/>
            <pc:sldMk cId="0" sldId="259"/>
            <ac:cxnSpMk id="88" creationId="{A744C8B2-6128-C03C-71E6-44C5AB563B02}"/>
          </ac:cxnSpMkLst>
        </pc:cxnChg>
        <pc:cxnChg chg="add mod">
          <ac:chgData name="Apurba Das" userId="abd26444a01c02cd" providerId="LiveId" clId="{D3AF2B52-A7D4-441D-9F19-C0949B994032}" dt="2026-09-03T13:02:16.246" v="208" actId="1038"/>
          <ac:cxnSpMkLst>
            <pc:docMk/>
            <pc:sldMk cId="0" sldId="259"/>
            <ac:cxnSpMk id="89" creationId="{3EF203BF-E447-1616-E674-FAE2CE5BDB3C}"/>
          </ac:cxnSpMkLst>
        </pc:cxnChg>
        <pc:cxnChg chg="add mod">
          <ac:chgData name="Apurba Das" userId="abd26444a01c02cd" providerId="LiveId" clId="{D3AF2B52-A7D4-441D-9F19-C0949B994032}" dt="2026-09-03T13:02:17.751" v="212" actId="1037"/>
          <ac:cxnSpMkLst>
            <pc:docMk/>
            <pc:sldMk cId="0" sldId="259"/>
            <ac:cxnSpMk id="90" creationId="{2A026362-7CD5-11F8-A0DA-B5B73ED18B1F}"/>
          </ac:cxnSpMkLst>
        </pc:cxnChg>
      </pc:sldChg>
      <pc:sldChg chg="addSp delSp modSp add mod ord">
        <pc:chgData name="Apurba Das" userId="abd26444a01c02cd" providerId="LiveId" clId="{D3AF2B52-A7D4-441D-9F19-C0949B994032}" dt="2026-09-05T13:17:53.864" v="694" actId="14100"/>
        <pc:sldMkLst>
          <pc:docMk/>
          <pc:sldMk cId="0" sldId="260"/>
        </pc:sldMkLst>
        <pc:spChg chg="mod">
          <ac:chgData name="Apurba Das" userId="abd26444a01c02cd" providerId="LiveId" clId="{D3AF2B52-A7D4-441D-9F19-C0949B994032}" dt="2026-09-03T13:17:19.954" v="370" actId="20577"/>
          <ac:spMkLst>
            <pc:docMk/>
            <pc:sldMk cId="0" sldId="260"/>
            <ac:spMk id="2" creationId="{00000000-0000-0000-0000-000000000000}"/>
          </ac:spMkLst>
        </pc:spChg>
        <pc:spChg chg="mod">
          <ac:chgData name="Apurba Das" userId="abd26444a01c02cd" providerId="LiveId" clId="{D3AF2B52-A7D4-441D-9F19-C0949B994032}" dt="2026-09-03T13:28:24.275" v="483" actId="1076"/>
          <ac:spMkLst>
            <pc:docMk/>
            <pc:sldMk cId="0" sldId="260"/>
            <ac:spMk id="6" creationId="{00000000-0000-0000-0000-000000000000}"/>
          </ac:spMkLst>
        </pc:spChg>
        <pc:spChg chg="mod">
          <ac:chgData name="Apurba Das" userId="abd26444a01c02cd" providerId="LiveId" clId="{D3AF2B52-A7D4-441D-9F19-C0949B994032}" dt="2026-09-03T13:28:16.469" v="481" actId="1076"/>
          <ac:spMkLst>
            <pc:docMk/>
            <pc:sldMk cId="0" sldId="260"/>
            <ac:spMk id="11" creationId="{00000000-0000-0000-0000-000000000000}"/>
          </ac:spMkLst>
        </pc:spChg>
        <pc:spChg chg="mod">
          <ac:chgData name="Apurba Das" userId="abd26444a01c02cd" providerId="LiveId" clId="{D3AF2B52-A7D4-441D-9F19-C0949B994032}" dt="2026-09-05T13:16:30.966" v="667" actId="2711"/>
          <ac:spMkLst>
            <pc:docMk/>
            <pc:sldMk cId="0" sldId="260"/>
            <ac:spMk id="18" creationId="{00000000-0000-0000-0000-000000000000}"/>
          </ac:spMkLst>
        </pc:spChg>
        <pc:spChg chg="add del">
          <ac:chgData name="Apurba Das" userId="abd26444a01c02cd" providerId="LiveId" clId="{D3AF2B52-A7D4-441D-9F19-C0949B994032}" dt="2026-09-03T13:31:33.201" v="511" actId="21"/>
          <ac:spMkLst>
            <pc:docMk/>
            <pc:sldMk cId="0" sldId="260"/>
            <ac:spMk id="21" creationId="{00000000-0000-0000-0000-000000000000}"/>
          </ac:spMkLst>
        </pc:spChg>
        <pc:spChg chg="mod">
          <ac:chgData name="Apurba Das" userId="abd26444a01c02cd" providerId="LiveId" clId="{D3AF2B52-A7D4-441D-9F19-C0949B994032}" dt="2026-09-05T13:16:36.475" v="668" actId="2711"/>
          <ac:spMkLst>
            <pc:docMk/>
            <pc:sldMk cId="0" sldId="260"/>
            <ac:spMk id="22" creationId="{00000000-0000-0000-0000-000000000000}"/>
          </ac:spMkLst>
        </pc:spChg>
        <pc:spChg chg="mod">
          <ac:chgData name="Apurba Das" userId="abd26444a01c02cd" providerId="LiveId" clId="{D3AF2B52-A7D4-441D-9F19-C0949B994032}" dt="2026-09-05T13:16:41.170" v="669" actId="2711"/>
          <ac:spMkLst>
            <pc:docMk/>
            <pc:sldMk cId="0" sldId="260"/>
            <ac:spMk id="26" creationId="{00000000-0000-0000-0000-000000000000}"/>
          </ac:spMkLst>
        </pc:spChg>
        <pc:spChg chg="mod">
          <ac:chgData name="Apurba Das" userId="abd26444a01c02cd" providerId="LiveId" clId="{D3AF2B52-A7D4-441D-9F19-C0949B994032}" dt="2026-09-05T13:17:53.864" v="694" actId="14100"/>
          <ac:spMkLst>
            <pc:docMk/>
            <pc:sldMk cId="0" sldId="260"/>
            <ac:spMk id="30" creationId="{00000000-0000-0000-0000-000000000000}"/>
          </ac:spMkLst>
        </pc:spChg>
        <pc:spChg chg="mod">
          <ac:chgData name="Apurba Das" userId="abd26444a01c02cd" providerId="LiveId" clId="{D3AF2B52-A7D4-441D-9F19-C0949B994032}" dt="2026-09-05T13:16:45.143" v="671" actId="20577"/>
          <ac:spMkLst>
            <pc:docMk/>
            <pc:sldMk cId="0" sldId="260"/>
            <ac:spMk id="31" creationId="{00000000-0000-0000-0000-000000000000}"/>
          </ac:spMkLst>
        </pc:spChg>
        <pc:spChg chg="mod">
          <ac:chgData name="Apurba Das" userId="abd26444a01c02cd" providerId="LiveId" clId="{D3AF2B52-A7D4-441D-9F19-C0949B994032}" dt="2026-09-05T13:17:44.947" v="689" actId="14100"/>
          <ac:spMkLst>
            <pc:docMk/>
            <pc:sldMk cId="0" sldId="260"/>
            <ac:spMk id="35" creationId="{00000000-0000-0000-0000-000000000000}"/>
          </ac:spMkLst>
        </pc:spChg>
        <pc:spChg chg="mod">
          <ac:chgData name="Apurba Das" userId="abd26444a01c02cd" providerId="LiveId" clId="{D3AF2B52-A7D4-441D-9F19-C0949B994032}" dt="2026-09-03T13:16:27.470" v="348" actId="1076"/>
          <ac:spMkLst>
            <pc:docMk/>
            <pc:sldMk cId="0" sldId="260"/>
            <ac:spMk id="42" creationId="{00000000-0000-0000-0000-000000000000}"/>
          </ac:spMkLst>
        </pc:spChg>
        <pc:spChg chg="mod ord">
          <ac:chgData name="Apurba Das" userId="abd26444a01c02cd" providerId="LiveId" clId="{D3AF2B52-A7D4-441D-9F19-C0949B994032}" dt="2026-09-05T13:17:35.719" v="688" actId="14100"/>
          <ac:spMkLst>
            <pc:docMk/>
            <pc:sldMk cId="0" sldId="260"/>
            <ac:spMk id="44" creationId="{00000000-0000-0000-0000-000000000000}"/>
          </ac:spMkLst>
        </pc:spChg>
        <pc:spChg chg="mod">
          <ac:chgData name="Apurba Das" userId="abd26444a01c02cd" providerId="LiveId" clId="{D3AF2B52-A7D4-441D-9F19-C0949B994032}" dt="2026-09-05T13:16:59.606" v="674" actId="403"/>
          <ac:spMkLst>
            <pc:docMk/>
            <pc:sldMk cId="0" sldId="260"/>
            <ac:spMk id="47" creationId="{00000000-0000-0000-0000-000000000000}"/>
          </ac:spMkLst>
        </pc:spChg>
        <pc:spChg chg="mod">
          <ac:chgData name="Apurba Das" userId="abd26444a01c02cd" providerId="LiveId" clId="{D3AF2B52-A7D4-441D-9F19-C0949B994032}" dt="2026-09-05T13:17:47.999" v="690" actId="14100"/>
          <ac:spMkLst>
            <pc:docMk/>
            <pc:sldMk cId="0" sldId="260"/>
            <ac:spMk id="48" creationId="{00000000-0000-0000-0000-000000000000}"/>
          </ac:spMkLst>
        </pc:spChg>
        <pc:spChg chg="mod">
          <ac:chgData name="Apurba Das" userId="abd26444a01c02cd" providerId="LiveId" clId="{D3AF2B52-A7D4-441D-9F19-C0949B994032}" dt="2026-09-05T13:17:51.903" v="693" actId="14100"/>
          <ac:spMkLst>
            <pc:docMk/>
            <pc:sldMk cId="0" sldId="260"/>
            <ac:spMk id="49" creationId="{00000000-0000-0000-0000-000000000000}"/>
          </ac:spMkLst>
        </pc:spChg>
        <pc:spChg chg="mod">
          <ac:chgData name="Apurba Das" userId="abd26444a01c02cd" providerId="LiveId" clId="{D3AF2B52-A7D4-441D-9F19-C0949B994032}" dt="2026-09-05T13:17:25.882" v="685" actId="14100"/>
          <ac:spMkLst>
            <pc:docMk/>
            <pc:sldMk cId="0" sldId="260"/>
            <ac:spMk id="50" creationId="{00000000-0000-0000-0000-000000000000}"/>
          </ac:spMkLst>
        </pc:spChg>
        <pc:spChg chg="mod ord">
          <ac:chgData name="Apurba Das" userId="abd26444a01c02cd" providerId="LiveId" clId="{D3AF2B52-A7D4-441D-9F19-C0949B994032}" dt="2026-09-05T13:17:29.820" v="687" actId="403"/>
          <ac:spMkLst>
            <pc:docMk/>
            <pc:sldMk cId="0" sldId="260"/>
            <ac:spMk id="51" creationId="{00000000-0000-0000-0000-000000000000}"/>
          </ac:spMkLst>
        </pc:spChg>
        <pc:spChg chg="mod ord">
          <ac:chgData name="Apurba Das" userId="abd26444a01c02cd" providerId="LiveId" clId="{D3AF2B52-A7D4-441D-9F19-C0949B994032}" dt="2026-09-05T13:17:22.270" v="683" actId="14100"/>
          <ac:spMkLst>
            <pc:docMk/>
            <pc:sldMk cId="0" sldId="260"/>
            <ac:spMk id="52" creationId="{00000000-0000-0000-0000-000000000000}"/>
          </ac:spMkLst>
        </pc:spChg>
        <pc:spChg chg="mod ord">
          <ac:chgData name="Apurba Das" userId="abd26444a01c02cd" providerId="LiveId" clId="{D3AF2B52-A7D4-441D-9F19-C0949B994032}" dt="2026-09-05T13:16:59.606" v="674" actId="403"/>
          <ac:spMkLst>
            <pc:docMk/>
            <pc:sldMk cId="0" sldId="260"/>
            <ac:spMk id="53" creationId="{00000000-0000-0000-0000-000000000000}"/>
          </ac:spMkLst>
        </pc:spChg>
        <pc:spChg chg="mod ord">
          <ac:chgData name="Apurba Das" userId="abd26444a01c02cd" providerId="LiveId" clId="{D3AF2B52-A7D4-441D-9F19-C0949B994032}" dt="2026-09-05T13:17:20.714" v="682" actId="14100"/>
          <ac:spMkLst>
            <pc:docMk/>
            <pc:sldMk cId="0" sldId="260"/>
            <ac:spMk id="54" creationId="{00000000-0000-0000-0000-000000000000}"/>
          </ac:spMkLst>
        </pc:spChg>
        <pc:spChg chg="mod ord">
          <ac:chgData name="Apurba Das" userId="abd26444a01c02cd" providerId="LiveId" clId="{D3AF2B52-A7D4-441D-9F19-C0949B994032}" dt="2026-09-05T13:17:08.458" v="676" actId="1076"/>
          <ac:spMkLst>
            <pc:docMk/>
            <pc:sldMk cId="0" sldId="260"/>
            <ac:spMk id="55" creationId="{00000000-0000-0000-0000-000000000000}"/>
          </ac:spMkLst>
        </pc:spChg>
        <pc:spChg chg="mod ord">
          <ac:chgData name="Apurba Das" userId="abd26444a01c02cd" providerId="LiveId" clId="{D3AF2B52-A7D4-441D-9F19-C0949B994032}" dt="2026-09-05T13:17:16.923" v="680" actId="14100"/>
          <ac:spMkLst>
            <pc:docMk/>
            <pc:sldMk cId="0" sldId="260"/>
            <ac:spMk id="56" creationId="{00000000-0000-0000-0000-000000000000}"/>
          </ac:spMkLst>
        </pc:spChg>
        <pc:spChg chg="mod ord">
          <ac:chgData name="Apurba Das" userId="abd26444a01c02cd" providerId="LiveId" clId="{D3AF2B52-A7D4-441D-9F19-C0949B994032}" dt="2026-09-05T13:17:12.989" v="678" actId="1076"/>
          <ac:spMkLst>
            <pc:docMk/>
            <pc:sldMk cId="0" sldId="260"/>
            <ac:spMk id="57" creationId="{00000000-0000-0000-0000-000000000000}"/>
          </ac:spMkLst>
        </pc:spChg>
        <pc:spChg chg="mod ord">
          <ac:chgData name="Apurba Das" userId="abd26444a01c02cd" providerId="LiveId" clId="{D3AF2B52-A7D4-441D-9F19-C0949B994032}" dt="2026-09-05T13:17:18.962" v="681" actId="14100"/>
          <ac:spMkLst>
            <pc:docMk/>
            <pc:sldMk cId="0" sldId="260"/>
            <ac:spMk id="58" creationId="{00000000-0000-0000-0000-000000000000}"/>
          </ac:spMkLst>
        </pc:spChg>
        <pc:spChg chg="mod ord">
          <ac:chgData name="Apurba Das" userId="abd26444a01c02cd" providerId="LiveId" clId="{D3AF2B52-A7D4-441D-9F19-C0949B994032}" dt="2026-09-05T13:17:14.485" v="679" actId="14100"/>
          <ac:spMkLst>
            <pc:docMk/>
            <pc:sldMk cId="0" sldId="260"/>
            <ac:spMk id="59" creationId="{00000000-0000-0000-0000-000000000000}"/>
          </ac:spMkLst>
        </pc:spChg>
        <pc:spChg chg="mod">
          <ac:chgData name="Apurba Das" userId="abd26444a01c02cd" providerId="LiveId" clId="{D3AF2B52-A7D4-441D-9F19-C0949B994032}" dt="2026-09-05T13:16:59.606" v="674" actId="403"/>
          <ac:spMkLst>
            <pc:docMk/>
            <pc:sldMk cId="0" sldId="260"/>
            <ac:spMk id="60" creationId="{00000000-0000-0000-0000-000000000000}"/>
          </ac:spMkLst>
        </pc:spChg>
        <pc:spChg chg="mod">
          <ac:chgData name="Apurba Das" userId="abd26444a01c02cd" providerId="LiveId" clId="{D3AF2B52-A7D4-441D-9F19-C0949B994032}" dt="2026-09-03T13:20:35.128" v="437" actId="403"/>
          <ac:spMkLst>
            <pc:docMk/>
            <pc:sldMk cId="0" sldId="260"/>
            <ac:spMk id="61" creationId="{00000000-0000-0000-0000-000000000000}"/>
          </ac:spMkLst>
        </pc:spChg>
        <pc:spChg chg="mod">
          <ac:chgData name="Apurba Das" userId="abd26444a01c02cd" providerId="LiveId" clId="{D3AF2B52-A7D4-441D-9F19-C0949B994032}" dt="2026-09-03T13:20:20.614" v="425" actId="403"/>
          <ac:spMkLst>
            <pc:docMk/>
            <pc:sldMk cId="0" sldId="260"/>
            <ac:spMk id="62" creationId="{00000000-0000-0000-0000-000000000000}"/>
          </ac:spMkLst>
        </pc:spChg>
        <pc:spChg chg="mod">
          <ac:chgData name="Apurba Das" userId="abd26444a01c02cd" providerId="LiveId" clId="{D3AF2B52-A7D4-441D-9F19-C0949B994032}" dt="2026-09-03T13:24:18.084" v="438" actId="1076"/>
          <ac:spMkLst>
            <pc:docMk/>
            <pc:sldMk cId="0" sldId="260"/>
            <ac:spMk id="63" creationId="{00000000-0000-0000-0000-000000000000}"/>
          </ac:spMkLst>
        </pc:spChg>
        <pc:spChg chg="mod">
          <ac:chgData name="Apurba Das" userId="abd26444a01c02cd" providerId="LiveId" clId="{D3AF2B52-A7D4-441D-9F19-C0949B994032}" dt="2026-09-05T13:16:59.606" v="674" actId="403"/>
          <ac:spMkLst>
            <pc:docMk/>
            <pc:sldMk cId="0" sldId="260"/>
            <ac:spMk id="64" creationId="{00000000-0000-0000-0000-000000000000}"/>
          </ac:spMkLst>
        </pc:spChg>
        <pc:spChg chg="mod">
          <ac:chgData name="Apurba Das" userId="abd26444a01c02cd" providerId="LiveId" clId="{D3AF2B52-A7D4-441D-9F19-C0949B994032}" dt="2026-09-05T13:16:59.606" v="674" actId="403"/>
          <ac:spMkLst>
            <pc:docMk/>
            <pc:sldMk cId="0" sldId="260"/>
            <ac:spMk id="65" creationId="{00000000-0000-0000-0000-000000000000}"/>
          </ac:spMkLst>
        </pc:spChg>
        <pc:spChg chg="add mod ord">
          <ac:chgData name="Apurba Das" userId="abd26444a01c02cd" providerId="LiveId" clId="{D3AF2B52-A7D4-441D-9F19-C0949B994032}" dt="2026-09-03T13:17:56.121" v="384" actId="1076"/>
          <ac:spMkLst>
            <pc:docMk/>
            <pc:sldMk cId="0" sldId="260"/>
            <ac:spMk id="66" creationId="{F63C13BD-EA2D-F67F-9C41-B09ED321C40E}"/>
          </ac:spMkLst>
        </pc:spChg>
        <pc:spChg chg="add mod ord">
          <ac:chgData name="Apurba Das" userId="abd26444a01c02cd" providerId="LiveId" clId="{D3AF2B52-A7D4-441D-9F19-C0949B994032}" dt="2026-09-03T13:18:54.451" v="402" actId="14100"/>
          <ac:spMkLst>
            <pc:docMk/>
            <pc:sldMk cId="0" sldId="260"/>
            <ac:spMk id="67" creationId="{B45B90EC-3922-CD90-42FC-9DFA789A2D30}"/>
          </ac:spMkLst>
        </pc:spChg>
        <pc:spChg chg="add mod">
          <ac:chgData name="Apurba Das" userId="abd26444a01c02cd" providerId="LiveId" clId="{D3AF2B52-A7D4-441D-9F19-C0949B994032}" dt="2026-09-05T13:16:59.606" v="674" actId="403"/>
          <ac:spMkLst>
            <pc:docMk/>
            <pc:sldMk cId="0" sldId="260"/>
            <ac:spMk id="68" creationId="{A6F8A2FB-C58B-814A-267B-8FB566FD9077}"/>
          </ac:spMkLst>
        </pc:spChg>
        <pc:spChg chg="add mod">
          <ac:chgData name="Apurba Das" userId="abd26444a01c02cd" providerId="LiveId" clId="{D3AF2B52-A7D4-441D-9F19-C0949B994032}" dt="2026-09-05T13:16:59.606" v="674" actId="403"/>
          <ac:spMkLst>
            <pc:docMk/>
            <pc:sldMk cId="0" sldId="260"/>
            <ac:spMk id="69" creationId="{1D92E569-D807-FD06-358B-D740236A5A4A}"/>
          </ac:spMkLst>
        </pc:spChg>
        <pc:spChg chg="add">
          <ac:chgData name="Apurba Das" userId="abd26444a01c02cd" providerId="LiveId" clId="{D3AF2B52-A7D4-441D-9F19-C0949B994032}" dt="2026-09-03T13:34:13.170" v="525" actId="22"/>
          <ac:spMkLst>
            <pc:docMk/>
            <pc:sldMk cId="0" sldId="260"/>
            <ac:spMk id="71" creationId="{34A95BE3-7FBE-F5D8-71FF-451509080F0F}"/>
          </ac:spMkLst>
        </pc:spChg>
      </pc:sldChg>
      <pc:sldChg chg="addSp delSp modSp add mod">
        <pc:chgData name="Apurba Das" userId="abd26444a01c02cd" providerId="LiveId" clId="{D3AF2B52-A7D4-441D-9F19-C0949B994032}" dt="2026-09-03T13:40:27.848" v="582" actId="1076"/>
        <pc:sldMkLst>
          <pc:docMk/>
          <pc:sldMk cId="3058909086" sldId="261"/>
        </pc:sldMkLst>
        <pc:spChg chg="mod">
          <ac:chgData name="Apurba Das" userId="abd26444a01c02cd" providerId="LiveId" clId="{D3AF2B52-A7D4-441D-9F19-C0949B994032}" dt="2026-09-03T13:39:21.349" v="560" actId="1076"/>
          <ac:spMkLst>
            <pc:docMk/>
            <pc:sldMk cId="3058909086" sldId="261"/>
            <ac:spMk id="2" creationId="{B625402B-E8CF-02E9-00B9-5D289538D8E9}"/>
          </ac:spMkLst>
        </pc:spChg>
        <pc:spChg chg="mod">
          <ac:chgData name="Apurba Das" userId="abd26444a01c02cd" providerId="LiveId" clId="{D3AF2B52-A7D4-441D-9F19-C0949B994032}" dt="2026-09-03T13:40:22.049" v="581" actId="403"/>
          <ac:spMkLst>
            <pc:docMk/>
            <pc:sldMk cId="3058909086" sldId="261"/>
            <ac:spMk id="16" creationId="{10903986-A63D-48B3-7D92-3D869198CA76}"/>
          </ac:spMkLst>
        </pc:spChg>
        <pc:spChg chg="mod">
          <ac:chgData name="Apurba Das" userId="abd26444a01c02cd" providerId="LiveId" clId="{D3AF2B52-A7D4-441D-9F19-C0949B994032}" dt="2026-09-03T13:40:16.769" v="578" actId="403"/>
          <ac:spMkLst>
            <pc:docMk/>
            <pc:sldMk cId="3058909086" sldId="261"/>
            <ac:spMk id="22" creationId="{F2FF1337-AEEB-FB21-B685-DB441CA0F365}"/>
          </ac:spMkLst>
        </pc:spChg>
        <pc:spChg chg="mod">
          <ac:chgData name="Apurba Das" userId="abd26444a01c02cd" providerId="LiveId" clId="{D3AF2B52-A7D4-441D-9F19-C0949B994032}" dt="2026-09-03T13:26:51.963" v="448" actId="404"/>
          <ac:spMkLst>
            <pc:docMk/>
            <pc:sldMk cId="3058909086" sldId="261"/>
            <ac:spMk id="27" creationId="{C8C3B03F-9008-62C9-8A5D-2949485ED286}"/>
          </ac:spMkLst>
        </pc:spChg>
        <pc:spChg chg="mod">
          <ac:chgData name="Apurba Das" userId="abd26444a01c02cd" providerId="LiveId" clId="{D3AF2B52-A7D4-441D-9F19-C0949B994032}" dt="2026-09-03T13:40:14.154" v="576" actId="403"/>
          <ac:spMkLst>
            <pc:docMk/>
            <pc:sldMk cId="3058909086" sldId="261"/>
            <ac:spMk id="28" creationId="{4B7C41AB-157E-38E7-65F6-91AA2BAE88E7}"/>
          </ac:spMkLst>
        </pc:spChg>
        <pc:spChg chg="mod">
          <ac:chgData name="Apurba Das" userId="abd26444a01c02cd" providerId="LiveId" clId="{D3AF2B52-A7D4-441D-9F19-C0949B994032}" dt="2026-09-03T13:40:10.586" v="574" actId="403"/>
          <ac:spMkLst>
            <pc:docMk/>
            <pc:sldMk cId="3058909086" sldId="261"/>
            <ac:spMk id="34" creationId="{20159179-E000-E3C1-8390-79F632F28F63}"/>
          </ac:spMkLst>
        </pc:spChg>
        <pc:spChg chg="mod">
          <ac:chgData name="Apurba Das" userId="abd26444a01c02cd" providerId="LiveId" clId="{D3AF2B52-A7D4-441D-9F19-C0949B994032}" dt="2026-09-03T13:40:02.024" v="570" actId="403"/>
          <ac:spMkLst>
            <pc:docMk/>
            <pc:sldMk cId="3058909086" sldId="261"/>
            <ac:spMk id="39" creationId="{A4147351-7EDC-37BC-2E4E-6811981757B5}"/>
          </ac:spMkLst>
        </pc:spChg>
        <pc:spChg chg="mod">
          <ac:chgData name="Apurba Das" userId="abd26444a01c02cd" providerId="LiveId" clId="{D3AF2B52-A7D4-441D-9F19-C0949B994032}" dt="2026-09-03T13:26:51.963" v="448" actId="404"/>
          <ac:spMkLst>
            <pc:docMk/>
            <pc:sldMk cId="3058909086" sldId="261"/>
            <ac:spMk id="45" creationId="{3C03EA84-2B1F-7693-694E-14CFC37A9202}"/>
          </ac:spMkLst>
        </pc:spChg>
        <pc:spChg chg="mod">
          <ac:chgData name="Apurba Das" userId="abd26444a01c02cd" providerId="LiveId" clId="{D3AF2B52-A7D4-441D-9F19-C0949B994032}" dt="2026-09-03T13:26:16.969" v="441" actId="14100"/>
          <ac:spMkLst>
            <pc:docMk/>
            <pc:sldMk cId="3058909086" sldId="261"/>
            <ac:spMk id="47" creationId="{CFA13FBC-09E7-C750-C22B-F5583FA79C9C}"/>
          </ac:spMkLst>
        </pc:spChg>
        <pc:spChg chg="mod">
          <ac:chgData name="Apurba Das" userId="abd26444a01c02cd" providerId="LiveId" clId="{D3AF2B52-A7D4-441D-9F19-C0949B994032}" dt="2026-09-03T13:27:54.332" v="471" actId="20577"/>
          <ac:spMkLst>
            <pc:docMk/>
            <pc:sldMk cId="3058909086" sldId="261"/>
            <ac:spMk id="51" creationId="{600DFA24-75A2-8CE6-39C2-C6908742607D}"/>
          </ac:spMkLst>
        </pc:spChg>
        <pc:spChg chg="mod">
          <ac:chgData name="Apurba Das" userId="abd26444a01c02cd" providerId="LiveId" clId="{D3AF2B52-A7D4-441D-9F19-C0949B994032}" dt="2026-09-03T13:40:27.848" v="582" actId="1076"/>
          <ac:spMkLst>
            <pc:docMk/>
            <pc:sldMk cId="3058909086" sldId="261"/>
            <ac:spMk id="58" creationId="{7362EE30-8D02-51E5-A8CC-5D110FB053EF}"/>
          </ac:spMkLst>
        </pc:spChg>
        <pc:spChg chg="mod">
          <ac:chgData name="Apurba Das" userId="abd26444a01c02cd" providerId="LiveId" clId="{D3AF2B52-A7D4-441D-9F19-C0949B994032}" dt="2026-09-03T13:26:51.963" v="448" actId="404"/>
          <ac:spMkLst>
            <pc:docMk/>
            <pc:sldMk cId="3058909086" sldId="261"/>
            <ac:spMk id="59" creationId="{1A771888-7ACC-39C6-F767-E057F9094655}"/>
          </ac:spMkLst>
        </pc:spChg>
        <pc:spChg chg="mod">
          <ac:chgData name="Apurba Das" userId="abd26444a01c02cd" providerId="LiveId" clId="{D3AF2B52-A7D4-441D-9F19-C0949B994032}" dt="2026-09-03T13:26:51.963" v="448" actId="404"/>
          <ac:spMkLst>
            <pc:docMk/>
            <pc:sldMk cId="3058909086" sldId="261"/>
            <ac:spMk id="61" creationId="{DA95E851-3C52-0ED2-CB5F-6935226D67C9}"/>
          </ac:spMkLst>
        </pc:spChg>
        <pc:spChg chg="mod">
          <ac:chgData name="Apurba Das" userId="abd26444a01c02cd" providerId="LiveId" clId="{D3AF2B52-A7D4-441D-9F19-C0949B994032}" dt="2026-09-03T13:27:13.337" v="452" actId="403"/>
          <ac:spMkLst>
            <pc:docMk/>
            <pc:sldMk cId="3058909086" sldId="261"/>
            <ac:spMk id="63" creationId="{731A7289-81AB-F663-A850-CFC7A92BDC99}"/>
          </ac:spMkLst>
        </pc:spChg>
        <pc:spChg chg="mod">
          <ac:chgData name="Apurba Das" userId="abd26444a01c02cd" providerId="LiveId" clId="{D3AF2B52-A7D4-441D-9F19-C0949B994032}" dt="2026-09-03T13:27:17.747" v="454" actId="403"/>
          <ac:spMkLst>
            <pc:docMk/>
            <pc:sldMk cId="3058909086" sldId="261"/>
            <ac:spMk id="64" creationId="{A0CC4DC7-A769-018C-E8FA-7AD7516D33F8}"/>
          </ac:spMkLst>
        </pc:spChg>
        <pc:spChg chg="mod">
          <ac:chgData name="Apurba Das" userId="abd26444a01c02cd" providerId="LiveId" clId="{D3AF2B52-A7D4-441D-9F19-C0949B994032}" dt="2026-09-03T13:27:20.491" v="456" actId="403"/>
          <ac:spMkLst>
            <pc:docMk/>
            <pc:sldMk cId="3058909086" sldId="261"/>
            <ac:spMk id="65" creationId="{0D2732E3-C0D6-2777-578F-E7D3B73F034A}"/>
          </ac:spMkLst>
        </pc:spChg>
        <pc:spChg chg="mod">
          <ac:chgData name="Apurba Das" userId="abd26444a01c02cd" providerId="LiveId" clId="{D3AF2B52-A7D4-441D-9F19-C0949B994032}" dt="2026-09-03T13:27:23.491" v="458" actId="403"/>
          <ac:spMkLst>
            <pc:docMk/>
            <pc:sldMk cId="3058909086" sldId="261"/>
            <ac:spMk id="66" creationId="{B6E1828A-93C9-5FB3-0FE3-E14DACF24785}"/>
          </ac:spMkLst>
        </pc:spChg>
        <pc:spChg chg="mod">
          <ac:chgData name="Apurba Das" userId="abd26444a01c02cd" providerId="LiveId" clId="{D3AF2B52-A7D4-441D-9F19-C0949B994032}" dt="2026-09-03T13:27:25.979" v="460" actId="403"/>
          <ac:spMkLst>
            <pc:docMk/>
            <pc:sldMk cId="3058909086" sldId="261"/>
            <ac:spMk id="67" creationId="{DD3CB2F1-DBD9-5079-00E6-C1452DA4206C}"/>
          </ac:spMkLst>
        </pc:spChg>
        <pc:spChg chg="mod">
          <ac:chgData name="Apurba Das" userId="abd26444a01c02cd" providerId="LiveId" clId="{D3AF2B52-A7D4-441D-9F19-C0949B994032}" dt="2026-09-03T13:26:51.963" v="448" actId="404"/>
          <ac:spMkLst>
            <pc:docMk/>
            <pc:sldMk cId="3058909086" sldId="261"/>
            <ac:spMk id="70" creationId="{2E532C1A-E3AE-7B6E-33ED-10538F266B02}"/>
          </ac:spMkLst>
        </pc:spChg>
        <pc:spChg chg="mod">
          <ac:chgData name="Apurba Das" userId="abd26444a01c02cd" providerId="LiveId" clId="{D3AF2B52-A7D4-441D-9F19-C0949B994032}" dt="2026-09-03T13:27:31.068" v="462" actId="404"/>
          <ac:spMkLst>
            <pc:docMk/>
            <pc:sldMk cId="3058909086" sldId="261"/>
            <ac:spMk id="72" creationId="{C71E624E-D66F-CAB6-C5DE-FDFD5F484388}"/>
          </ac:spMkLst>
        </pc:spChg>
        <pc:spChg chg="mod">
          <ac:chgData name="Apurba Das" userId="abd26444a01c02cd" providerId="LiveId" clId="{D3AF2B52-A7D4-441D-9F19-C0949B994032}" dt="2026-09-03T13:27:35.019" v="464" actId="404"/>
          <ac:spMkLst>
            <pc:docMk/>
            <pc:sldMk cId="3058909086" sldId="261"/>
            <ac:spMk id="74" creationId="{489F6B62-48DC-3152-57DE-8FE160E761BD}"/>
          </ac:spMkLst>
        </pc:spChg>
        <pc:spChg chg="mod">
          <ac:chgData name="Apurba Das" userId="abd26444a01c02cd" providerId="LiveId" clId="{D3AF2B52-A7D4-441D-9F19-C0949B994032}" dt="2026-09-03T13:27:37.842" v="465" actId="1076"/>
          <ac:spMkLst>
            <pc:docMk/>
            <pc:sldMk cId="3058909086" sldId="261"/>
            <ac:spMk id="75" creationId="{CD3321D0-7937-DC66-05BA-655C0AA90FAF}"/>
          </ac:spMkLst>
        </pc:spChg>
        <pc:spChg chg="add mod">
          <ac:chgData name="Apurba Das" userId="abd26444a01c02cd" providerId="LiveId" clId="{D3AF2B52-A7D4-441D-9F19-C0949B994032}" dt="2026-09-03T13:29:01.405" v="491" actId="1076"/>
          <ac:spMkLst>
            <pc:docMk/>
            <pc:sldMk cId="3058909086" sldId="261"/>
            <ac:spMk id="77" creationId="{2918A8DD-6F7E-56A6-6C38-9253C496EB30}"/>
          </ac:spMkLst>
        </pc:spChg>
        <pc:spChg chg="add mod">
          <ac:chgData name="Apurba Das" userId="abd26444a01c02cd" providerId="LiveId" clId="{D3AF2B52-A7D4-441D-9F19-C0949B994032}" dt="2026-09-03T13:31:18.684" v="506" actId="1076"/>
          <ac:spMkLst>
            <pc:docMk/>
            <pc:sldMk cId="3058909086" sldId="261"/>
            <ac:spMk id="83" creationId="{F1301BE1-347B-8E58-6431-3C709A620B98}"/>
          </ac:spMkLst>
        </pc:spChg>
        <pc:spChg chg="add mod">
          <ac:chgData name="Apurba Das" userId="abd26444a01c02cd" providerId="LiveId" clId="{D3AF2B52-A7D4-441D-9F19-C0949B994032}" dt="2026-09-03T13:31:39.416" v="513" actId="1076"/>
          <ac:spMkLst>
            <pc:docMk/>
            <pc:sldMk cId="3058909086" sldId="261"/>
            <ac:spMk id="87" creationId="{0B20530B-5B4B-6255-4E0A-79F645DC6A4B}"/>
          </ac:spMkLst>
        </pc:spChg>
        <pc:picChg chg="add mod">
          <ac:chgData name="Apurba Das" userId="abd26444a01c02cd" providerId="LiveId" clId="{D3AF2B52-A7D4-441D-9F19-C0949B994032}" dt="2026-09-03T13:38:33.058" v="550" actId="1076"/>
          <ac:picMkLst>
            <pc:docMk/>
            <pc:sldMk cId="3058909086" sldId="261"/>
            <ac:picMk id="79" creationId="{7F63AB7D-9B35-39B9-393C-49626381722A}"/>
          </ac:picMkLst>
        </pc:picChg>
        <pc:picChg chg="add mod">
          <ac:chgData name="Apurba Das" userId="abd26444a01c02cd" providerId="LiveId" clId="{D3AF2B52-A7D4-441D-9F19-C0949B994032}" dt="2026-09-03T13:31:02.489" v="502" actId="1076"/>
          <ac:picMkLst>
            <pc:docMk/>
            <pc:sldMk cId="3058909086" sldId="261"/>
            <ac:picMk id="81" creationId="{AD071CF2-FE6F-D836-6323-565DB0325F6F}"/>
          </ac:picMkLst>
        </pc:picChg>
        <pc:picChg chg="add mod">
          <ac:chgData name="Apurba Das" userId="abd26444a01c02cd" providerId="LiveId" clId="{D3AF2B52-A7D4-441D-9F19-C0949B994032}" dt="2026-09-03T13:37:31.267" v="539" actId="1076"/>
          <ac:picMkLst>
            <pc:docMk/>
            <pc:sldMk cId="3058909086" sldId="261"/>
            <ac:picMk id="89" creationId="{4048E11C-AA34-7984-1375-C895DA964393}"/>
          </ac:picMkLst>
        </pc:picChg>
        <pc:picChg chg="add mod">
          <ac:chgData name="Apurba Das" userId="abd26444a01c02cd" providerId="LiveId" clId="{D3AF2B52-A7D4-441D-9F19-C0949B994032}" dt="2026-09-03T13:39:56.272" v="569" actId="1076"/>
          <ac:picMkLst>
            <pc:docMk/>
            <pc:sldMk cId="3058909086" sldId="261"/>
            <ac:picMk id="91" creationId="{C23B3149-26F3-B3E4-A89C-092D4B1BB689}"/>
          </ac:picMkLst>
        </pc:picChg>
        <pc:picChg chg="add mod">
          <ac:chgData name="Apurba Das" userId="abd26444a01c02cd" providerId="LiveId" clId="{D3AF2B52-A7D4-441D-9F19-C0949B994032}" dt="2026-09-03T13:38:36.470" v="552" actId="1076"/>
          <ac:picMkLst>
            <pc:docMk/>
            <pc:sldMk cId="3058909086" sldId="261"/>
            <ac:picMk id="93" creationId="{22A374FA-915C-5DA2-E2EB-4A7F5D2468C8}"/>
          </ac:picMkLst>
        </pc:picChg>
        <pc:picChg chg="add mod">
          <ac:chgData name="Apurba Das" userId="abd26444a01c02cd" providerId="LiveId" clId="{D3AF2B52-A7D4-441D-9F19-C0949B994032}" dt="2026-09-03T13:39:20.717" v="559" actId="14100"/>
          <ac:picMkLst>
            <pc:docMk/>
            <pc:sldMk cId="3058909086" sldId="261"/>
            <ac:picMk id="95" creationId="{6E20D1EF-E443-1058-7F2D-F1A18B8D2C65}"/>
          </ac:picMkLst>
        </pc:picChg>
        <pc:picChg chg="add mod">
          <ac:chgData name="Apurba Das" userId="abd26444a01c02cd" providerId="LiveId" clId="{D3AF2B52-A7D4-441D-9F19-C0949B994032}" dt="2026-09-03T13:39:48.751" v="567" actId="14100"/>
          <ac:picMkLst>
            <pc:docMk/>
            <pc:sldMk cId="3058909086" sldId="261"/>
            <ac:picMk id="97" creationId="{6A008180-D1A7-7314-2169-222796A8F60F}"/>
          </ac:picMkLst>
        </pc:picChg>
      </pc:sldChg>
      <pc:sldChg chg="add">
        <pc:chgData name="Apurba Das" userId="abd26444a01c02cd" providerId="LiveId" clId="{D3AF2B52-A7D4-441D-9F19-C0949B994032}" dt="2026-09-05T13:29:19.919" v="695"/>
        <pc:sldMkLst>
          <pc:docMk/>
          <pc:sldMk cId="0"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png"/><Relationship Id="rId3" Type="http://schemas.openxmlformats.org/officeDocument/2006/relationships/image" Target="../media/image2.png"/><Relationship Id="rId21" Type="http://schemas.openxmlformats.org/officeDocument/2006/relationships/image" Target="../media/image33.png"/><Relationship Id="rId34" Type="http://schemas.openxmlformats.org/officeDocument/2006/relationships/image" Target="../media/image46.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2" Type="http://schemas.openxmlformats.org/officeDocument/2006/relationships/image" Target="../media/image17.png"/><Relationship Id="rId16" Type="http://schemas.openxmlformats.org/officeDocument/2006/relationships/image" Target="../media/image28.png"/><Relationship Id="rId20" Type="http://schemas.openxmlformats.org/officeDocument/2006/relationships/image" Target="../media/image32.png"/><Relationship Id="rId29"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5" Type="http://schemas.openxmlformats.org/officeDocument/2006/relationships/image" Target="../media/image3.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10" Type="http://schemas.openxmlformats.org/officeDocument/2006/relationships/image" Target="../media/image22.png"/><Relationship Id="rId19" Type="http://schemas.openxmlformats.org/officeDocument/2006/relationships/image" Target="../media/image31.png"/><Relationship Id="rId31" Type="http://schemas.openxmlformats.org/officeDocument/2006/relationships/image" Target="../media/image43.png"/><Relationship Id="rId4" Type="http://schemas.openxmlformats.org/officeDocument/2006/relationships/image" Target="../media/image4.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8" Type="http://schemas.openxmlformats.org/officeDocument/2006/relationships/image" Target="../media/image20.png"/></Relationships>
</file>

<file path=ppt/slides/_rels/slide4.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4.png"/><Relationship Id="rId26" Type="http://schemas.openxmlformats.org/officeDocument/2006/relationships/image" Target="../media/image72.png"/><Relationship Id="rId3" Type="http://schemas.openxmlformats.org/officeDocument/2006/relationships/image" Target="../media/image49.png"/><Relationship Id="rId21" Type="http://schemas.openxmlformats.org/officeDocument/2006/relationships/image" Target="../media/image67.png"/><Relationship Id="rId34" Type="http://schemas.openxmlformats.org/officeDocument/2006/relationships/image" Target="../media/image80.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5" Type="http://schemas.openxmlformats.org/officeDocument/2006/relationships/image" Target="../media/image71.png"/><Relationship Id="rId33" Type="http://schemas.openxmlformats.org/officeDocument/2006/relationships/image" Target="../media/image79.png"/><Relationship Id="rId2" Type="http://schemas.openxmlformats.org/officeDocument/2006/relationships/image" Target="../media/image48.png"/><Relationship Id="rId16" Type="http://schemas.openxmlformats.org/officeDocument/2006/relationships/image" Target="../media/image62.png"/><Relationship Id="rId20" Type="http://schemas.openxmlformats.org/officeDocument/2006/relationships/image" Target="../media/image66.png"/><Relationship Id="rId29"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57.png"/><Relationship Id="rId24" Type="http://schemas.openxmlformats.org/officeDocument/2006/relationships/image" Target="../media/image70.png"/><Relationship Id="rId32" Type="http://schemas.openxmlformats.org/officeDocument/2006/relationships/image" Target="../media/image78.png"/><Relationship Id="rId5" Type="http://schemas.openxmlformats.org/officeDocument/2006/relationships/image" Target="../media/image51.png"/><Relationship Id="rId15" Type="http://schemas.openxmlformats.org/officeDocument/2006/relationships/image" Target="../media/image61.png"/><Relationship Id="rId23" Type="http://schemas.openxmlformats.org/officeDocument/2006/relationships/image" Target="../media/image69.png"/><Relationship Id="rId28" Type="http://schemas.openxmlformats.org/officeDocument/2006/relationships/image" Target="../media/image74.png"/><Relationship Id="rId36" Type="http://schemas.openxmlformats.org/officeDocument/2006/relationships/image" Target="../media/image4.png"/><Relationship Id="rId10" Type="http://schemas.openxmlformats.org/officeDocument/2006/relationships/image" Target="../media/image56.png"/><Relationship Id="rId19" Type="http://schemas.openxmlformats.org/officeDocument/2006/relationships/image" Target="../media/image65.png"/><Relationship Id="rId31" Type="http://schemas.openxmlformats.org/officeDocument/2006/relationships/image" Target="../media/image77.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 Id="rId22" Type="http://schemas.openxmlformats.org/officeDocument/2006/relationships/image" Target="../media/image68.png"/><Relationship Id="rId27" Type="http://schemas.openxmlformats.org/officeDocument/2006/relationships/image" Target="../media/image73.png"/><Relationship Id="rId30" Type="http://schemas.openxmlformats.org/officeDocument/2006/relationships/image" Target="../media/image76.png"/><Relationship Id="rId35" Type="http://schemas.openxmlformats.org/officeDocument/2006/relationships/image" Target="../media/image81.png"/><Relationship Id="rId8" Type="http://schemas.openxmlformats.org/officeDocument/2006/relationships/image" Target="../media/image54.png"/></Relationships>
</file>

<file path=ppt/slides/_rels/slide5.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106.png"/><Relationship Id="rId3" Type="http://schemas.openxmlformats.org/officeDocument/2006/relationships/image" Target="../media/image83.png"/><Relationship Id="rId21" Type="http://schemas.openxmlformats.org/officeDocument/2006/relationships/image" Target="../media/image101.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105.png"/><Relationship Id="rId2" Type="http://schemas.openxmlformats.org/officeDocument/2006/relationships/image" Target="../media/image82.png"/><Relationship Id="rId16" Type="http://schemas.openxmlformats.org/officeDocument/2006/relationships/image" Target="../media/image96.png"/><Relationship Id="rId20" Type="http://schemas.openxmlformats.org/officeDocument/2006/relationships/image" Target="../media/image100.png"/><Relationship Id="rId29"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24" Type="http://schemas.openxmlformats.org/officeDocument/2006/relationships/image" Target="../media/image104.png"/><Relationship Id="rId32" Type="http://schemas.openxmlformats.org/officeDocument/2006/relationships/image" Target="../media/image4.png"/><Relationship Id="rId5" Type="http://schemas.openxmlformats.org/officeDocument/2006/relationships/image" Target="../media/image85.png"/><Relationship Id="rId15" Type="http://schemas.openxmlformats.org/officeDocument/2006/relationships/image" Target="../media/image95.png"/><Relationship Id="rId23" Type="http://schemas.openxmlformats.org/officeDocument/2006/relationships/image" Target="../media/image103.png"/><Relationship Id="rId28" Type="http://schemas.openxmlformats.org/officeDocument/2006/relationships/image" Target="../media/image108.png"/><Relationship Id="rId10" Type="http://schemas.openxmlformats.org/officeDocument/2006/relationships/image" Target="../media/image90.png"/><Relationship Id="rId19" Type="http://schemas.openxmlformats.org/officeDocument/2006/relationships/image" Target="../media/image99.png"/><Relationship Id="rId31" Type="http://schemas.openxmlformats.org/officeDocument/2006/relationships/image" Target="../media/image111.pn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110.png"/></Relationships>
</file>

<file path=ppt/slides/_rels/slide6.xml.rels><?xml version="1.0" encoding="UTF-8" standalone="yes"?>
<Relationships xmlns="http://schemas.openxmlformats.org/package/2006/relationships"><Relationship Id="rId13" Type="http://schemas.openxmlformats.org/officeDocument/2006/relationships/image" Target="../media/image123.png"/><Relationship Id="rId18" Type="http://schemas.openxmlformats.org/officeDocument/2006/relationships/image" Target="../media/image128.png"/><Relationship Id="rId26" Type="http://schemas.openxmlformats.org/officeDocument/2006/relationships/image" Target="../media/image136.png"/><Relationship Id="rId39" Type="http://schemas.openxmlformats.org/officeDocument/2006/relationships/image" Target="../media/image146.png"/><Relationship Id="rId21" Type="http://schemas.openxmlformats.org/officeDocument/2006/relationships/image" Target="../media/image131.png"/><Relationship Id="rId34" Type="http://schemas.openxmlformats.org/officeDocument/2006/relationships/image" Target="../media/image75.png"/><Relationship Id="rId7" Type="http://schemas.openxmlformats.org/officeDocument/2006/relationships/image" Target="../media/image117.png"/><Relationship Id="rId12" Type="http://schemas.openxmlformats.org/officeDocument/2006/relationships/image" Target="../media/image122.png"/><Relationship Id="rId17" Type="http://schemas.openxmlformats.org/officeDocument/2006/relationships/image" Target="../media/image127.png"/><Relationship Id="rId25" Type="http://schemas.openxmlformats.org/officeDocument/2006/relationships/image" Target="../media/image135.png"/><Relationship Id="rId33" Type="http://schemas.openxmlformats.org/officeDocument/2006/relationships/image" Target="../media/image142.png"/><Relationship Id="rId38" Type="http://schemas.openxmlformats.org/officeDocument/2006/relationships/image" Target="../media/image145.png"/><Relationship Id="rId2" Type="http://schemas.openxmlformats.org/officeDocument/2006/relationships/image" Target="../media/image112.png"/><Relationship Id="rId16" Type="http://schemas.openxmlformats.org/officeDocument/2006/relationships/image" Target="../media/image126.png"/><Relationship Id="rId20" Type="http://schemas.openxmlformats.org/officeDocument/2006/relationships/image" Target="../media/image130.png"/><Relationship Id="rId29" Type="http://schemas.openxmlformats.org/officeDocument/2006/relationships/image" Target="../media/image139.png"/><Relationship Id="rId1" Type="http://schemas.openxmlformats.org/officeDocument/2006/relationships/slideLayout" Target="../slideLayouts/slideLayout7.xml"/><Relationship Id="rId6" Type="http://schemas.openxmlformats.org/officeDocument/2006/relationships/image" Target="../media/image116.png"/><Relationship Id="rId11" Type="http://schemas.openxmlformats.org/officeDocument/2006/relationships/image" Target="../media/image121.png"/><Relationship Id="rId24" Type="http://schemas.openxmlformats.org/officeDocument/2006/relationships/image" Target="../media/image134.png"/><Relationship Id="rId32" Type="http://schemas.openxmlformats.org/officeDocument/2006/relationships/image" Target="../media/image141.png"/><Relationship Id="rId37" Type="http://schemas.openxmlformats.org/officeDocument/2006/relationships/image" Target="../media/image144.png"/><Relationship Id="rId5" Type="http://schemas.openxmlformats.org/officeDocument/2006/relationships/image" Target="../media/image115.png"/><Relationship Id="rId15" Type="http://schemas.openxmlformats.org/officeDocument/2006/relationships/image" Target="../media/image125.png"/><Relationship Id="rId23" Type="http://schemas.openxmlformats.org/officeDocument/2006/relationships/image" Target="../media/image133.png"/><Relationship Id="rId28" Type="http://schemas.openxmlformats.org/officeDocument/2006/relationships/image" Target="../media/image138.png"/><Relationship Id="rId36" Type="http://schemas.openxmlformats.org/officeDocument/2006/relationships/image" Target="../media/image143.png"/><Relationship Id="rId10" Type="http://schemas.openxmlformats.org/officeDocument/2006/relationships/image" Target="../media/image120.png"/><Relationship Id="rId19" Type="http://schemas.openxmlformats.org/officeDocument/2006/relationships/image" Target="../media/image129.png"/><Relationship Id="rId31" Type="http://schemas.openxmlformats.org/officeDocument/2006/relationships/image" Target="../media/image67.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 Id="rId22" Type="http://schemas.openxmlformats.org/officeDocument/2006/relationships/image" Target="../media/image132.png"/><Relationship Id="rId27" Type="http://schemas.openxmlformats.org/officeDocument/2006/relationships/image" Target="../media/image137.png"/><Relationship Id="rId30" Type="http://schemas.openxmlformats.org/officeDocument/2006/relationships/image" Target="../media/image140.png"/><Relationship Id="rId35" Type="http://schemas.openxmlformats.org/officeDocument/2006/relationships/image" Target="../media/image95.png"/><Relationship Id="rId8" Type="http://schemas.openxmlformats.org/officeDocument/2006/relationships/image" Target="../media/image118.png"/><Relationship Id="rId3" Type="http://schemas.openxmlformats.org/officeDocument/2006/relationships/image" Target="../media/image113.png"/></Relationships>
</file>

<file path=ppt/slides/_rels/slide7.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18" Type="http://schemas.openxmlformats.org/officeDocument/2006/relationships/image" Target="../media/image163.png"/><Relationship Id="rId26" Type="http://schemas.openxmlformats.org/officeDocument/2006/relationships/image" Target="../media/image171.png"/><Relationship Id="rId3" Type="http://schemas.openxmlformats.org/officeDocument/2006/relationships/image" Target="../media/image148.png"/><Relationship Id="rId21" Type="http://schemas.openxmlformats.org/officeDocument/2006/relationships/image" Target="../media/image166.png"/><Relationship Id="rId7" Type="http://schemas.openxmlformats.org/officeDocument/2006/relationships/image" Target="../media/image152.png"/><Relationship Id="rId12" Type="http://schemas.openxmlformats.org/officeDocument/2006/relationships/image" Target="../media/image157.png"/><Relationship Id="rId17" Type="http://schemas.openxmlformats.org/officeDocument/2006/relationships/image" Target="../media/image162.png"/><Relationship Id="rId25" Type="http://schemas.openxmlformats.org/officeDocument/2006/relationships/image" Target="../media/image170.png"/><Relationship Id="rId2" Type="http://schemas.openxmlformats.org/officeDocument/2006/relationships/image" Target="../media/image147.png"/><Relationship Id="rId16" Type="http://schemas.openxmlformats.org/officeDocument/2006/relationships/image" Target="../media/image161.png"/><Relationship Id="rId20" Type="http://schemas.openxmlformats.org/officeDocument/2006/relationships/image" Target="../media/image165.png"/><Relationship Id="rId29" Type="http://schemas.openxmlformats.org/officeDocument/2006/relationships/hyperlink" Target="https://www.sciencedirect.com/science/article/pii/S2542660523000446" TargetMode="External"/><Relationship Id="rId1" Type="http://schemas.openxmlformats.org/officeDocument/2006/relationships/slideLayout" Target="../slideLayouts/slideLayout7.xml"/><Relationship Id="rId6" Type="http://schemas.openxmlformats.org/officeDocument/2006/relationships/image" Target="../media/image151.png"/><Relationship Id="rId11" Type="http://schemas.openxmlformats.org/officeDocument/2006/relationships/image" Target="../media/image156.png"/><Relationship Id="rId24" Type="http://schemas.openxmlformats.org/officeDocument/2006/relationships/image" Target="../media/image169.png"/><Relationship Id="rId5" Type="http://schemas.openxmlformats.org/officeDocument/2006/relationships/image" Target="../media/image150.png"/><Relationship Id="rId15" Type="http://schemas.openxmlformats.org/officeDocument/2006/relationships/image" Target="../media/image160.png"/><Relationship Id="rId23" Type="http://schemas.openxmlformats.org/officeDocument/2006/relationships/image" Target="../media/image168.png"/><Relationship Id="rId28" Type="http://schemas.openxmlformats.org/officeDocument/2006/relationships/hyperlink" Target="https://pmc.ncbi.nlm.nih.gov/articles/PMC9601552/" TargetMode="External"/><Relationship Id="rId10" Type="http://schemas.openxmlformats.org/officeDocument/2006/relationships/image" Target="../media/image155.png"/><Relationship Id="rId19" Type="http://schemas.openxmlformats.org/officeDocument/2006/relationships/image" Target="../media/image164.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 Id="rId22" Type="http://schemas.openxmlformats.org/officeDocument/2006/relationships/image" Target="../media/image167.png"/><Relationship Id="rId27" Type="http://schemas.openxmlformats.org/officeDocument/2006/relationships/hyperlink" Target="https://www.researchgate.net/publication/279177017_Internet_of_Things_A_Survey_on_Enabling_Technologies_Protocols_and_Applica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VIT Bhopal | VIT">
            <a:extLst>
              <a:ext uri="{FF2B5EF4-FFF2-40B4-BE49-F238E27FC236}">
                <a16:creationId xmlns:a16="http://schemas.microsoft.com/office/drawing/2014/main" id="{4DCF198D-8002-A7DA-5F21-4EAF8C76BFBF}"/>
              </a:ext>
            </a:extLst>
          </p:cNvPr>
          <p:cNvPicPr>
            <a:picLocks noChangeAspect="1"/>
          </p:cNvPicPr>
          <p:nvPr/>
        </p:nvPicPr>
        <p:blipFill>
          <a:blip r:embed="rId2"/>
          <a:stretch>
            <a:fillRect/>
          </a:stretch>
        </p:blipFill>
        <p:spPr>
          <a:xfrm>
            <a:off x="1305629" y="514350"/>
            <a:ext cx="1143000" cy="1143000"/>
          </a:xfrm>
          <a:prstGeom prst="rect">
            <a:avLst/>
          </a:prstGeom>
        </p:spPr>
      </p:pic>
      <p:sp>
        <p:nvSpPr>
          <p:cNvPr id="5" name="Freeform 3">
            <a:extLst>
              <a:ext uri="{FF2B5EF4-FFF2-40B4-BE49-F238E27FC236}">
                <a16:creationId xmlns:a16="http://schemas.microsoft.com/office/drawing/2014/main" id="{093A19A0-FB38-0D2E-6848-16DC609AF350}"/>
              </a:ext>
            </a:extLst>
          </p:cNvPr>
          <p:cNvSpPr/>
          <p:nvPr/>
        </p:nvSpPr>
        <p:spPr>
          <a:xfrm>
            <a:off x="-1" y="2627"/>
            <a:ext cx="2276475" cy="1876425"/>
          </a:xfrm>
          <a:custGeom>
            <a:avLst/>
            <a:gdLst/>
            <a:ahLst/>
            <a:cxnLst/>
            <a:rect l="l" t="t" r="r" b="b"/>
            <a:pathLst>
              <a:path w="2276475" h="1876425">
                <a:moveTo>
                  <a:pt x="0" y="0"/>
                </a:moveTo>
                <a:lnTo>
                  <a:pt x="2276475" y="0"/>
                </a:lnTo>
                <a:lnTo>
                  <a:pt x="2276475" y="1876425"/>
                </a:lnTo>
                <a:lnTo>
                  <a:pt x="0" y="1876425"/>
                </a:lnTo>
                <a:lnTo>
                  <a:pt x="0" y="0"/>
                </a:lnTo>
                <a:close/>
              </a:path>
            </a:pathLst>
          </a:custGeom>
          <a:blipFill>
            <a:blip r:embed="rId3"/>
            <a:stretch>
              <a:fillRect/>
            </a:stretch>
          </a:blipFill>
        </p:spPr>
        <p:txBody>
          <a:bodyPr/>
          <a:lstStyle/>
          <a:p>
            <a:endParaRPr lang="en-IN" sz="2000" dirty="0">
              <a:latin typeface="Aptos Narrow" panose="020B0004020202020204" pitchFamily="34" charset="0"/>
            </a:endParaRPr>
          </a:p>
        </p:txBody>
      </p:sp>
      <p:sp>
        <p:nvSpPr>
          <p:cNvPr id="7" name="Freeform 5">
            <a:extLst>
              <a:ext uri="{FF2B5EF4-FFF2-40B4-BE49-F238E27FC236}">
                <a16:creationId xmlns:a16="http://schemas.microsoft.com/office/drawing/2014/main" id="{EBBFA483-D175-6FDC-B102-C36CD2FD912D}"/>
              </a:ext>
            </a:extLst>
          </p:cNvPr>
          <p:cNvSpPr/>
          <p:nvPr/>
        </p:nvSpPr>
        <p:spPr>
          <a:xfrm>
            <a:off x="13066143" y="19545"/>
            <a:ext cx="2847975" cy="1314450"/>
          </a:xfrm>
          <a:custGeom>
            <a:avLst/>
            <a:gdLst/>
            <a:ahLst/>
            <a:cxnLst/>
            <a:rect l="l" t="t" r="r" b="b"/>
            <a:pathLst>
              <a:path w="2847975" h="1314450">
                <a:moveTo>
                  <a:pt x="0" y="0"/>
                </a:moveTo>
                <a:lnTo>
                  <a:pt x="2847975" y="0"/>
                </a:lnTo>
                <a:lnTo>
                  <a:pt x="2847975" y="1314450"/>
                </a:lnTo>
                <a:lnTo>
                  <a:pt x="0" y="1314450"/>
                </a:lnTo>
                <a:lnTo>
                  <a:pt x="0" y="0"/>
                </a:lnTo>
                <a:close/>
              </a:path>
            </a:pathLst>
          </a:custGeom>
          <a:blipFill>
            <a:blip r:embed="rId4"/>
            <a:stretch>
              <a:fillRect/>
            </a:stretch>
          </a:blipFill>
        </p:spPr>
        <p:txBody>
          <a:bodyPr/>
          <a:lstStyle/>
          <a:p>
            <a:endParaRPr lang="en-IN" dirty="0"/>
          </a:p>
        </p:txBody>
      </p:sp>
      <p:sp>
        <p:nvSpPr>
          <p:cNvPr id="9" name="Freeform 4">
            <a:extLst>
              <a:ext uri="{FF2B5EF4-FFF2-40B4-BE49-F238E27FC236}">
                <a16:creationId xmlns:a16="http://schemas.microsoft.com/office/drawing/2014/main" id="{E7D589F2-0AE3-70C2-6C3B-FE2A234D1058}"/>
              </a:ext>
            </a:extLst>
          </p:cNvPr>
          <p:cNvSpPr/>
          <p:nvPr/>
        </p:nvSpPr>
        <p:spPr>
          <a:xfrm>
            <a:off x="-8041" y="7096125"/>
            <a:ext cx="2085975" cy="1876425"/>
          </a:xfrm>
          <a:custGeom>
            <a:avLst/>
            <a:gdLst/>
            <a:ahLst/>
            <a:cxnLst/>
            <a:rect l="l" t="t" r="r" b="b"/>
            <a:pathLst>
              <a:path w="2085975" h="1876425">
                <a:moveTo>
                  <a:pt x="0" y="0"/>
                </a:moveTo>
                <a:lnTo>
                  <a:pt x="2085975" y="0"/>
                </a:lnTo>
                <a:lnTo>
                  <a:pt x="2085975" y="1876425"/>
                </a:lnTo>
                <a:lnTo>
                  <a:pt x="0" y="1876425"/>
                </a:lnTo>
                <a:lnTo>
                  <a:pt x="0" y="0"/>
                </a:lnTo>
                <a:close/>
              </a:path>
            </a:pathLst>
          </a:custGeom>
          <a:blipFill>
            <a:blip r:embed="rId5"/>
            <a:stretch>
              <a:fillRect/>
            </a:stretch>
          </a:blipFill>
        </p:spPr>
      </p:sp>
      <p:sp>
        <p:nvSpPr>
          <p:cNvPr id="10" name="Rectangle: Rounded Corners 9">
            <a:extLst>
              <a:ext uri="{FF2B5EF4-FFF2-40B4-BE49-F238E27FC236}">
                <a16:creationId xmlns:a16="http://schemas.microsoft.com/office/drawing/2014/main" id="{FA6FC852-D021-EBE2-29EE-F028030227B3}"/>
              </a:ext>
            </a:extLst>
          </p:cNvPr>
          <p:cNvSpPr/>
          <p:nvPr/>
        </p:nvSpPr>
        <p:spPr>
          <a:xfrm>
            <a:off x="1409700" y="2038350"/>
            <a:ext cx="12742966" cy="656009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endParaRPr lang="en-IN" dirty="0"/>
          </a:p>
        </p:txBody>
      </p:sp>
      <p:sp>
        <p:nvSpPr>
          <p:cNvPr id="11" name="TextBox 10">
            <a:extLst>
              <a:ext uri="{FF2B5EF4-FFF2-40B4-BE49-F238E27FC236}">
                <a16:creationId xmlns:a16="http://schemas.microsoft.com/office/drawing/2014/main" id="{0C25EA14-D4B7-AF5E-183E-DF6242AD183D}"/>
              </a:ext>
            </a:extLst>
          </p:cNvPr>
          <p:cNvSpPr txBox="1"/>
          <p:nvPr/>
        </p:nvSpPr>
        <p:spPr>
          <a:xfrm>
            <a:off x="1638300" y="2618483"/>
            <a:ext cx="6477000" cy="3539430"/>
          </a:xfrm>
          <a:prstGeom prst="rect">
            <a:avLst/>
          </a:prstGeom>
          <a:noFill/>
        </p:spPr>
        <p:txBody>
          <a:bodyPr wrap="square" rtlCol="0">
            <a:spAutoFit/>
          </a:bodyPr>
          <a:lstStyle/>
          <a:p>
            <a:r>
              <a:rPr lang="en-IN" sz="2800" dirty="0">
                <a:latin typeface="Algerian" panose="04020705040A02060702" pitchFamily="82" charset="0"/>
              </a:rPr>
              <a:t>Name:</a:t>
            </a:r>
            <a:br>
              <a:rPr lang="en-IN" sz="2800" dirty="0">
                <a:latin typeface="Algerian" panose="04020705040A02060702" pitchFamily="82" charset="0"/>
              </a:rPr>
            </a:br>
            <a:br>
              <a:rPr lang="en-IN" sz="2800" dirty="0">
                <a:latin typeface="Algerian" panose="04020705040A02060702" pitchFamily="82" charset="0"/>
              </a:rPr>
            </a:br>
            <a:r>
              <a:rPr lang="en-IN" sz="2800" dirty="0">
                <a:latin typeface="Algerian" panose="04020705040A02060702" pitchFamily="82" charset="0"/>
              </a:rPr>
              <a:t>Apurba Das (25BHI10010)</a:t>
            </a:r>
          </a:p>
          <a:p>
            <a:r>
              <a:rPr lang="en-IN" sz="2800" dirty="0">
                <a:latin typeface="Algerian" panose="04020705040A02060702" pitchFamily="82" charset="0"/>
              </a:rPr>
              <a:t>Abhishek Tandan (25bhi10097)</a:t>
            </a:r>
          </a:p>
          <a:p>
            <a:r>
              <a:rPr lang="en-IN" sz="2800" dirty="0">
                <a:latin typeface="Algerian" panose="04020705040A02060702" pitchFamily="82" charset="0"/>
              </a:rPr>
              <a:t>Gargi Khan (25BHI10112)</a:t>
            </a:r>
          </a:p>
          <a:p>
            <a:r>
              <a:rPr lang="en-IN" sz="2800" dirty="0">
                <a:latin typeface="Algerian" panose="04020705040A02060702" pitchFamily="82" charset="0"/>
              </a:rPr>
              <a:t>Lakshay Pareek (25Bhi10080)</a:t>
            </a:r>
          </a:p>
          <a:p>
            <a:r>
              <a:rPr lang="en-IN" sz="2800" dirty="0">
                <a:latin typeface="Algerian" panose="04020705040A02060702" pitchFamily="82" charset="0"/>
              </a:rPr>
              <a:t>Piyush (25BHI10028)</a:t>
            </a:r>
            <a:br>
              <a:rPr lang="en-IN" sz="2800" dirty="0">
                <a:latin typeface="Algerian" panose="04020705040A02060702" pitchFamily="82" charset="0"/>
              </a:rPr>
            </a:br>
            <a:endParaRPr lang="en-IN" sz="2800" dirty="0">
              <a:latin typeface="Algerian" panose="04020705040A02060702" pitchFamily="82" charset="0"/>
            </a:endParaRPr>
          </a:p>
        </p:txBody>
      </p:sp>
      <p:sp>
        <p:nvSpPr>
          <p:cNvPr id="2" name="TextBox 1">
            <a:extLst>
              <a:ext uri="{FF2B5EF4-FFF2-40B4-BE49-F238E27FC236}">
                <a16:creationId xmlns:a16="http://schemas.microsoft.com/office/drawing/2014/main" id="{65FDA832-CBA8-86DC-39D5-78664B2550FF}"/>
              </a:ext>
            </a:extLst>
          </p:cNvPr>
          <p:cNvSpPr txBox="1"/>
          <p:nvPr/>
        </p:nvSpPr>
        <p:spPr>
          <a:xfrm>
            <a:off x="2468916" y="729361"/>
            <a:ext cx="10081606" cy="584775"/>
          </a:xfrm>
          <a:prstGeom prst="rect">
            <a:avLst/>
          </a:prstGeom>
          <a:noFill/>
        </p:spPr>
        <p:txBody>
          <a:bodyPr wrap="none" rtlCol="0">
            <a:spAutoFit/>
          </a:bodyPr>
          <a:lstStyle/>
          <a:p>
            <a:r>
              <a:rPr lang="en-US" sz="3200" b="1" dirty="0">
                <a:latin typeface="Agency FB" panose="020B0503020202020204" pitchFamily="34" charset="0"/>
              </a:rPr>
              <a:t>Project Title: An IoT-Based Real-Time Patient Health Monitoring System</a:t>
            </a:r>
            <a:endParaRPr lang="en-IN" sz="3200" b="1" dirty="0">
              <a:latin typeface="Agency FB" panose="020B0503020202020204" pitchFamily="34" charset="0"/>
            </a:endParaRPr>
          </a:p>
        </p:txBody>
      </p:sp>
    </p:spTree>
    <p:extLst>
      <p:ext uri="{BB962C8B-B14F-4D97-AF65-F5344CB8AC3E}">
        <p14:creationId xmlns:p14="http://schemas.microsoft.com/office/powerpoint/2010/main" val="2002665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E55EA924-DE6C-D71D-62A8-917BC6699A7D}"/>
              </a:ext>
            </a:extLst>
          </p:cNvPr>
          <p:cNvSpPr/>
          <p:nvPr/>
        </p:nvSpPr>
        <p:spPr>
          <a:xfrm>
            <a:off x="346673" y="1739703"/>
            <a:ext cx="5976544" cy="660811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IN" b="1"/>
          </a:p>
        </p:txBody>
      </p:sp>
      <p:sp>
        <p:nvSpPr>
          <p:cNvPr id="3" name="Freeform 3">
            <a:extLst>
              <a:ext uri="{FF2B5EF4-FFF2-40B4-BE49-F238E27FC236}">
                <a16:creationId xmlns:a16="http://schemas.microsoft.com/office/drawing/2014/main" id="{AEDEF050-9ED9-DC80-9B43-5C13EFC0C461}"/>
              </a:ext>
            </a:extLst>
          </p:cNvPr>
          <p:cNvSpPr/>
          <p:nvPr/>
        </p:nvSpPr>
        <p:spPr>
          <a:xfrm>
            <a:off x="0" y="0"/>
            <a:ext cx="2466975" cy="1685925"/>
          </a:xfrm>
          <a:custGeom>
            <a:avLst/>
            <a:gdLst/>
            <a:ahLst/>
            <a:cxnLst/>
            <a:rect l="l" t="t" r="r" b="b"/>
            <a:pathLst>
              <a:path w="2466975" h="1685925">
                <a:moveTo>
                  <a:pt x="0" y="0"/>
                </a:moveTo>
                <a:lnTo>
                  <a:pt x="2466975" y="0"/>
                </a:lnTo>
                <a:lnTo>
                  <a:pt x="2466975" y="1685925"/>
                </a:lnTo>
                <a:lnTo>
                  <a:pt x="0" y="1685925"/>
                </a:lnTo>
                <a:lnTo>
                  <a:pt x="0" y="0"/>
                </a:lnTo>
                <a:close/>
              </a:path>
            </a:pathLst>
          </a:custGeom>
          <a:blipFill>
            <a:blip r:embed="rId2"/>
            <a:stretch>
              <a:fillRect/>
            </a:stretch>
          </a:blipFill>
        </p:spPr>
      </p:sp>
      <p:sp>
        <p:nvSpPr>
          <p:cNvPr id="5" name="Freeform 4">
            <a:extLst>
              <a:ext uri="{FF2B5EF4-FFF2-40B4-BE49-F238E27FC236}">
                <a16:creationId xmlns:a16="http://schemas.microsoft.com/office/drawing/2014/main" id="{B4B9BC13-FA3E-B4E1-3C20-B173D965AEA4}"/>
              </a:ext>
            </a:extLst>
          </p:cNvPr>
          <p:cNvSpPr/>
          <p:nvPr/>
        </p:nvSpPr>
        <p:spPr>
          <a:xfrm>
            <a:off x="180975" y="180975"/>
            <a:ext cx="771525" cy="762000"/>
          </a:xfrm>
          <a:custGeom>
            <a:avLst/>
            <a:gdLst/>
            <a:ahLst/>
            <a:cxnLst/>
            <a:rect l="l" t="t" r="r" b="b"/>
            <a:pathLst>
              <a:path w="771525" h="762000">
                <a:moveTo>
                  <a:pt x="0" y="0"/>
                </a:moveTo>
                <a:lnTo>
                  <a:pt x="771525" y="0"/>
                </a:lnTo>
                <a:lnTo>
                  <a:pt x="771525" y="762000"/>
                </a:lnTo>
                <a:lnTo>
                  <a:pt x="0" y="762000"/>
                </a:lnTo>
                <a:lnTo>
                  <a:pt x="0" y="0"/>
                </a:lnTo>
                <a:close/>
              </a:path>
            </a:pathLst>
          </a:custGeom>
          <a:blipFill>
            <a:blip r:embed="rId3"/>
            <a:stretch>
              <a:fillRect/>
            </a:stretch>
          </a:blipFill>
        </p:spPr>
      </p:sp>
      <p:sp>
        <p:nvSpPr>
          <p:cNvPr id="7" name="Freeform 5">
            <a:extLst>
              <a:ext uri="{FF2B5EF4-FFF2-40B4-BE49-F238E27FC236}">
                <a16:creationId xmlns:a16="http://schemas.microsoft.com/office/drawing/2014/main" id="{E4CE8362-3AFA-46D1-2970-CA2D154DDD87}"/>
              </a:ext>
            </a:extLst>
          </p:cNvPr>
          <p:cNvSpPr/>
          <p:nvPr/>
        </p:nvSpPr>
        <p:spPr>
          <a:xfrm>
            <a:off x="13839825" y="180975"/>
            <a:ext cx="1905000" cy="1133475"/>
          </a:xfrm>
          <a:custGeom>
            <a:avLst/>
            <a:gdLst/>
            <a:ahLst/>
            <a:cxnLst/>
            <a:rect l="l" t="t" r="r" b="b"/>
            <a:pathLst>
              <a:path w="1905000" h="1133475">
                <a:moveTo>
                  <a:pt x="0" y="0"/>
                </a:moveTo>
                <a:lnTo>
                  <a:pt x="1905000" y="0"/>
                </a:lnTo>
                <a:lnTo>
                  <a:pt x="1905000" y="1133475"/>
                </a:lnTo>
                <a:lnTo>
                  <a:pt x="0" y="1133475"/>
                </a:lnTo>
                <a:lnTo>
                  <a:pt x="0" y="0"/>
                </a:lnTo>
                <a:close/>
              </a:path>
            </a:pathLst>
          </a:custGeom>
          <a:blipFill>
            <a:blip r:embed="rId4"/>
            <a:stretch>
              <a:fillRect/>
            </a:stretch>
          </a:blipFill>
        </p:spPr>
      </p:sp>
      <p:sp>
        <p:nvSpPr>
          <p:cNvPr id="9" name="TextBox 6">
            <a:extLst>
              <a:ext uri="{FF2B5EF4-FFF2-40B4-BE49-F238E27FC236}">
                <a16:creationId xmlns:a16="http://schemas.microsoft.com/office/drawing/2014/main" id="{91189F63-CC80-5A14-2BF0-F11048252ABE}"/>
              </a:ext>
            </a:extLst>
          </p:cNvPr>
          <p:cNvSpPr txBox="1"/>
          <p:nvPr/>
        </p:nvSpPr>
        <p:spPr>
          <a:xfrm>
            <a:off x="2553233" y="276705"/>
            <a:ext cx="11286592" cy="577081"/>
          </a:xfrm>
          <a:prstGeom prst="rect">
            <a:avLst/>
          </a:prstGeom>
        </p:spPr>
        <p:txBody>
          <a:bodyPr wrap="square" lIns="0" tIns="0" rIns="0" bIns="0" rtlCol="0" anchor="t">
            <a:spAutoFit/>
          </a:bodyPr>
          <a:lstStyle/>
          <a:p>
            <a:pPr algn="ctr">
              <a:lnSpc>
                <a:spcPts val="4534"/>
              </a:lnSpc>
            </a:pPr>
            <a:r>
              <a:rPr lang="en-US" sz="4534" b="1" dirty="0">
                <a:solidFill>
                  <a:srgbClr val="002F6D"/>
                </a:solidFill>
                <a:latin typeface="Farro Bold"/>
                <a:ea typeface="Farro Bold"/>
                <a:cs typeface="Farro Bold"/>
                <a:sym typeface="Farro Bold"/>
              </a:rPr>
              <a:t>PROBLEM STATEMENT &amp; </a:t>
            </a:r>
            <a:r>
              <a:rPr lang="en-US" sz="4534" b="1" dirty="0">
                <a:solidFill>
                  <a:srgbClr val="008061"/>
                </a:solidFill>
                <a:latin typeface="Farro Bold"/>
                <a:ea typeface="Farro Bold"/>
                <a:cs typeface="Farro Bold"/>
                <a:sym typeface="Farro Bold"/>
              </a:rPr>
              <a:t>OBJECTIVES</a:t>
            </a:r>
          </a:p>
        </p:txBody>
      </p:sp>
      <p:sp>
        <p:nvSpPr>
          <p:cNvPr id="11" name="Freeform 11">
            <a:extLst>
              <a:ext uri="{FF2B5EF4-FFF2-40B4-BE49-F238E27FC236}">
                <a16:creationId xmlns:a16="http://schemas.microsoft.com/office/drawing/2014/main" id="{D6B95159-0557-2A2B-7078-7B76D456782A}"/>
              </a:ext>
            </a:extLst>
          </p:cNvPr>
          <p:cNvSpPr/>
          <p:nvPr/>
        </p:nvSpPr>
        <p:spPr>
          <a:xfrm>
            <a:off x="561975" y="1304925"/>
            <a:ext cx="4562475" cy="942975"/>
          </a:xfrm>
          <a:custGeom>
            <a:avLst/>
            <a:gdLst/>
            <a:ahLst/>
            <a:cxnLst/>
            <a:rect l="l" t="t" r="r" b="b"/>
            <a:pathLst>
              <a:path w="4562475" h="942975">
                <a:moveTo>
                  <a:pt x="0" y="0"/>
                </a:moveTo>
                <a:lnTo>
                  <a:pt x="4562475" y="0"/>
                </a:lnTo>
                <a:lnTo>
                  <a:pt x="4562475" y="942975"/>
                </a:lnTo>
                <a:lnTo>
                  <a:pt x="0" y="942975"/>
                </a:lnTo>
                <a:lnTo>
                  <a:pt x="0" y="0"/>
                </a:lnTo>
                <a:close/>
              </a:path>
            </a:pathLst>
          </a:custGeom>
          <a:blipFill>
            <a:blip r:embed="rId5"/>
            <a:stretch>
              <a:fillRect/>
            </a:stretch>
          </a:blipFill>
        </p:spPr>
      </p:sp>
      <p:sp>
        <p:nvSpPr>
          <p:cNvPr id="17" name="TextBox 13">
            <a:extLst>
              <a:ext uri="{FF2B5EF4-FFF2-40B4-BE49-F238E27FC236}">
                <a16:creationId xmlns:a16="http://schemas.microsoft.com/office/drawing/2014/main" id="{30FE9B00-8750-5E16-8566-A6A8C5D35399}"/>
              </a:ext>
            </a:extLst>
          </p:cNvPr>
          <p:cNvSpPr txBox="1"/>
          <p:nvPr/>
        </p:nvSpPr>
        <p:spPr>
          <a:xfrm>
            <a:off x="1583711" y="1650488"/>
            <a:ext cx="3372612" cy="282129"/>
          </a:xfrm>
          <a:prstGeom prst="rect">
            <a:avLst/>
          </a:prstGeom>
        </p:spPr>
        <p:txBody>
          <a:bodyPr wrap="square" lIns="0" tIns="0" rIns="0" bIns="0" rtlCol="0" anchor="t">
            <a:spAutoFit/>
          </a:bodyPr>
          <a:lstStyle/>
          <a:p>
            <a:pPr algn="l">
              <a:lnSpc>
                <a:spcPts val="2195"/>
              </a:lnSpc>
            </a:pPr>
            <a:r>
              <a:rPr lang="en-US" sz="2195" b="1" dirty="0">
                <a:solidFill>
                  <a:srgbClr val="FFFFFF"/>
                </a:solidFill>
                <a:latin typeface="Farro Bold"/>
                <a:ea typeface="Farro Bold"/>
                <a:cs typeface="Farro Bold"/>
                <a:sym typeface="Farro Bold"/>
              </a:rPr>
              <a:t>PROBLEM STATEMENT</a:t>
            </a:r>
          </a:p>
        </p:txBody>
      </p:sp>
      <p:sp>
        <p:nvSpPr>
          <p:cNvPr id="21" name="TextBox 14">
            <a:extLst>
              <a:ext uri="{FF2B5EF4-FFF2-40B4-BE49-F238E27FC236}">
                <a16:creationId xmlns:a16="http://schemas.microsoft.com/office/drawing/2014/main" id="{E327735E-E5B7-E3E0-C9E3-B1730D45A9A7}"/>
              </a:ext>
            </a:extLst>
          </p:cNvPr>
          <p:cNvSpPr txBox="1"/>
          <p:nvPr/>
        </p:nvSpPr>
        <p:spPr>
          <a:xfrm>
            <a:off x="495300" y="2259706"/>
            <a:ext cx="5627753" cy="1076385"/>
          </a:xfrm>
          <a:prstGeom prst="rect">
            <a:avLst/>
          </a:prstGeom>
        </p:spPr>
        <p:txBody>
          <a:bodyPr wrap="square" lIns="0" tIns="0" rIns="0" bIns="0" rtlCol="0" anchor="t">
            <a:spAutoFit/>
          </a:bodyPr>
          <a:lstStyle/>
          <a:p>
            <a:pPr algn="l">
              <a:lnSpc>
                <a:spcPts val="1698"/>
              </a:lnSpc>
            </a:pPr>
            <a:r>
              <a:rPr lang="en-US" sz="1400" b="1" dirty="0">
                <a:solidFill>
                  <a:srgbClr val="002F6D"/>
                </a:solidFill>
                <a:latin typeface="Nourd"/>
                <a:ea typeface="Nourd"/>
                <a:cs typeface="Nourd"/>
                <a:sym typeface="Nourd"/>
              </a:rPr>
              <a:t>Many patients, especially the elderly, chronically ill, or those in remote areas, do not have continuous access to timely health monitoring. Traditional monitoring methods rely on periodic hospital visits or manual checks, which can lead to delayed detection of health issues and increased risk to patient well-being.</a:t>
            </a:r>
          </a:p>
        </p:txBody>
      </p:sp>
      <p:sp>
        <p:nvSpPr>
          <p:cNvPr id="23" name="Freeform 16">
            <a:extLst>
              <a:ext uri="{FF2B5EF4-FFF2-40B4-BE49-F238E27FC236}">
                <a16:creationId xmlns:a16="http://schemas.microsoft.com/office/drawing/2014/main" id="{2E05C765-3261-0CA8-7A34-BDCEED421A5B}"/>
              </a:ext>
            </a:extLst>
          </p:cNvPr>
          <p:cNvSpPr/>
          <p:nvPr/>
        </p:nvSpPr>
        <p:spPr>
          <a:xfrm>
            <a:off x="752475" y="3352800"/>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6"/>
            <a:stretch>
              <a:fillRect/>
            </a:stretch>
          </a:blipFill>
        </p:spPr>
      </p:sp>
      <p:sp>
        <p:nvSpPr>
          <p:cNvPr id="25" name="TextBox 55">
            <a:extLst>
              <a:ext uri="{FF2B5EF4-FFF2-40B4-BE49-F238E27FC236}">
                <a16:creationId xmlns:a16="http://schemas.microsoft.com/office/drawing/2014/main" id="{7B574423-44A1-880F-92EB-90BB95BE4EA8}"/>
              </a:ext>
            </a:extLst>
          </p:cNvPr>
          <p:cNvSpPr txBox="1"/>
          <p:nvPr/>
        </p:nvSpPr>
        <p:spPr>
          <a:xfrm>
            <a:off x="752094" y="3673252"/>
            <a:ext cx="707136" cy="302070"/>
          </a:xfrm>
          <a:prstGeom prst="rect">
            <a:avLst/>
          </a:prstGeom>
        </p:spPr>
        <p:txBody>
          <a:bodyPr wrap="square" lIns="0" tIns="0" rIns="0" bIns="0" rtlCol="0" anchor="t">
            <a:spAutoFit/>
          </a:bodyPr>
          <a:lstStyle/>
          <a:p>
            <a:pPr algn="ctr">
              <a:lnSpc>
                <a:spcPts val="2266"/>
              </a:lnSpc>
            </a:pPr>
            <a:r>
              <a:rPr lang="en-US" sz="2266" b="1" dirty="0">
                <a:solidFill>
                  <a:srgbClr val="FFFFFF"/>
                </a:solidFill>
                <a:latin typeface="Farro Bold"/>
                <a:ea typeface="Farro Bold"/>
                <a:cs typeface="Farro Bold"/>
                <a:sym typeface="Farro Bold"/>
              </a:rPr>
              <a:t>01</a:t>
            </a:r>
          </a:p>
        </p:txBody>
      </p:sp>
      <p:sp>
        <p:nvSpPr>
          <p:cNvPr id="27" name="TextBox 40">
            <a:extLst>
              <a:ext uri="{FF2B5EF4-FFF2-40B4-BE49-F238E27FC236}">
                <a16:creationId xmlns:a16="http://schemas.microsoft.com/office/drawing/2014/main" id="{2C1BE08F-7817-BECC-D386-DC511D57F864}"/>
              </a:ext>
            </a:extLst>
          </p:cNvPr>
          <p:cNvSpPr txBox="1"/>
          <p:nvPr/>
        </p:nvSpPr>
        <p:spPr>
          <a:xfrm>
            <a:off x="1911096" y="3503405"/>
            <a:ext cx="3503676" cy="190500"/>
          </a:xfrm>
          <a:prstGeom prst="rect">
            <a:avLst/>
          </a:prstGeom>
        </p:spPr>
        <p:txBody>
          <a:bodyPr lIns="0" tIns="0" rIns="0" bIns="0" rtlCol="0" anchor="t">
            <a:spAutoFit/>
          </a:bodyPr>
          <a:lstStyle/>
          <a:p>
            <a:pPr algn="l">
              <a:lnSpc>
                <a:spcPts val="1528"/>
              </a:lnSpc>
            </a:pPr>
            <a:r>
              <a:rPr lang="en-US" sz="1273" b="1" dirty="0">
                <a:solidFill>
                  <a:srgbClr val="C8203F"/>
                </a:solidFill>
                <a:latin typeface="Nourd Bold"/>
                <a:ea typeface="Nourd Bold"/>
                <a:cs typeface="Nourd Bold"/>
                <a:sym typeface="Nourd Bold"/>
              </a:rPr>
              <a:t>Limited Access to Continuous Monitoring</a:t>
            </a:r>
          </a:p>
        </p:txBody>
      </p:sp>
      <p:sp>
        <p:nvSpPr>
          <p:cNvPr id="29" name="TextBox 18">
            <a:extLst>
              <a:ext uri="{FF2B5EF4-FFF2-40B4-BE49-F238E27FC236}">
                <a16:creationId xmlns:a16="http://schemas.microsoft.com/office/drawing/2014/main" id="{1072D902-A70E-D9EF-EE33-8878CB203091}"/>
              </a:ext>
            </a:extLst>
          </p:cNvPr>
          <p:cNvSpPr txBox="1"/>
          <p:nvPr/>
        </p:nvSpPr>
        <p:spPr>
          <a:xfrm>
            <a:off x="1911096" y="3745392"/>
            <a:ext cx="4168407" cy="374718"/>
          </a:xfrm>
          <a:prstGeom prst="rect">
            <a:avLst/>
          </a:prstGeom>
        </p:spPr>
        <p:txBody>
          <a:bodyPr wrap="square" lIns="0" tIns="0" rIns="0" bIns="0" rtlCol="0" anchor="t">
            <a:spAutoFit/>
          </a:bodyPr>
          <a:lstStyle/>
          <a:p>
            <a:pPr algn="l">
              <a:lnSpc>
                <a:spcPts val="1485"/>
              </a:lnSpc>
            </a:pPr>
            <a:r>
              <a:rPr lang="en-US" sz="1238" b="1" dirty="0">
                <a:solidFill>
                  <a:srgbClr val="002F6D"/>
                </a:solidFill>
                <a:latin typeface="Nourd"/>
                <a:ea typeface="Nourd"/>
                <a:cs typeface="Nourd"/>
                <a:sym typeface="Nourd"/>
              </a:rPr>
              <a:t>Patients need to be physically present in hospitals for regular checkups.</a:t>
            </a:r>
          </a:p>
        </p:txBody>
      </p:sp>
      <p:sp>
        <p:nvSpPr>
          <p:cNvPr id="31" name="Freeform 20">
            <a:extLst>
              <a:ext uri="{FF2B5EF4-FFF2-40B4-BE49-F238E27FC236}">
                <a16:creationId xmlns:a16="http://schemas.microsoft.com/office/drawing/2014/main" id="{FA4D1E44-6B4B-BEA7-F1BF-581A39C37625}"/>
              </a:ext>
            </a:extLst>
          </p:cNvPr>
          <p:cNvSpPr/>
          <p:nvPr/>
        </p:nvSpPr>
        <p:spPr>
          <a:xfrm>
            <a:off x="752475" y="4286250"/>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7"/>
            <a:stretch>
              <a:fillRect/>
            </a:stretch>
          </a:blipFill>
        </p:spPr>
      </p:sp>
      <p:sp>
        <p:nvSpPr>
          <p:cNvPr id="33" name="TextBox 56">
            <a:extLst>
              <a:ext uri="{FF2B5EF4-FFF2-40B4-BE49-F238E27FC236}">
                <a16:creationId xmlns:a16="http://schemas.microsoft.com/office/drawing/2014/main" id="{267666AF-1A82-BF96-455F-FAD69CB213B1}"/>
              </a:ext>
            </a:extLst>
          </p:cNvPr>
          <p:cNvSpPr txBox="1"/>
          <p:nvPr/>
        </p:nvSpPr>
        <p:spPr>
          <a:xfrm>
            <a:off x="735101" y="4570695"/>
            <a:ext cx="723062"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02</a:t>
            </a:r>
          </a:p>
        </p:txBody>
      </p:sp>
      <p:sp>
        <p:nvSpPr>
          <p:cNvPr id="35" name="TextBox 41">
            <a:extLst>
              <a:ext uri="{FF2B5EF4-FFF2-40B4-BE49-F238E27FC236}">
                <a16:creationId xmlns:a16="http://schemas.microsoft.com/office/drawing/2014/main" id="{68058CC0-656E-05B1-9F7F-C7D02E46F524}"/>
              </a:ext>
            </a:extLst>
          </p:cNvPr>
          <p:cNvSpPr txBox="1"/>
          <p:nvPr/>
        </p:nvSpPr>
        <p:spPr>
          <a:xfrm>
            <a:off x="1911096" y="4413995"/>
            <a:ext cx="3503676" cy="179536"/>
          </a:xfrm>
          <a:prstGeom prst="rect">
            <a:avLst/>
          </a:prstGeom>
        </p:spPr>
        <p:txBody>
          <a:bodyPr lIns="0" tIns="0" rIns="0" bIns="0" rtlCol="0" anchor="t">
            <a:spAutoFit/>
          </a:bodyPr>
          <a:lstStyle/>
          <a:p>
            <a:pPr algn="l">
              <a:lnSpc>
                <a:spcPts val="1443"/>
              </a:lnSpc>
            </a:pPr>
            <a:r>
              <a:rPr lang="en-US" sz="1202" b="1" dirty="0">
                <a:solidFill>
                  <a:srgbClr val="F4703C"/>
                </a:solidFill>
                <a:latin typeface="Nourd Bold"/>
                <a:ea typeface="Nourd Bold"/>
                <a:cs typeface="Nourd Bold"/>
                <a:sym typeface="Nourd Bold"/>
              </a:rPr>
              <a:t>Delayed Detection of Abnormal Conditions</a:t>
            </a:r>
          </a:p>
        </p:txBody>
      </p:sp>
      <p:sp>
        <p:nvSpPr>
          <p:cNvPr id="37" name="TextBox 22">
            <a:extLst>
              <a:ext uri="{FF2B5EF4-FFF2-40B4-BE49-F238E27FC236}">
                <a16:creationId xmlns:a16="http://schemas.microsoft.com/office/drawing/2014/main" id="{D6F59CF2-639C-5958-C3CF-26B0488D9F24}"/>
              </a:ext>
            </a:extLst>
          </p:cNvPr>
          <p:cNvSpPr txBox="1"/>
          <p:nvPr/>
        </p:nvSpPr>
        <p:spPr>
          <a:xfrm>
            <a:off x="1911096" y="4641694"/>
            <a:ext cx="3280715" cy="372794"/>
          </a:xfrm>
          <a:prstGeom prst="rect">
            <a:avLst/>
          </a:prstGeom>
        </p:spPr>
        <p:txBody>
          <a:bodyPr lIns="0" tIns="0" rIns="0" bIns="0" rtlCol="0" anchor="t">
            <a:spAutoFit/>
          </a:bodyPr>
          <a:lstStyle/>
          <a:p>
            <a:pPr algn="l">
              <a:lnSpc>
                <a:spcPts val="1485"/>
              </a:lnSpc>
            </a:pPr>
            <a:r>
              <a:rPr lang="en-US" sz="1238" b="1" dirty="0">
                <a:solidFill>
                  <a:srgbClr val="002F6D"/>
                </a:solidFill>
                <a:latin typeface="Nourd"/>
                <a:ea typeface="Nourd"/>
                <a:cs typeface="Nourd"/>
                <a:sym typeface="Nourd"/>
              </a:rPr>
              <a:t>Critical changes in vital signs may go unnoticed until it becomes serious.</a:t>
            </a:r>
          </a:p>
        </p:txBody>
      </p:sp>
      <p:sp>
        <p:nvSpPr>
          <p:cNvPr id="39" name="Freeform 24">
            <a:extLst>
              <a:ext uri="{FF2B5EF4-FFF2-40B4-BE49-F238E27FC236}">
                <a16:creationId xmlns:a16="http://schemas.microsoft.com/office/drawing/2014/main" id="{3D9553A6-AD88-E816-EAE9-5B6FB1F10C5E}"/>
              </a:ext>
            </a:extLst>
          </p:cNvPr>
          <p:cNvSpPr/>
          <p:nvPr/>
        </p:nvSpPr>
        <p:spPr>
          <a:xfrm>
            <a:off x="752475" y="503872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8"/>
            <a:stretch>
              <a:fillRect/>
            </a:stretch>
          </a:blipFill>
        </p:spPr>
      </p:sp>
      <p:sp>
        <p:nvSpPr>
          <p:cNvPr id="41" name="TextBox 57">
            <a:extLst>
              <a:ext uri="{FF2B5EF4-FFF2-40B4-BE49-F238E27FC236}">
                <a16:creationId xmlns:a16="http://schemas.microsoft.com/office/drawing/2014/main" id="{4BDDAC2F-6A22-4B8C-F74B-DAF1863D822A}"/>
              </a:ext>
            </a:extLst>
          </p:cNvPr>
          <p:cNvSpPr txBox="1"/>
          <p:nvPr/>
        </p:nvSpPr>
        <p:spPr>
          <a:xfrm>
            <a:off x="827532" y="5514539"/>
            <a:ext cx="542087"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03</a:t>
            </a:r>
          </a:p>
        </p:txBody>
      </p:sp>
      <p:sp>
        <p:nvSpPr>
          <p:cNvPr id="43" name="TextBox 42">
            <a:extLst>
              <a:ext uri="{FF2B5EF4-FFF2-40B4-BE49-F238E27FC236}">
                <a16:creationId xmlns:a16="http://schemas.microsoft.com/office/drawing/2014/main" id="{CD332942-2ABD-2D1B-E58F-563F4D21C64F}"/>
              </a:ext>
            </a:extLst>
          </p:cNvPr>
          <p:cNvSpPr txBox="1"/>
          <p:nvPr/>
        </p:nvSpPr>
        <p:spPr>
          <a:xfrm>
            <a:off x="1911096" y="5346149"/>
            <a:ext cx="2468499" cy="180434"/>
          </a:xfrm>
          <a:prstGeom prst="rect">
            <a:avLst/>
          </a:prstGeom>
        </p:spPr>
        <p:txBody>
          <a:bodyPr lIns="0" tIns="0" rIns="0" bIns="0" rtlCol="0" anchor="t">
            <a:spAutoFit/>
          </a:bodyPr>
          <a:lstStyle/>
          <a:p>
            <a:pPr algn="l">
              <a:lnSpc>
                <a:spcPts val="1485"/>
              </a:lnSpc>
            </a:pPr>
            <a:r>
              <a:rPr lang="en-US" sz="1238" b="1" dirty="0">
                <a:solidFill>
                  <a:srgbClr val="F49A33"/>
                </a:solidFill>
                <a:latin typeface="Nourd Bold"/>
                <a:ea typeface="Nourd Bold"/>
                <a:cs typeface="Nourd Bold"/>
                <a:sym typeface="Nourd Bold"/>
              </a:rPr>
              <a:t>Burden on Healthcare System</a:t>
            </a:r>
          </a:p>
        </p:txBody>
      </p:sp>
      <p:sp>
        <p:nvSpPr>
          <p:cNvPr id="45" name="TextBox 26">
            <a:extLst>
              <a:ext uri="{FF2B5EF4-FFF2-40B4-BE49-F238E27FC236}">
                <a16:creationId xmlns:a16="http://schemas.microsoft.com/office/drawing/2014/main" id="{8D244B2E-2BAD-1630-DA45-28383C2EB81D}"/>
              </a:ext>
            </a:extLst>
          </p:cNvPr>
          <p:cNvSpPr txBox="1"/>
          <p:nvPr/>
        </p:nvSpPr>
        <p:spPr>
          <a:xfrm>
            <a:off x="1911096" y="5573849"/>
            <a:ext cx="3185160" cy="565155"/>
          </a:xfrm>
          <a:prstGeom prst="rect">
            <a:avLst/>
          </a:prstGeom>
        </p:spPr>
        <p:txBody>
          <a:bodyPr lIns="0" tIns="0" rIns="0" bIns="0" rtlCol="0" anchor="t">
            <a:spAutoFit/>
          </a:bodyPr>
          <a:lstStyle/>
          <a:p>
            <a:pPr algn="l">
              <a:lnSpc>
                <a:spcPts val="1485"/>
              </a:lnSpc>
            </a:pPr>
            <a:r>
              <a:rPr lang="en-US" sz="1238" b="1" dirty="0">
                <a:solidFill>
                  <a:srgbClr val="002F6D"/>
                </a:solidFill>
                <a:latin typeface="Nourd"/>
                <a:ea typeface="Nourd"/>
                <a:cs typeface="Nourd"/>
                <a:sym typeface="Nourd"/>
              </a:rPr>
              <a:t>Frequent hospital visits increase workload on healthcare professionals and infrastructure.</a:t>
            </a:r>
          </a:p>
        </p:txBody>
      </p:sp>
      <p:sp>
        <p:nvSpPr>
          <p:cNvPr id="47" name="TextBox 58">
            <a:extLst>
              <a:ext uri="{FF2B5EF4-FFF2-40B4-BE49-F238E27FC236}">
                <a16:creationId xmlns:a16="http://schemas.microsoft.com/office/drawing/2014/main" id="{60CA3733-4CC4-6653-934D-5F26FEA27956}"/>
              </a:ext>
            </a:extLst>
          </p:cNvPr>
          <p:cNvSpPr txBox="1"/>
          <p:nvPr/>
        </p:nvSpPr>
        <p:spPr>
          <a:xfrm>
            <a:off x="827532" y="6384444"/>
            <a:ext cx="542087"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04</a:t>
            </a:r>
          </a:p>
        </p:txBody>
      </p:sp>
      <p:sp>
        <p:nvSpPr>
          <p:cNvPr id="49" name="Freeform 28">
            <a:extLst>
              <a:ext uri="{FF2B5EF4-FFF2-40B4-BE49-F238E27FC236}">
                <a16:creationId xmlns:a16="http://schemas.microsoft.com/office/drawing/2014/main" id="{9266183D-BD29-1A00-5DAE-447ACCF9E4DE}"/>
              </a:ext>
            </a:extLst>
          </p:cNvPr>
          <p:cNvSpPr/>
          <p:nvPr/>
        </p:nvSpPr>
        <p:spPr>
          <a:xfrm>
            <a:off x="752475" y="597217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9"/>
            <a:stretch>
              <a:fillRect/>
            </a:stretch>
          </a:blipFill>
        </p:spPr>
      </p:sp>
      <p:sp>
        <p:nvSpPr>
          <p:cNvPr id="51" name="TextBox 58">
            <a:extLst>
              <a:ext uri="{FF2B5EF4-FFF2-40B4-BE49-F238E27FC236}">
                <a16:creationId xmlns:a16="http://schemas.microsoft.com/office/drawing/2014/main" id="{BBC33913-E24C-F903-C52E-9A5915D5E238}"/>
              </a:ext>
            </a:extLst>
          </p:cNvPr>
          <p:cNvSpPr txBox="1"/>
          <p:nvPr/>
        </p:nvSpPr>
        <p:spPr>
          <a:xfrm>
            <a:off x="353110" y="6359012"/>
            <a:ext cx="1487043" cy="294953"/>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04</a:t>
            </a:r>
          </a:p>
        </p:txBody>
      </p:sp>
      <p:sp>
        <p:nvSpPr>
          <p:cNvPr id="53" name="TextBox 43">
            <a:extLst>
              <a:ext uri="{FF2B5EF4-FFF2-40B4-BE49-F238E27FC236}">
                <a16:creationId xmlns:a16="http://schemas.microsoft.com/office/drawing/2014/main" id="{2111C9D8-B530-E3D1-B57C-A896C6244419}"/>
              </a:ext>
            </a:extLst>
          </p:cNvPr>
          <p:cNvSpPr txBox="1"/>
          <p:nvPr/>
        </p:nvSpPr>
        <p:spPr>
          <a:xfrm>
            <a:off x="1911096" y="6251415"/>
            <a:ext cx="2309241" cy="179536"/>
          </a:xfrm>
          <a:prstGeom prst="rect">
            <a:avLst/>
          </a:prstGeom>
        </p:spPr>
        <p:txBody>
          <a:bodyPr lIns="0" tIns="0" rIns="0" bIns="0" rtlCol="0" anchor="t">
            <a:spAutoFit/>
          </a:bodyPr>
          <a:lstStyle/>
          <a:p>
            <a:pPr algn="l">
              <a:lnSpc>
                <a:spcPts val="1443"/>
              </a:lnSpc>
            </a:pPr>
            <a:r>
              <a:rPr lang="en-US" sz="1202" b="1" dirty="0">
                <a:solidFill>
                  <a:srgbClr val="6B46C4"/>
                </a:solidFill>
                <a:latin typeface="Nourd Bold"/>
                <a:ea typeface="Nourd Bold"/>
                <a:cs typeface="Nourd Bold"/>
                <a:sym typeface="Nourd Bold"/>
              </a:rPr>
              <a:t>Lack of Remote Accessibility</a:t>
            </a:r>
          </a:p>
        </p:txBody>
      </p:sp>
      <p:sp>
        <p:nvSpPr>
          <p:cNvPr id="55" name="TextBox 30">
            <a:extLst>
              <a:ext uri="{FF2B5EF4-FFF2-40B4-BE49-F238E27FC236}">
                <a16:creationId xmlns:a16="http://schemas.microsoft.com/office/drawing/2014/main" id="{78604E3A-BFB7-FC76-D60E-457671DB3FF4}"/>
              </a:ext>
            </a:extLst>
          </p:cNvPr>
          <p:cNvSpPr txBox="1"/>
          <p:nvPr/>
        </p:nvSpPr>
        <p:spPr>
          <a:xfrm>
            <a:off x="1911096" y="6479115"/>
            <a:ext cx="3487750" cy="372794"/>
          </a:xfrm>
          <a:prstGeom prst="rect">
            <a:avLst/>
          </a:prstGeom>
        </p:spPr>
        <p:txBody>
          <a:bodyPr lIns="0" tIns="0" rIns="0" bIns="0" rtlCol="0" anchor="t">
            <a:spAutoFit/>
          </a:bodyPr>
          <a:lstStyle/>
          <a:p>
            <a:pPr algn="l">
              <a:lnSpc>
                <a:spcPts val="1485"/>
              </a:lnSpc>
            </a:pPr>
            <a:r>
              <a:rPr lang="en-US" sz="1238" b="1" dirty="0">
                <a:solidFill>
                  <a:srgbClr val="002F6D"/>
                </a:solidFill>
                <a:latin typeface="Nourd"/>
                <a:ea typeface="Nourd"/>
                <a:cs typeface="Nourd"/>
                <a:sym typeface="Nourd"/>
              </a:rPr>
              <a:t>Difficult for caregivers to monitor patients who are at home or in remote areas.</a:t>
            </a:r>
          </a:p>
        </p:txBody>
      </p:sp>
      <p:sp>
        <p:nvSpPr>
          <p:cNvPr id="59" name="Freeform 32">
            <a:extLst>
              <a:ext uri="{FF2B5EF4-FFF2-40B4-BE49-F238E27FC236}">
                <a16:creationId xmlns:a16="http://schemas.microsoft.com/office/drawing/2014/main" id="{219C244F-5667-152B-ED3C-6B90D480C601}"/>
              </a:ext>
            </a:extLst>
          </p:cNvPr>
          <p:cNvSpPr/>
          <p:nvPr/>
        </p:nvSpPr>
        <p:spPr>
          <a:xfrm>
            <a:off x="752475" y="690562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10"/>
            <a:stretch>
              <a:fillRect/>
            </a:stretch>
          </a:blipFill>
        </p:spPr>
      </p:sp>
      <p:sp>
        <p:nvSpPr>
          <p:cNvPr id="61" name="TextBox 59">
            <a:extLst>
              <a:ext uri="{FF2B5EF4-FFF2-40B4-BE49-F238E27FC236}">
                <a16:creationId xmlns:a16="http://schemas.microsoft.com/office/drawing/2014/main" id="{4CC2765D-CBEC-01E0-8B1D-09E7BFF85B6B}"/>
              </a:ext>
            </a:extLst>
          </p:cNvPr>
          <p:cNvSpPr txBox="1"/>
          <p:nvPr/>
        </p:nvSpPr>
        <p:spPr>
          <a:xfrm>
            <a:off x="930477" y="7193685"/>
            <a:ext cx="527685"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05</a:t>
            </a:r>
          </a:p>
        </p:txBody>
      </p:sp>
      <p:sp>
        <p:nvSpPr>
          <p:cNvPr id="63" name="TextBox 44">
            <a:extLst>
              <a:ext uri="{FF2B5EF4-FFF2-40B4-BE49-F238E27FC236}">
                <a16:creationId xmlns:a16="http://schemas.microsoft.com/office/drawing/2014/main" id="{9690BE47-98B0-E47E-2AB5-5D195DB3FAC2}"/>
              </a:ext>
            </a:extLst>
          </p:cNvPr>
          <p:cNvSpPr txBox="1"/>
          <p:nvPr/>
        </p:nvSpPr>
        <p:spPr>
          <a:xfrm>
            <a:off x="1911096" y="7156680"/>
            <a:ext cx="2006651" cy="180434"/>
          </a:xfrm>
          <a:prstGeom prst="rect">
            <a:avLst/>
          </a:prstGeom>
        </p:spPr>
        <p:txBody>
          <a:bodyPr lIns="0" tIns="0" rIns="0" bIns="0" rtlCol="0" anchor="t">
            <a:spAutoFit/>
          </a:bodyPr>
          <a:lstStyle/>
          <a:p>
            <a:pPr algn="l">
              <a:lnSpc>
                <a:spcPts val="1485"/>
              </a:lnSpc>
            </a:pPr>
            <a:r>
              <a:rPr lang="en-US" sz="1238" b="1" dirty="0">
                <a:solidFill>
                  <a:srgbClr val="008061"/>
                </a:solidFill>
                <a:latin typeface="Nourd Bold"/>
                <a:ea typeface="Nourd Bold"/>
                <a:cs typeface="Nourd Bold"/>
                <a:sym typeface="Nourd Bold"/>
              </a:rPr>
              <a:t>Higher Healthcare Costs</a:t>
            </a:r>
          </a:p>
        </p:txBody>
      </p:sp>
      <p:sp>
        <p:nvSpPr>
          <p:cNvPr id="65" name="TextBox 34">
            <a:extLst>
              <a:ext uri="{FF2B5EF4-FFF2-40B4-BE49-F238E27FC236}">
                <a16:creationId xmlns:a16="http://schemas.microsoft.com/office/drawing/2014/main" id="{BB05D8B5-C1FF-4B04-3976-07EE7D1C490C}"/>
              </a:ext>
            </a:extLst>
          </p:cNvPr>
          <p:cNvSpPr txBox="1"/>
          <p:nvPr/>
        </p:nvSpPr>
        <p:spPr>
          <a:xfrm>
            <a:off x="1911096" y="7384380"/>
            <a:ext cx="3089605" cy="565155"/>
          </a:xfrm>
          <a:prstGeom prst="rect">
            <a:avLst/>
          </a:prstGeom>
        </p:spPr>
        <p:txBody>
          <a:bodyPr lIns="0" tIns="0" rIns="0" bIns="0" rtlCol="0" anchor="t">
            <a:spAutoFit/>
          </a:bodyPr>
          <a:lstStyle/>
          <a:p>
            <a:pPr algn="l">
              <a:lnSpc>
                <a:spcPts val="1485"/>
              </a:lnSpc>
            </a:pPr>
            <a:r>
              <a:rPr lang="en-US" sz="1238" b="1" dirty="0">
                <a:solidFill>
                  <a:srgbClr val="002F6D"/>
                </a:solidFill>
                <a:latin typeface="Nourd"/>
                <a:ea typeface="Nourd"/>
                <a:cs typeface="Nourd"/>
                <a:sym typeface="Nourd"/>
              </a:rPr>
              <a:t>Regular hospital visits and late interventions can lead to higher treatment costs.</a:t>
            </a:r>
          </a:p>
        </p:txBody>
      </p:sp>
      <p:sp>
        <p:nvSpPr>
          <p:cNvPr id="67" name="Rectangle: Rounded Corners 66">
            <a:extLst>
              <a:ext uri="{FF2B5EF4-FFF2-40B4-BE49-F238E27FC236}">
                <a16:creationId xmlns:a16="http://schemas.microsoft.com/office/drawing/2014/main" id="{403BAAD3-A363-8D34-3082-5EFE42C5B896}"/>
              </a:ext>
            </a:extLst>
          </p:cNvPr>
          <p:cNvSpPr/>
          <p:nvPr/>
        </p:nvSpPr>
        <p:spPr>
          <a:xfrm>
            <a:off x="6645427" y="1753013"/>
            <a:ext cx="6364082" cy="6608113"/>
          </a:xfrm>
          <a:prstGeom prst="round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IN" b="1"/>
          </a:p>
        </p:txBody>
      </p:sp>
      <p:sp>
        <p:nvSpPr>
          <p:cNvPr id="69" name="TextBox 38">
            <a:extLst>
              <a:ext uri="{FF2B5EF4-FFF2-40B4-BE49-F238E27FC236}">
                <a16:creationId xmlns:a16="http://schemas.microsoft.com/office/drawing/2014/main" id="{3FB5598F-1B3A-CB92-8B2F-E3B756AE4C38}"/>
              </a:ext>
            </a:extLst>
          </p:cNvPr>
          <p:cNvSpPr txBox="1"/>
          <p:nvPr/>
        </p:nvSpPr>
        <p:spPr>
          <a:xfrm>
            <a:off x="8345119" y="1727454"/>
            <a:ext cx="1497025" cy="564257"/>
          </a:xfrm>
          <a:prstGeom prst="rect">
            <a:avLst/>
          </a:prstGeom>
        </p:spPr>
        <p:txBody>
          <a:bodyPr lIns="0" tIns="0" rIns="0" bIns="0" rtlCol="0" anchor="t">
            <a:spAutoFit/>
          </a:bodyPr>
          <a:lstStyle/>
          <a:p>
            <a:pPr algn="l">
              <a:lnSpc>
                <a:spcPts val="2195"/>
              </a:lnSpc>
            </a:pPr>
            <a:r>
              <a:rPr lang="en-US" sz="2195" b="1" dirty="0">
                <a:solidFill>
                  <a:srgbClr val="FFFFFF"/>
                </a:solidFill>
                <a:latin typeface="Farro Bold"/>
                <a:ea typeface="Farro Bold"/>
                <a:cs typeface="Farro Bold"/>
                <a:sym typeface="Farro Bold"/>
              </a:rPr>
              <a:t>OBJECTIVES</a:t>
            </a:r>
          </a:p>
        </p:txBody>
      </p:sp>
      <p:sp>
        <p:nvSpPr>
          <p:cNvPr id="71" name="TextBox 39">
            <a:extLst>
              <a:ext uri="{FF2B5EF4-FFF2-40B4-BE49-F238E27FC236}">
                <a16:creationId xmlns:a16="http://schemas.microsoft.com/office/drawing/2014/main" id="{801FBDAD-4D2D-D601-D177-C415B85172D8}"/>
              </a:ext>
            </a:extLst>
          </p:cNvPr>
          <p:cNvSpPr txBox="1"/>
          <p:nvPr/>
        </p:nvSpPr>
        <p:spPr>
          <a:xfrm>
            <a:off x="6845590" y="2292525"/>
            <a:ext cx="5765510" cy="769441"/>
          </a:xfrm>
          <a:prstGeom prst="rect">
            <a:avLst/>
          </a:prstGeom>
        </p:spPr>
        <p:txBody>
          <a:bodyPr wrap="square" lIns="0" tIns="0" rIns="0" bIns="0" rtlCol="0" anchor="t">
            <a:spAutoFit/>
          </a:bodyPr>
          <a:lstStyle/>
          <a:p>
            <a:pPr algn="l">
              <a:lnSpc>
                <a:spcPts val="1485"/>
              </a:lnSpc>
            </a:pPr>
            <a:r>
              <a:rPr lang="en-US" sz="1400" b="1" dirty="0">
                <a:solidFill>
                  <a:srgbClr val="002F6D"/>
                </a:solidFill>
                <a:latin typeface="Nourd"/>
                <a:ea typeface="Nourd"/>
                <a:cs typeface="Nourd"/>
                <a:sym typeface="Nourd"/>
              </a:rPr>
              <a:t>Our objective is to develop a smart, IoT-based health monitoring system that continuously collects, transmits, and analyzes patient vital signs, making real-time data accessible to caregivers and healthcare professionals.</a:t>
            </a:r>
          </a:p>
        </p:txBody>
      </p:sp>
      <p:sp>
        <p:nvSpPr>
          <p:cNvPr id="73" name="TextBox 45">
            <a:extLst>
              <a:ext uri="{FF2B5EF4-FFF2-40B4-BE49-F238E27FC236}">
                <a16:creationId xmlns:a16="http://schemas.microsoft.com/office/drawing/2014/main" id="{B4345DED-2609-7FCD-4662-DA09182AB73A}"/>
              </a:ext>
            </a:extLst>
          </p:cNvPr>
          <p:cNvSpPr txBox="1"/>
          <p:nvPr/>
        </p:nvSpPr>
        <p:spPr>
          <a:xfrm>
            <a:off x="8806966" y="3230875"/>
            <a:ext cx="2203933" cy="192360"/>
          </a:xfrm>
          <a:prstGeom prst="rect">
            <a:avLst/>
          </a:prstGeom>
        </p:spPr>
        <p:txBody>
          <a:bodyPr wrap="square" lIns="0" tIns="0" rIns="0" bIns="0" rtlCol="0" anchor="t">
            <a:spAutoFit/>
          </a:bodyPr>
          <a:lstStyle/>
          <a:p>
            <a:pPr algn="l">
              <a:lnSpc>
                <a:spcPts val="1485"/>
              </a:lnSpc>
            </a:pPr>
            <a:r>
              <a:rPr lang="en-US" sz="1400" b="1" dirty="0">
                <a:solidFill>
                  <a:srgbClr val="008061"/>
                </a:solidFill>
                <a:latin typeface="Nourd Bold"/>
                <a:ea typeface="Nourd Bold"/>
                <a:cs typeface="Nourd Bold"/>
                <a:sym typeface="Nourd Bold"/>
              </a:rPr>
              <a:t>Real-Time Monitoring</a:t>
            </a:r>
          </a:p>
        </p:txBody>
      </p:sp>
      <p:sp>
        <p:nvSpPr>
          <p:cNvPr id="75" name="TextBox 46">
            <a:extLst>
              <a:ext uri="{FF2B5EF4-FFF2-40B4-BE49-F238E27FC236}">
                <a16:creationId xmlns:a16="http://schemas.microsoft.com/office/drawing/2014/main" id="{67BB4BCC-3F58-1F38-6A11-B249C9DD0D58}"/>
              </a:ext>
            </a:extLst>
          </p:cNvPr>
          <p:cNvSpPr txBox="1"/>
          <p:nvPr/>
        </p:nvSpPr>
        <p:spPr>
          <a:xfrm>
            <a:off x="8806967" y="3434171"/>
            <a:ext cx="3575533" cy="359073"/>
          </a:xfrm>
          <a:prstGeom prst="rect">
            <a:avLst/>
          </a:prstGeom>
        </p:spPr>
        <p:txBody>
          <a:bodyPr wrap="square" lIns="0" tIns="0" rIns="0" bIns="0" rtlCol="0" anchor="t">
            <a:spAutoFit/>
          </a:bodyPr>
          <a:lstStyle/>
          <a:p>
            <a:pPr algn="l">
              <a:lnSpc>
                <a:spcPts val="1385"/>
              </a:lnSpc>
            </a:pPr>
            <a:r>
              <a:rPr lang="en-US" sz="1200" b="1" dirty="0">
                <a:solidFill>
                  <a:srgbClr val="002F6D"/>
                </a:solidFill>
                <a:latin typeface="Nourd"/>
                <a:ea typeface="Nourd"/>
                <a:cs typeface="Nourd"/>
                <a:sym typeface="Nourd"/>
              </a:rPr>
              <a:t>Measure vital parameters such as heart rate, SpO2, and body temperature continuously.</a:t>
            </a:r>
          </a:p>
        </p:txBody>
      </p:sp>
      <p:sp>
        <p:nvSpPr>
          <p:cNvPr id="77" name="TextBox 47">
            <a:extLst>
              <a:ext uri="{FF2B5EF4-FFF2-40B4-BE49-F238E27FC236}">
                <a16:creationId xmlns:a16="http://schemas.microsoft.com/office/drawing/2014/main" id="{2FD0B90C-8FCE-853C-D107-F8D2D301BF2F}"/>
              </a:ext>
            </a:extLst>
          </p:cNvPr>
          <p:cNvSpPr txBox="1"/>
          <p:nvPr/>
        </p:nvSpPr>
        <p:spPr>
          <a:xfrm>
            <a:off x="8806967" y="4094964"/>
            <a:ext cx="2468499" cy="192360"/>
          </a:xfrm>
          <a:prstGeom prst="rect">
            <a:avLst/>
          </a:prstGeom>
        </p:spPr>
        <p:txBody>
          <a:bodyPr wrap="square" lIns="0" tIns="0" rIns="0" bIns="0" rtlCol="0" anchor="t">
            <a:spAutoFit/>
          </a:bodyPr>
          <a:lstStyle/>
          <a:p>
            <a:pPr algn="l">
              <a:lnSpc>
                <a:spcPts val="1528"/>
              </a:lnSpc>
            </a:pPr>
            <a:r>
              <a:rPr lang="en-US" sz="1400" b="1" dirty="0">
                <a:solidFill>
                  <a:srgbClr val="002F6D"/>
                </a:solidFill>
                <a:latin typeface="Nourd Bold"/>
                <a:ea typeface="Nourd Bold"/>
                <a:cs typeface="Nourd Bold"/>
                <a:sym typeface="Nourd Bold"/>
              </a:rPr>
              <a:t>Wireless Data Transmission</a:t>
            </a:r>
          </a:p>
        </p:txBody>
      </p:sp>
      <p:sp>
        <p:nvSpPr>
          <p:cNvPr id="79" name="TextBox 48">
            <a:extLst>
              <a:ext uri="{FF2B5EF4-FFF2-40B4-BE49-F238E27FC236}">
                <a16:creationId xmlns:a16="http://schemas.microsoft.com/office/drawing/2014/main" id="{89018DD0-FA90-D9CE-EE43-4160778FA022}"/>
              </a:ext>
            </a:extLst>
          </p:cNvPr>
          <p:cNvSpPr txBox="1"/>
          <p:nvPr/>
        </p:nvSpPr>
        <p:spPr>
          <a:xfrm>
            <a:off x="8806967" y="4312548"/>
            <a:ext cx="2675534" cy="359073"/>
          </a:xfrm>
          <a:prstGeom prst="rect">
            <a:avLst/>
          </a:prstGeom>
        </p:spPr>
        <p:txBody>
          <a:bodyPr lIns="0" tIns="0" rIns="0" bIns="0" rtlCol="0" anchor="t">
            <a:spAutoFit/>
          </a:bodyPr>
          <a:lstStyle/>
          <a:p>
            <a:pPr algn="l">
              <a:lnSpc>
                <a:spcPts val="1385"/>
              </a:lnSpc>
            </a:pPr>
            <a:r>
              <a:rPr lang="en-US" sz="1200" b="1" dirty="0">
                <a:solidFill>
                  <a:srgbClr val="002F6D"/>
                </a:solidFill>
                <a:latin typeface="Nourd"/>
                <a:ea typeface="Nourd"/>
                <a:cs typeface="Nourd"/>
                <a:sym typeface="Nourd"/>
              </a:rPr>
              <a:t>Send the collected data to a cloud platform using Wi-Fi or Bluetooth.</a:t>
            </a:r>
          </a:p>
        </p:txBody>
      </p:sp>
      <p:sp>
        <p:nvSpPr>
          <p:cNvPr id="81" name="TextBox 49">
            <a:extLst>
              <a:ext uri="{FF2B5EF4-FFF2-40B4-BE49-F238E27FC236}">
                <a16:creationId xmlns:a16="http://schemas.microsoft.com/office/drawing/2014/main" id="{04C08DB6-1E7F-58F3-870A-8855F87373EF}"/>
              </a:ext>
            </a:extLst>
          </p:cNvPr>
          <p:cNvSpPr txBox="1"/>
          <p:nvPr/>
        </p:nvSpPr>
        <p:spPr>
          <a:xfrm>
            <a:off x="8806967" y="5050369"/>
            <a:ext cx="2203932" cy="192360"/>
          </a:xfrm>
          <a:prstGeom prst="rect">
            <a:avLst/>
          </a:prstGeom>
        </p:spPr>
        <p:txBody>
          <a:bodyPr wrap="square" lIns="0" tIns="0" rIns="0" bIns="0" rtlCol="0" anchor="t">
            <a:spAutoFit/>
          </a:bodyPr>
          <a:lstStyle/>
          <a:p>
            <a:pPr algn="l">
              <a:lnSpc>
                <a:spcPts val="1485"/>
              </a:lnSpc>
            </a:pPr>
            <a:r>
              <a:rPr lang="en-US" sz="1400" b="1" dirty="0">
                <a:solidFill>
                  <a:srgbClr val="6B46C4"/>
                </a:solidFill>
                <a:latin typeface="Nourd Bold"/>
                <a:ea typeface="Nourd Bold"/>
                <a:cs typeface="Nourd Bold"/>
                <a:sym typeface="Nourd Bold"/>
              </a:rPr>
              <a:t>Remote Accessibility</a:t>
            </a:r>
          </a:p>
        </p:txBody>
      </p:sp>
      <p:sp>
        <p:nvSpPr>
          <p:cNvPr id="83" name="TextBox 50">
            <a:extLst>
              <a:ext uri="{FF2B5EF4-FFF2-40B4-BE49-F238E27FC236}">
                <a16:creationId xmlns:a16="http://schemas.microsoft.com/office/drawing/2014/main" id="{C0F9A627-8BDD-05D0-7D4F-37C8E73F9140}"/>
              </a:ext>
            </a:extLst>
          </p:cNvPr>
          <p:cNvSpPr txBox="1"/>
          <p:nvPr/>
        </p:nvSpPr>
        <p:spPr>
          <a:xfrm>
            <a:off x="8806967" y="5253665"/>
            <a:ext cx="3025902" cy="359073"/>
          </a:xfrm>
          <a:prstGeom prst="rect">
            <a:avLst/>
          </a:prstGeom>
        </p:spPr>
        <p:txBody>
          <a:bodyPr lIns="0" tIns="0" rIns="0" bIns="0" rtlCol="0" anchor="t">
            <a:spAutoFit/>
          </a:bodyPr>
          <a:lstStyle/>
          <a:p>
            <a:pPr algn="l">
              <a:lnSpc>
                <a:spcPts val="1385"/>
              </a:lnSpc>
            </a:pPr>
            <a:r>
              <a:rPr lang="en-US" sz="1200" b="1" dirty="0">
                <a:solidFill>
                  <a:srgbClr val="002F6D"/>
                </a:solidFill>
                <a:latin typeface="Nourd"/>
                <a:ea typeface="Nourd"/>
                <a:cs typeface="Nourd"/>
                <a:sym typeface="Nourd"/>
              </a:rPr>
              <a:t>Provide a web or mobile dashboard for real-time visualization of patient data.</a:t>
            </a:r>
          </a:p>
        </p:txBody>
      </p:sp>
      <p:sp>
        <p:nvSpPr>
          <p:cNvPr id="85" name="TextBox 51">
            <a:extLst>
              <a:ext uri="{FF2B5EF4-FFF2-40B4-BE49-F238E27FC236}">
                <a16:creationId xmlns:a16="http://schemas.microsoft.com/office/drawing/2014/main" id="{8DA5C7FC-6741-7FDE-E829-249E5821F533}"/>
              </a:ext>
            </a:extLst>
          </p:cNvPr>
          <p:cNvSpPr txBox="1"/>
          <p:nvPr/>
        </p:nvSpPr>
        <p:spPr>
          <a:xfrm>
            <a:off x="8806967" y="6027339"/>
            <a:ext cx="1975333" cy="179536"/>
          </a:xfrm>
          <a:prstGeom prst="rect">
            <a:avLst/>
          </a:prstGeom>
        </p:spPr>
        <p:txBody>
          <a:bodyPr wrap="square" lIns="0" tIns="0" rIns="0" bIns="0" rtlCol="0" anchor="t">
            <a:spAutoFit/>
          </a:bodyPr>
          <a:lstStyle/>
          <a:p>
            <a:pPr algn="l">
              <a:lnSpc>
                <a:spcPts val="1443"/>
              </a:lnSpc>
            </a:pPr>
            <a:r>
              <a:rPr lang="en-US" sz="1400" b="1" dirty="0">
                <a:solidFill>
                  <a:srgbClr val="008061"/>
                </a:solidFill>
                <a:latin typeface="Nourd Bold"/>
                <a:ea typeface="Nourd Bold"/>
                <a:cs typeface="Nourd Bold"/>
                <a:sym typeface="Nourd Bold"/>
              </a:rPr>
              <a:t>Automatic Alerts</a:t>
            </a:r>
          </a:p>
        </p:txBody>
      </p:sp>
      <p:sp>
        <p:nvSpPr>
          <p:cNvPr id="87" name="TextBox 52">
            <a:extLst>
              <a:ext uri="{FF2B5EF4-FFF2-40B4-BE49-F238E27FC236}">
                <a16:creationId xmlns:a16="http://schemas.microsoft.com/office/drawing/2014/main" id="{1C4E47D4-2A5C-504B-F53C-987766F695E0}"/>
              </a:ext>
            </a:extLst>
          </p:cNvPr>
          <p:cNvSpPr txBox="1"/>
          <p:nvPr/>
        </p:nvSpPr>
        <p:spPr>
          <a:xfrm>
            <a:off x="8806966" y="6230635"/>
            <a:ext cx="3298235" cy="359073"/>
          </a:xfrm>
          <a:prstGeom prst="rect">
            <a:avLst/>
          </a:prstGeom>
        </p:spPr>
        <p:txBody>
          <a:bodyPr wrap="square" lIns="0" tIns="0" rIns="0" bIns="0" rtlCol="0" anchor="t">
            <a:spAutoFit/>
          </a:bodyPr>
          <a:lstStyle/>
          <a:p>
            <a:pPr algn="l">
              <a:lnSpc>
                <a:spcPts val="1385"/>
              </a:lnSpc>
            </a:pPr>
            <a:r>
              <a:rPr lang="en-US" sz="1200" b="1" dirty="0">
                <a:solidFill>
                  <a:srgbClr val="002F6D"/>
                </a:solidFill>
                <a:latin typeface="Nourd"/>
                <a:ea typeface="Nourd"/>
                <a:cs typeface="Nourd"/>
                <a:sym typeface="Nourd"/>
              </a:rPr>
              <a:t>Generate instant notifications when readings cross predefined thresholds.</a:t>
            </a:r>
          </a:p>
        </p:txBody>
      </p:sp>
      <p:sp>
        <p:nvSpPr>
          <p:cNvPr id="89" name="TextBox 53">
            <a:extLst>
              <a:ext uri="{FF2B5EF4-FFF2-40B4-BE49-F238E27FC236}">
                <a16:creationId xmlns:a16="http://schemas.microsoft.com/office/drawing/2014/main" id="{E460E886-8887-5D35-19A0-C012F0F08586}"/>
              </a:ext>
            </a:extLst>
          </p:cNvPr>
          <p:cNvSpPr txBox="1"/>
          <p:nvPr/>
        </p:nvSpPr>
        <p:spPr>
          <a:xfrm>
            <a:off x="8806967" y="7022235"/>
            <a:ext cx="3185160" cy="179536"/>
          </a:xfrm>
          <a:prstGeom prst="rect">
            <a:avLst/>
          </a:prstGeom>
        </p:spPr>
        <p:txBody>
          <a:bodyPr wrap="square" lIns="0" tIns="0" rIns="0" bIns="0" rtlCol="0" anchor="t">
            <a:spAutoFit/>
          </a:bodyPr>
          <a:lstStyle/>
          <a:p>
            <a:pPr algn="l">
              <a:lnSpc>
                <a:spcPts val="1443"/>
              </a:lnSpc>
            </a:pPr>
            <a:r>
              <a:rPr lang="en-US" sz="1400" b="1" dirty="0">
                <a:solidFill>
                  <a:srgbClr val="002F6D"/>
                </a:solidFill>
                <a:latin typeface="Nourd Bold"/>
                <a:ea typeface="Nourd Bold"/>
                <a:cs typeface="Nourd Bold"/>
                <a:sym typeface="Nourd Bold"/>
              </a:rPr>
              <a:t>Affordable &amp; Scalable Solution</a:t>
            </a:r>
          </a:p>
        </p:txBody>
      </p:sp>
      <p:sp>
        <p:nvSpPr>
          <p:cNvPr id="91" name="TextBox 54">
            <a:extLst>
              <a:ext uri="{FF2B5EF4-FFF2-40B4-BE49-F238E27FC236}">
                <a16:creationId xmlns:a16="http://schemas.microsoft.com/office/drawing/2014/main" id="{E8D17B69-883C-6B5D-3475-2E41484E068A}"/>
              </a:ext>
            </a:extLst>
          </p:cNvPr>
          <p:cNvSpPr txBox="1"/>
          <p:nvPr/>
        </p:nvSpPr>
        <p:spPr>
          <a:xfrm>
            <a:off x="8806967" y="7225531"/>
            <a:ext cx="3185160" cy="538609"/>
          </a:xfrm>
          <a:prstGeom prst="rect">
            <a:avLst/>
          </a:prstGeom>
        </p:spPr>
        <p:txBody>
          <a:bodyPr lIns="0" tIns="0" rIns="0" bIns="0" rtlCol="0" anchor="t">
            <a:spAutoFit/>
          </a:bodyPr>
          <a:lstStyle/>
          <a:p>
            <a:pPr algn="l">
              <a:lnSpc>
                <a:spcPts val="1385"/>
              </a:lnSpc>
            </a:pPr>
            <a:r>
              <a:rPr lang="en-US" sz="1200" b="1" dirty="0">
                <a:solidFill>
                  <a:srgbClr val="002F6D"/>
                </a:solidFill>
                <a:latin typeface="Nourd"/>
                <a:ea typeface="Nourd"/>
                <a:cs typeface="Nourd"/>
                <a:sym typeface="Nourd"/>
              </a:rPr>
              <a:t>Design a low-cost, reliable, and scalable system that can be used in homes, clinics, and remote areas.</a:t>
            </a:r>
          </a:p>
        </p:txBody>
      </p:sp>
      <p:sp>
        <p:nvSpPr>
          <p:cNvPr id="93" name="Freeform 16">
            <a:extLst>
              <a:ext uri="{FF2B5EF4-FFF2-40B4-BE49-F238E27FC236}">
                <a16:creationId xmlns:a16="http://schemas.microsoft.com/office/drawing/2014/main" id="{D334A9F0-892E-22DA-9F4F-D3C988E2B440}"/>
              </a:ext>
            </a:extLst>
          </p:cNvPr>
          <p:cNvSpPr/>
          <p:nvPr/>
        </p:nvSpPr>
        <p:spPr>
          <a:xfrm>
            <a:off x="7848900" y="3113321"/>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6"/>
            <a:stretch>
              <a:fillRect/>
            </a:stretch>
          </a:blipFill>
        </p:spPr>
      </p:sp>
      <p:sp>
        <p:nvSpPr>
          <p:cNvPr id="95" name="TextBox 55">
            <a:extLst>
              <a:ext uri="{FF2B5EF4-FFF2-40B4-BE49-F238E27FC236}">
                <a16:creationId xmlns:a16="http://schemas.microsoft.com/office/drawing/2014/main" id="{06A01417-0C45-5AE0-976C-8BE37829C641}"/>
              </a:ext>
            </a:extLst>
          </p:cNvPr>
          <p:cNvSpPr txBox="1"/>
          <p:nvPr/>
        </p:nvSpPr>
        <p:spPr>
          <a:xfrm>
            <a:off x="7881094" y="3420028"/>
            <a:ext cx="707136" cy="302070"/>
          </a:xfrm>
          <a:prstGeom prst="rect">
            <a:avLst/>
          </a:prstGeom>
        </p:spPr>
        <p:txBody>
          <a:bodyPr wrap="square" lIns="0" tIns="0" rIns="0" bIns="0" rtlCol="0" anchor="t">
            <a:spAutoFit/>
          </a:bodyPr>
          <a:lstStyle/>
          <a:p>
            <a:pPr algn="ctr">
              <a:lnSpc>
                <a:spcPts val="2266"/>
              </a:lnSpc>
            </a:pPr>
            <a:r>
              <a:rPr lang="en-US" sz="2266" b="1" dirty="0">
                <a:solidFill>
                  <a:srgbClr val="FFFFFF"/>
                </a:solidFill>
                <a:latin typeface="Farro Bold"/>
                <a:ea typeface="Farro Bold"/>
                <a:cs typeface="Farro Bold"/>
                <a:sym typeface="Farro Bold"/>
              </a:rPr>
              <a:t>01</a:t>
            </a:r>
          </a:p>
        </p:txBody>
      </p:sp>
      <p:sp>
        <p:nvSpPr>
          <p:cNvPr id="97" name="Freeform 20">
            <a:extLst>
              <a:ext uri="{FF2B5EF4-FFF2-40B4-BE49-F238E27FC236}">
                <a16:creationId xmlns:a16="http://schemas.microsoft.com/office/drawing/2014/main" id="{EE73334B-4E51-36C6-57F3-8FA5E680BDFC}"/>
              </a:ext>
            </a:extLst>
          </p:cNvPr>
          <p:cNvSpPr/>
          <p:nvPr/>
        </p:nvSpPr>
        <p:spPr>
          <a:xfrm>
            <a:off x="7877175" y="4019550"/>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7"/>
            <a:stretch>
              <a:fillRect/>
            </a:stretch>
          </a:blipFill>
        </p:spPr>
      </p:sp>
      <p:sp>
        <p:nvSpPr>
          <p:cNvPr id="99" name="TextBox 56">
            <a:extLst>
              <a:ext uri="{FF2B5EF4-FFF2-40B4-BE49-F238E27FC236}">
                <a16:creationId xmlns:a16="http://schemas.microsoft.com/office/drawing/2014/main" id="{CEA89195-DA8A-60E4-5E8E-9214643C466F}"/>
              </a:ext>
            </a:extLst>
          </p:cNvPr>
          <p:cNvSpPr txBox="1"/>
          <p:nvPr/>
        </p:nvSpPr>
        <p:spPr>
          <a:xfrm>
            <a:off x="7894309" y="4324350"/>
            <a:ext cx="723062"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02</a:t>
            </a:r>
          </a:p>
        </p:txBody>
      </p:sp>
      <p:sp>
        <p:nvSpPr>
          <p:cNvPr id="101" name="Freeform 24">
            <a:extLst>
              <a:ext uri="{FF2B5EF4-FFF2-40B4-BE49-F238E27FC236}">
                <a16:creationId xmlns:a16="http://schemas.microsoft.com/office/drawing/2014/main" id="{50DDB772-0B9E-A82D-9112-1AE38DB4CA12}"/>
              </a:ext>
            </a:extLst>
          </p:cNvPr>
          <p:cNvSpPr/>
          <p:nvPr/>
        </p:nvSpPr>
        <p:spPr>
          <a:xfrm>
            <a:off x="7886700" y="4705350"/>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8"/>
            <a:stretch>
              <a:fillRect/>
            </a:stretch>
          </a:blipFill>
        </p:spPr>
        <p:txBody>
          <a:bodyPr/>
          <a:lstStyle/>
          <a:p>
            <a:endParaRPr lang="en-IN" b="1" dirty="0"/>
          </a:p>
        </p:txBody>
      </p:sp>
      <p:sp>
        <p:nvSpPr>
          <p:cNvPr id="103" name="TextBox 57">
            <a:extLst>
              <a:ext uri="{FF2B5EF4-FFF2-40B4-BE49-F238E27FC236}">
                <a16:creationId xmlns:a16="http://schemas.microsoft.com/office/drawing/2014/main" id="{5CB20776-738C-7681-16CC-561586A3E58D}"/>
              </a:ext>
            </a:extLst>
          </p:cNvPr>
          <p:cNvSpPr txBox="1"/>
          <p:nvPr/>
        </p:nvSpPr>
        <p:spPr>
          <a:xfrm>
            <a:off x="8002257" y="5086350"/>
            <a:ext cx="542087"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03</a:t>
            </a:r>
          </a:p>
        </p:txBody>
      </p:sp>
      <p:sp>
        <p:nvSpPr>
          <p:cNvPr id="105" name="Freeform 28">
            <a:extLst>
              <a:ext uri="{FF2B5EF4-FFF2-40B4-BE49-F238E27FC236}">
                <a16:creationId xmlns:a16="http://schemas.microsoft.com/office/drawing/2014/main" id="{6366BC17-618E-EBAB-5FFA-F3363D161C35}"/>
              </a:ext>
            </a:extLst>
          </p:cNvPr>
          <p:cNvSpPr/>
          <p:nvPr/>
        </p:nvSpPr>
        <p:spPr>
          <a:xfrm>
            <a:off x="7886700" y="5695950"/>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9"/>
            <a:stretch>
              <a:fillRect/>
            </a:stretch>
          </a:blipFill>
        </p:spPr>
      </p:sp>
      <p:sp>
        <p:nvSpPr>
          <p:cNvPr id="107" name="TextBox 58">
            <a:extLst>
              <a:ext uri="{FF2B5EF4-FFF2-40B4-BE49-F238E27FC236}">
                <a16:creationId xmlns:a16="http://schemas.microsoft.com/office/drawing/2014/main" id="{E469B4B2-8CAD-65AE-5274-F1D43BB88A77}"/>
              </a:ext>
            </a:extLst>
          </p:cNvPr>
          <p:cNvSpPr txBox="1"/>
          <p:nvPr/>
        </p:nvSpPr>
        <p:spPr>
          <a:xfrm>
            <a:off x="8014474" y="6153150"/>
            <a:ext cx="542087"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04</a:t>
            </a:r>
          </a:p>
        </p:txBody>
      </p:sp>
      <p:sp>
        <p:nvSpPr>
          <p:cNvPr id="109" name="Freeform 32">
            <a:extLst>
              <a:ext uri="{FF2B5EF4-FFF2-40B4-BE49-F238E27FC236}">
                <a16:creationId xmlns:a16="http://schemas.microsoft.com/office/drawing/2014/main" id="{295AF61B-AB6E-BFA3-494A-40A672115C89}"/>
              </a:ext>
            </a:extLst>
          </p:cNvPr>
          <p:cNvSpPr/>
          <p:nvPr/>
        </p:nvSpPr>
        <p:spPr>
          <a:xfrm>
            <a:off x="7880779" y="669735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10"/>
            <a:stretch>
              <a:fillRect/>
            </a:stretch>
          </a:blipFill>
        </p:spPr>
        <p:txBody>
          <a:bodyPr/>
          <a:lstStyle/>
          <a:p>
            <a:endParaRPr lang="en-IN" b="1" dirty="0"/>
          </a:p>
        </p:txBody>
      </p:sp>
      <p:sp>
        <p:nvSpPr>
          <p:cNvPr id="111" name="TextBox 59">
            <a:extLst>
              <a:ext uri="{FF2B5EF4-FFF2-40B4-BE49-F238E27FC236}">
                <a16:creationId xmlns:a16="http://schemas.microsoft.com/office/drawing/2014/main" id="{BD7426FD-CA15-888D-C583-1A6795864856}"/>
              </a:ext>
            </a:extLst>
          </p:cNvPr>
          <p:cNvSpPr txBox="1"/>
          <p:nvPr/>
        </p:nvSpPr>
        <p:spPr>
          <a:xfrm>
            <a:off x="7987284" y="7086600"/>
            <a:ext cx="527685" cy="303288"/>
          </a:xfrm>
          <a:prstGeom prst="rect">
            <a:avLst/>
          </a:prstGeom>
        </p:spPr>
        <p:txBody>
          <a:bodyPr wrap="square" lIns="0" tIns="0" rIns="0" bIns="0" rtlCol="0" anchor="t">
            <a:spAutoFit/>
          </a:bodyPr>
          <a:lstStyle/>
          <a:p>
            <a:pPr algn="ctr">
              <a:lnSpc>
                <a:spcPts val="2301"/>
              </a:lnSpc>
            </a:pPr>
            <a:r>
              <a:rPr lang="en-US" sz="2301" b="1" dirty="0">
                <a:solidFill>
                  <a:srgbClr val="FFFFFF"/>
                </a:solidFill>
                <a:latin typeface="Farro Bold"/>
                <a:ea typeface="Farro Bold"/>
                <a:cs typeface="Farro Bold"/>
                <a:sym typeface="Farro Bold"/>
              </a:rPr>
              <a:t>05</a:t>
            </a:r>
          </a:p>
        </p:txBody>
      </p:sp>
      <p:sp>
        <p:nvSpPr>
          <p:cNvPr id="113" name="Freeform 37">
            <a:extLst>
              <a:ext uri="{FF2B5EF4-FFF2-40B4-BE49-F238E27FC236}">
                <a16:creationId xmlns:a16="http://schemas.microsoft.com/office/drawing/2014/main" id="{BAD5DCAF-C64C-7E52-BD8E-89C78A8650EA}"/>
              </a:ext>
            </a:extLst>
          </p:cNvPr>
          <p:cNvSpPr/>
          <p:nvPr/>
        </p:nvSpPr>
        <p:spPr>
          <a:xfrm>
            <a:off x="7327322" y="1373363"/>
            <a:ext cx="762000" cy="571500"/>
          </a:xfrm>
          <a:custGeom>
            <a:avLst/>
            <a:gdLst/>
            <a:ahLst/>
            <a:cxnLst/>
            <a:rect l="l" t="t" r="r" b="b"/>
            <a:pathLst>
              <a:path w="762000" h="571500">
                <a:moveTo>
                  <a:pt x="0" y="0"/>
                </a:moveTo>
                <a:lnTo>
                  <a:pt x="762000" y="0"/>
                </a:lnTo>
                <a:lnTo>
                  <a:pt x="762000" y="571500"/>
                </a:lnTo>
                <a:lnTo>
                  <a:pt x="0" y="571500"/>
                </a:lnTo>
                <a:lnTo>
                  <a:pt x="0" y="0"/>
                </a:lnTo>
                <a:close/>
              </a:path>
            </a:pathLst>
          </a:custGeom>
          <a:blipFill>
            <a:blip r:embed="rId11"/>
            <a:stretch>
              <a:fillRect/>
            </a:stretch>
          </a:blipFill>
        </p:spPr>
      </p:sp>
      <p:sp>
        <p:nvSpPr>
          <p:cNvPr id="115" name="TextBox 38">
            <a:extLst>
              <a:ext uri="{FF2B5EF4-FFF2-40B4-BE49-F238E27FC236}">
                <a16:creationId xmlns:a16="http://schemas.microsoft.com/office/drawing/2014/main" id="{6F7CA0A1-3857-8553-1DCF-5E7DE8C964D2}"/>
              </a:ext>
            </a:extLst>
          </p:cNvPr>
          <p:cNvSpPr txBox="1"/>
          <p:nvPr/>
        </p:nvSpPr>
        <p:spPr>
          <a:xfrm>
            <a:off x="8497519" y="1879854"/>
            <a:ext cx="1497025" cy="564257"/>
          </a:xfrm>
          <a:prstGeom prst="rect">
            <a:avLst/>
          </a:prstGeom>
        </p:spPr>
        <p:txBody>
          <a:bodyPr lIns="0" tIns="0" rIns="0" bIns="0" rtlCol="0" anchor="t">
            <a:spAutoFit/>
          </a:bodyPr>
          <a:lstStyle/>
          <a:p>
            <a:pPr algn="l">
              <a:lnSpc>
                <a:spcPts val="2195"/>
              </a:lnSpc>
            </a:pPr>
            <a:r>
              <a:rPr lang="en-US" sz="2195" b="1" dirty="0">
                <a:solidFill>
                  <a:srgbClr val="FFFFFF"/>
                </a:solidFill>
                <a:latin typeface="Farro Bold"/>
                <a:ea typeface="Farro Bold"/>
                <a:cs typeface="Farro Bold"/>
                <a:sym typeface="Farro Bold"/>
              </a:rPr>
              <a:t>OBJECTIVES</a:t>
            </a:r>
          </a:p>
        </p:txBody>
      </p:sp>
      <p:sp>
        <p:nvSpPr>
          <p:cNvPr id="117" name="Freeform 36">
            <a:extLst>
              <a:ext uri="{FF2B5EF4-FFF2-40B4-BE49-F238E27FC236}">
                <a16:creationId xmlns:a16="http://schemas.microsoft.com/office/drawing/2014/main" id="{BD786E24-DA66-3017-604C-87C7D3D3CB70}"/>
              </a:ext>
            </a:extLst>
          </p:cNvPr>
          <p:cNvSpPr/>
          <p:nvPr/>
        </p:nvSpPr>
        <p:spPr>
          <a:xfrm>
            <a:off x="7171252" y="1174344"/>
            <a:ext cx="4933950" cy="942975"/>
          </a:xfrm>
          <a:custGeom>
            <a:avLst/>
            <a:gdLst/>
            <a:ahLst/>
            <a:cxnLst/>
            <a:rect l="l" t="t" r="r" b="b"/>
            <a:pathLst>
              <a:path w="4933950" h="942975">
                <a:moveTo>
                  <a:pt x="0" y="0"/>
                </a:moveTo>
                <a:lnTo>
                  <a:pt x="4933950" y="0"/>
                </a:lnTo>
                <a:lnTo>
                  <a:pt x="4933950" y="942975"/>
                </a:lnTo>
                <a:lnTo>
                  <a:pt x="0" y="942975"/>
                </a:lnTo>
                <a:lnTo>
                  <a:pt x="0" y="0"/>
                </a:lnTo>
                <a:close/>
              </a:path>
            </a:pathLst>
          </a:custGeom>
          <a:blipFill>
            <a:blip r:embed="rId12"/>
            <a:stretch>
              <a:fillRect/>
            </a:stretch>
          </a:blipFill>
        </p:spPr>
      </p:sp>
      <p:sp>
        <p:nvSpPr>
          <p:cNvPr id="119" name="TextBox 60">
            <a:extLst>
              <a:ext uri="{FF2B5EF4-FFF2-40B4-BE49-F238E27FC236}">
                <a16:creationId xmlns:a16="http://schemas.microsoft.com/office/drawing/2014/main" id="{5EC9AA0F-3B94-DB69-8226-6D6EC9442A69}"/>
              </a:ext>
            </a:extLst>
          </p:cNvPr>
          <p:cNvSpPr txBox="1"/>
          <p:nvPr/>
        </p:nvSpPr>
        <p:spPr>
          <a:xfrm>
            <a:off x="13199514" y="2567936"/>
            <a:ext cx="2564929" cy="1154162"/>
          </a:xfrm>
          <a:prstGeom prst="rect">
            <a:avLst/>
          </a:prstGeom>
        </p:spPr>
        <p:txBody>
          <a:bodyPr wrap="square" lIns="0" tIns="0" rIns="0" bIns="0" rtlCol="0" anchor="t">
            <a:spAutoFit/>
          </a:bodyPr>
          <a:lstStyle/>
          <a:p>
            <a:pPr algn="ctr">
              <a:lnSpc>
                <a:spcPts val="1832"/>
              </a:lnSpc>
            </a:pPr>
            <a:r>
              <a:rPr lang="en-US" b="1" dirty="0">
                <a:solidFill>
                  <a:srgbClr val="002F6D"/>
                </a:solidFill>
                <a:latin typeface="Nourd"/>
                <a:ea typeface="Nourd"/>
                <a:cs typeface="Nourd"/>
                <a:sym typeface="Nourd"/>
              </a:rPr>
              <a:t>To enable continuous, accessible, and reliable</a:t>
            </a:r>
          </a:p>
          <a:p>
            <a:pPr algn="ctr">
              <a:lnSpc>
                <a:spcPts val="1832"/>
              </a:lnSpc>
            </a:pPr>
            <a:r>
              <a:rPr lang="en-US" b="1" dirty="0">
                <a:solidFill>
                  <a:srgbClr val="002F6D"/>
                </a:solidFill>
                <a:latin typeface="Nourd"/>
                <a:ea typeface="Nourd"/>
                <a:cs typeface="Nourd"/>
                <a:sym typeface="Nourd"/>
              </a:rPr>
              <a:t>patient health monitoring for a safer and healthier society.</a:t>
            </a:r>
          </a:p>
        </p:txBody>
      </p:sp>
      <p:sp>
        <p:nvSpPr>
          <p:cNvPr id="121" name="TextBox 61">
            <a:extLst>
              <a:ext uri="{FF2B5EF4-FFF2-40B4-BE49-F238E27FC236}">
                <a16:creationId xmlns:a16="http://schemas.microsoft.com/office/drawing/2014/main" id="{7A481899-E01B-3F4C-69C1-C4693808B305}"/>
              </a:ext>
            </a:extLst>
          </p:cNvPr>
          <p:cNvSpPr txBox="1"/>
          <p:nvPr/>
        </p:nvSpPr>
        <p:spPr>
          <a:xfrm>
            <a:off x="13209673" y="3951013"/>
            <a:ext cx="2261464" cy="746615"/>
          </a:xfrm>
          <a:prstGeom prst="rect">
            <a:avLst/>
          </a:prstGeom>
        </p:spPr>
        <p:txBody>
          <a:bodyPr lIns="0" tIns="0" rIns="0" bIns="0" rtlCol="0" anchor="t">
            <a:spAutoFit/>
          </a:bodyPr>
          <a:lstStyle/>
          <a:p>
            <a:pPr algn="ctr">
              <a:lnSpc>
                <a:spcPts val="1981"/>
              </a:lnSpc>
            </a:pPr>
            <a:r>
              <a:rPr lang="en-US" sz="1415" b="1" spc="353" dirty="0">
                <a:solidFill>
                  <a:srgbClr val="002F6D"/>
                </a:solidFill>
                <a:latin typeface="Nourd"/>
                <a:ea typeface="Nourd"/>
                <a:cs typeface="Nourd"/>
                <a:sym typeface="Nourd"/>
              </a:rPr>
              <a:t>BETTER INSIGHTS.</a:t>
            </a:r>
          </a:p>
          <a:p>
            <a:pPr algn="ctr">
              <a:lnSpc>
                <a:spcPts val="1981"/>
              </a:lnSpc>
            </a:pPr>
            <a:r>
              <a:rPr lang="en-US" sz="1415" b="1" spc="353" dirty="0">
                <a:solidFill>
                  <a:srgbClr val="002F6D"/>
                </a:solidFill>
                <a:latin typeface="Nourd"/>
                <a:ea typeface="Nourd"/>
                <a:cs typeface="Nourd"/>
                <a:sym typeface="Nourd"/>
              </a:rPr>
              <a:t>BRIGHTER LIVES.</a:t>
            </a:r>
          </a:p>
        </p:txBody>
      </p:sp>
      <p:sp>
        <p:nvSpPr>
          <p:cNvPr id="123" name="TextBox 62">
            <a:extLst>
              <a:ext uri="{FF2B5EF4-FFF2-40B4-BE49-F238E27FC236}">
                <a16:creationId xmlns:a16="http://schemas.microsoft.com/office/drawing/2014/main" id="{59DA3E4B-3814-BA45-6EBD-92F18D7ABADD}"/>
              </a:ext>
            </a:extLst>
          </p:cNvPr>
          <p:cNvSpPr txBox="1"/>
          <p:nvPr/>
        </p:nvSpPr>
        <p:spPr>
          <a:xfrm>
            <a:off x="13686640" y="1686501"/>
            <a:ext cx="1590675" cy="269304"/>
          </a:xfrm>
          <a:prstGeom prst="rect">
            <a:avLst/>
          </a:prstGeom>
        </p:spPr>
        <p:txBody>
          <a:bodyPr wrap="square" lIns="0" tIns="0" rIns="0" bIns="0" rtlCol="0" anchor="t">
            <a:spAutoFit/>
          </a:bodyPr>
          <a:lstStyle/>
          <a:p>
            <a:pPr algn="ctr">
              <a:lnSpc>
                <a:spcPts val="2053"/>
              </a:lnSpc>
            </a:pPr>
            <a:r>
              <a:rPr lang="en-US" sz="2053" b="1" dirty="0">
                <a:latin typeface="Farro Bold"/>
                <a:ea typeface="Farro Bold"/>
                <a:cs typeface="Farro Bold"/>
                <a:sym typeface="Farro Bold"/>
              </a:rPr>
              <a:t>OUR GOAL</a:t>
            </a:r>
          </a:p>
        </p:txBody>
      </p:sp>
      <p:sp>
        <p:nvSpPr>
          <p:cNvPr id="125" name="TextBox 38">
            <a:extLst>
              <a:ext uri="{FF2B5EF4-FFF2-40B4-BE49-F238E27FC236}">
                <a16:creationId xmlns:a16="http://schemas.microsoft.com/office/drawing/2014/main" id="{0429B4E4-156B-7FAB-08D1-6B1174B86924}"/>
              </a:ext>
            </a:extLst>
          </p:cNvPr>
          <p:cNvSpPr txBox="1"/>
          <p:nvPr/>
        </p:nvSpPr>
        <p:spPr>
          <a:xfrm>
            <a:off x="9102774" y="1629389"/>
            <a:ext cx="1990334" cy="282129"/>
          </a:xfrm>
          <a:prstGeom prst="rect">
            <a:avLst/>
          </a:prstGeom>
        </p:spPr>
        <p:txBody>
          <a:bodyPr wrap="square" lIns="0" tIns="0" rIns="0" bIns="0" rtlCol="0" anchor="t">
            <a:spAutoFit/>
          </a:bodyPr>
          <a:lstStyle/>
          <a:p>
            <a:pPr algn="l">
              <a:lnSpc>
                <a:spcPts val="2195"/>
              </a:lnSpc>
            </a:pPr>
            <a:r>
              <a:rPr lang="en-US" sz="2195" b="1" dirty="0">
                <a:solidFill>
                  <a:srgbClr val="FFFFFF"/>
                </a:solidFill>
                <a:latin typeface="Farro Bold"/>
                <a:ea typeface="Farro Bold"/>
                <a:cs typeface="Farro Bold"/>
                <a:sym typeface="Farro Bold"/>
              </a:rPr>
              <a:t>OBJECTIVES</a:t>
            </a:r>
          </a:p>
        </p:txBody>
      </p:sp>
      <p:sp>
        <p:nvSpPr>
          <p:cNvPr id="15" name="Freeform 12">
            <a:extLst>
              <a:ext uri="{FF2B5EF4-FFF2-40B4-BE49-F238E27FC236}">
                <a16:creationId xmlns:a16="http://schemas.microsoft.com/office/drawing/2014/main" id="{CA7F1D56-04F0-9994-19CC-5DB97FA6E5AA}"/>
              </a:ext>
            </a:extLst>
          </p:cNvPr>
          <p:cNvSpPr/>
          <p:nvPr/>
        </p:nvSpPr>
        <p:spPr>
          <a:xfrm>
            <a:off x="752475" y="1485900"/>
            <a:ext cx="771525" cy="571500"/>
          </a:xfrm>
          <a:custGeom>
            <a:avLst/>
            <a:gdLst/>
            <a:ahLst/>
            <a:cxnLst/>
            <a:rect l="l" t="t" r="r" b="b"/>
            <a:pathLst>
              <a:path w="771525" h="571500">
                <a:moveTo>
                  <a:pt x="0" y="0"/>
                </a:moveTo>
                <a:lnTo>
                  <a:pt x="771525" y="0"/>
                </a:lnTo>
                <a:lnTo>
                  <a:pt x="771525" y="571500"/>
                </a:lnTo>
                <a:lnTo>
                  <a:pt x="0" y="571500"/>
                </a:lnTo>
                <a:lnTo>
                  <a:pt x="0" y="0"/>
                </a:lnTo>
                <a:close/>
              </a:path>
            </a:pathLst>
          </a:custGeom>
          <a:blipFill>
            <a:blip r:embed="rId13"/>
            <a:stretch>
              <a:fillRect/>
            </a:stretch>
          </a:blipFill>
        </p:spPr>
        <p:txBody>
          <a:bodyPr/>
          <a:lstStyle/>
          <a:p>
            <a:endParaRPr lang="en-IN" b="1" dirty="0"/>
          </a:p>
        </p:txBody>
      </p:sp>
    </p:spTree>
    <p:extLst>
      <p:ext uri="{BB962C8B-B14F-4D97-AF65-F5344CB8AC3E}">
        <p14:creationId xmlns:p14="http://schemas.microsoft.com/office/powerpoint/2010/main" val="3338593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5925800" cy="8963025"/>
          </a:xfrm>
          <a:custGeom>
            <a:avLst/>
            <a:gdLst/>
            <a:ahLst/>
            <a:cxnLst/>
            <a:rect l="l" t="t" r="r" b="b"/>
            <a:pathLst>
              <a:path w="15925800" h="8963025">
                <a:moveTo>
                  <a:pt x="0" y="0"/>
                </a:moveTo>
                <a:lnTo>
                  <a:pt x="15925800" y="0"/>
                </a:lnTo>
                <a:lnTo>
                  <a:pt x="15925800" y="8963025"/>
                </a:lnTo>
                <a:lnTo>
                  <a:pt x="0" y="8963025"/>
                </a:lnTo>
                <a:lnTo>
                  <a:pt x="0" y="0"/>
                </a:lnTo>
                <a:close/>
              </a:path>
            </a:pathLst>
          </a:custGeom>
          <a:blipFill>
            <a:blip r:embed="rId2"/>
            <a:stretch>
              <a:fillRect/>
            </a:stretch>
          </a:blipFill>
        </p:spPr>
      </p:sp>
      <p:sp>
        <p:nvSpPr>
          <p:cNvPr id="3" name="Freeform 3"/>
          <p:cNvSpPr/>
          <p:nvPr/>
        </p:nvSpPr>
        <p:spPr>
          <a:xfrm>
            <a:off x="-1" y="2627"/>
            <a:ext cx="2276475" cy="1876425"/>
          </a:xfrm>
          <a:custGeom>
            <a:avLst/>
            <a:gdLst/>
            <a:ahLst/>
            <a:cxnLst/>
            <a:rect l="l" t="t" r="r" b="b"/>
            <a:pathLst>
              <a:path w="2276475" h="1876425">
                <a:moveTo>
                  <a:pt x="0" y="0"/>
                </a:moveTo>
                <a:lnTo>
                  <a:pt x="2276475" y="0"/>
                </a:lnTo>
                <a:lnTo>
                  <a:pt x="2276475" y="1876425"/>
                </a:lnTo>
                <a:lnTo>
                  <a:pt x="0" y="1876425"/>
                </a:lnTo>
                <a:lnTo>
                  <a:pt x="0" y="0"/>
                </a:lnTo>
                <a:close/>
              </a:path>
            </a:pathLst>
          </a:custGeom>
          <a:blipFill>
            <a:blip r:embed="rId3"/>
            <a:stretch>
              <a:fillRect/>
            </a:stretch>
          </a:blipFill>
        </p:spPr>
        <p:txBody>
          <a:bodyPr/>
          <a:lstStyle/>
          <a:p>
            <a:endParaRPr lang="en-IN" sz="2000" dirty="0">
              <a:latin typeface="Aptos Narrow" panose="020B0004020202020204" pitchFamily="34" charset="0"/>
            </a:endParaRPr>
          </a:p>
        </p:txBody>
      </p:sp>
      <p:sp>
        <p:nvSpPr>
          <p:cNvPr id="4" name="Freeform 4"/>
          <p:cNvSpPr/>
          <p:nvPr/>
        </p:nvSpPr>
        <p:spPr>
          <a:xfrm>
            <a:off x="-8041" y="7096125"/>
            <a:ext cx="2085975" cy="1876425"/>
          </a:xfrm>
          <a:custGeom>
            <a:avLst/>
            <a:gdLst/>
            <a:ahLst/>
            <a:cxnLst/>
            <a:rect l="l" t="t" r="r" b="b"/>
            <a:pathLst>
              <a:path w="2085975" h="1876425">
                <a:moveTo>
                  <a:pt x="0" y="0"/>
                </a:moveTo>
                <a:lnTo>
                  <a:pt x="2085975" y="0"/>
                </a:lnTo>
                <a:lnTo>
                  <a:pt x="2085975" y="1876425"/>
                </a:lnTo>
                <a:lnTo>
                  <a:pt x="0" y="1876425"/>
                </a:lnTo>
                <a:lnTo>
                  <a:pt x="0" y="0"/>
                </a:lnTo>
                <a:close/>
              </a:path>
            </a:pathLst>
          </a:custGeom>
          <a:blipFill>
            <a:blip r:embed="rId4"/>
            <a:stretch>
              <a:fillRect/>
            </a:stretch>
          </a:blipFill>
        </p:spPr>
      </p:sp>
      <p:sp>
        <p:nvSpPr>
          <p:cNvPr id="5" name="Freeform 5"/>
          <p:cNvSpPr/>
          <p:nvPr/>
        </p:nvSpPr>
        <p:spPr>
          <a:xfrm>
            <a:off x="13066143" y="19545"/>
            <a:ext cx="2847975" cy="1314450"/>
          </a:xfrm>
          <a:custGeom>
            <a:avLst/>
            <a:gdLst/>
            <a:ahLst/>
            <a:cxnLst/>
            <a:rect l="l" t="t" r="r" b="b"/>
            <a:pathLst>
              <a:path w="2847975" h="1314450">
                <a:moveTo>
                  <a:pt x="0" y="0"/>
                </a:moveTo>
                <a:lnTo>
                  <a:pt x="2847975" y="0"/>
                </a:lnTo>
                <a:lnTo>
                  <a:pt x="2847975" y="1314450"/>
                </a:lnTo>
                <a:lnTo>
                  <a:pt x="0" y="1314450"/>
                </a:lnTo>
                <a:lnTo>
                  <a:pt x="0" y="0"/>
                </a:lnTo>
                <a:close/>
              </a:path>
            </a:pathLst>
          </a:custGeom>
          <a:blipFill>
            <a:blip r:embed="rId5"/>
            <a:stretch>
              <a:fillRect/>
            </a:stretch>
          </a:blipFill>
        </p:spPr>
        <p:txBody>
          <a:bodyPr/>
          <a:lstStyle/>
          <a:p>
            <a:endParaRPr lang="en-IN" dirty="0"/>
          </a:p>
        </p:txBody>
      </p:sp>
      <p:sp>
        <p:nvSpPr>
          <p:cNvPr id="6" name="Freeform 6"/>
          <p:cNvSpPr/>
          <p:nvPr/>
        </p:nvSpPr>
        <p:spPr>
          <a:xfrm>
            <a:off x="0" y="933450"/>
            <a:ext cx="3981450" cy="752475"/>
          </a:xfrm>
          <a:custGeom>
            <a:avLst/>
            <a:gdLst/>
            <a:ahLst/>
            <a:cxnLst/>
            <a:rect l="l" t="t" r="r" b="b"/>
            <a:pathLst>
              <a:path w="3981450" h="752475">
                <a:moveTo>
                  <a:pt x="0" y="0"/>
                </a:moveTo>
                <a:lnTo>
                  <a:pt x="3981450" y="0"/>
                </a:lnTo>
                <a:lnTo>
                  <a:pt x="3981450" y="752475"/>
                </a:lnTo>
                <a:lnTo>
                  <a:pt x="0" y="752475"/>
                </a:lnTo>
                <a:lnTo>
                  <a:pt x="0" y="0"/>
                </a:lnTo>
                <a:close/>
              </a:path>
            </a:pathLst>
          </a:custGeom>
          <a:blipFill>
            <a:blip r:embed="rId6"/>
            <a:stretch>
              <a:fillRect/>
            </a:stretch>
          </a:blipFill>
        </p:spPr>
      </p:sp>
      <p:sp>
        <p:nvSpPr>
          <p:cNvPr id="7" name="TextBox 7"/>
          <p:cNvSpPr txBox="1"/>
          <p:nvPr/>
        </p:nvSpPr>
        <p:spPr>
          <a:xfrm>
            <a:off x="7644384" y="338476"/>
            <a:ext cx="4585716" cy="840358"/>
          </a:xfrm>
          <a:prstGeom prst="rect">
            <a:avLst/>
          </a:prstGeom>
        </p:spPr>
        <p:txBody>
          <a:bodyPr wrap="square" lIns="0" tIns="0" rIns="0" bIns="0" rtlCol="0" anchor="t">
            <a:spAutoFit/>
          </a:bodyPr>
          <a:lstStyle/>
          <a:p>
            <a:pPr algn="l">
              <a:lnSpc>
                <a:spcPts val="6271"/>
              </a:lnSpc>
            </a:pPr>
            <a:r>
              <a:rPr lang="en-US" sz="6600" b="1" dirty="0">
                <a:solidFill>
                  <a:srgbClr val="00968D"/>
                </a:solidFill>
                <a:latin typeface="Aptos Narrow" panose="020B0004020202020204" pitchFamily="34" charset="0"/>
                <a:ea typeface="Roboto Condensed Bold"/>
                <a:cs typeface="Roboto Condensed Bold"/>
                <a:sym typeface="Roboto Condensed Bold"/>
              </a:rPr>
              <a:t>OVERVIEW</a:t>
            </a:r>
          </a:p>
        </p:txBody>
      </p:sp>
      <p:sp>
        <p:nvSpPr>
          <p:cNvPr id="8" name="Freeform 8"/>
          <p:cNvSpPr/>
          <p:nvPr/>
        </p:nvSpPr>
        <p:spPr>
          <a:xfrm>
            <a:off x="7391400" y="1114425"/>
            <a:ext cx="1143000" cy="200025"/>
          </a:xfrm>
          <a:custGeom>
            <a:avLst/>
            <a:gdLst/>
            <a:ahLst/>
            <a:cxnLst/>
            <a:rect l="l" t="t" r="r" b="b"/>
            <a:pathLst>
              <a:path w="1143000" h="200025">
                <a:moveTo>
                  <a:pt x="0" y="0"/>
                </a:moveTo>
                <a:lnTo>
                  <a:pt x="1143000" y="0"/>
                </a:lnTo>
                <a:lnTo>
                  <a:pt x="1143000" y="200025"/>
                </a:lnTo>
                <a:lnTo>
                  <a:pt x="0" y="200025"/>
                </a:lnTo>
                <a:lnTo>
                  <a:pt x="0" y="0"/>
                </a:lnTo>
                <a:close/>
              </a:path>
            </a:pathLst>
          </a:custGeom>
          <a:blipFill>
            <a:blip r:embed="rId7"/>
            <a:stretch>
              <a:fillRect/>
            </a:stretch>
          </a:blipFill>
        </p:spPr>
      </p:sp>
      <p:sp>
        <p:nvSpPr>
          <p:cNvPr id="9" name="TextBox 9"/>
          <p:cNvSpPr txBox="1"/>
          <p:nvPr/>
        </p:nvSpPr>
        <p:spPr>
          <a:xfrm>
            <a:off x="4905146" y="1450221"/>
            <a:ext cx="5988101" cy="580095"/>
          </a:xfrm>
          <a:prstGeom prst="rect">
            <a:avLst/>
          </a:prstGeom>
        </p:spPr>
        <p:txBody>
          <a:bodyPr lIns="0" tIns="0" rIns="0" bIns="0" rtlCol="0" anchor="t">
            <a:spAutoFit/>
          </a:bodyPr>
          <a:lstStyle/>
          <a:p>
            <a:pPr algn="ctr">
              <a:lnSpc>
                <a:spcPts val="2279"/>
              </a:lnSpc>
            </a:pPr>
            <a:r>
              <a:rPr lang="en-US" dirty="0">
                <a:solidFill>
                  <a:srgbClr val="001F3D"/>
                </a:solidFill>
                <a:latin typeface="Aptos Narrow" panose="020B0004020202020204" pitchFamily="34" charset="0"/>
                <a:ea typeface="Nourd"/>
                <a:cs typeface="Nourd"/>
                <a:sym typeface="Nourd"/>
              </a:rPr>
              <a:t>An end-to-end IoT based health monitoring system</a:t>
            </a:r>
          </a:p>
          <a:p>
            <a:pPr algn="ctr">
              <a:lnSpc>
                <a:spcPts val="2279"/>
              </a:lnSpc>
            </a:pPr>
            <a:r>
              <a:rPr lang="en-US" dirty="0">
                <a:solidFill>
                  <a:srgbClr val="001F3D"/>
                </a:solidFill>
                <a:latin typeface="Aptos Narrow" panose="020B0004020202020204" pitchFamily="34" charset="0"/>
                <a:ea typeface="Nourd"/>
                <a:cs typeface="Nourd"/>
                <a:sym typeface="Nourd"/>
              </a:rPr>
              <a:t>that collects, transmits and analyzes health data in real-time.</a:t>
            </a:r>
          </a:p>
        </p:txBody>
      </p:sp>
      <p:sp>
        <p:nvSpPr>
          <p:cNvPr id="10" name="TextBox 10"/>
          <p:cNvSpPr txBox="1"/>
          <p:nvPr/>
        </p:nvSpPr>
        <p:spPr>
          <a:xfrm>
            <a:off x="891845" y="2290016"/>
            <a:ext cx="1879244" cy="230448"/>
          </a:xfrm>
          <a:prstGeom prst="rect">
            <a:avLst/>
          </a:prstGeom>
        </p:spPr>
        <p:txBody>
          <a:bodyPr lIns="0" tIns="0" rIns="0" bIns="0" rtlCol="0" anchor="t">
            <a:spAutoFit/>
          </a:bodyPr>
          <a:lstStyle/>
          <a:p>
            <a:pPr algn="l">
              <a:lnSpc>
                <a:spcPts val="1882"/>
              </a:lnSpc>
            </a:pPr>
            <a:r>
              <a:rPr lang="en-US" sz="1400" b="1">
                <a:solidFill>
                  <a:srgbClr val="001F3D"/>
                </a:solidFill>
                <a:latin typeface="Aptos Narrow" panose="020B0004020202020204" pitchFamily="34" charset="0"/>
                <a:ea typeface="Nourd Bold"/>
                <a:cs typeface="Nourd Bold"/>
                <a:sym typeface="Nourd Bold"/>
              </a:rPr>
              <a:t>1. DATA COLLECTION</a:t>
            </a:r>
          </a:p>
        </p:txBody>
      </p:sp>
      <p:sp>
        <p:nvSpPr>
          <p:cNvPr id="11" name="TextBox 11"/>
          <p:cNvSpPr txBox="1"/>
          <p:nvPr/>
        </p:nvSpPr>
        <p:spPr>
          <a:xfrm>
            <a:off x="1035177" y="2631527"/>
            <a:ext cx="1624432" cy="410369"/>
          </a:xfrm>
          <a:prstGeom prst="rect">
            <a:avLst/>
          </a:prstGeom>
        </p:spPr>
        <p:txBody>
          <a:bodyPr lIns="0" tIns="0" rIns="0" bIns="0" rtlCol="0" anchor="t">
            <a:spAutoFit/>
          </a:bodyPr>
          <a:lstStyle/>
          <a:p>
            <a:pPr algn="l">
              <a:lnSpc>
                <a:spcPts val="1563"/>
              </a:lnSpc>
            </a:pPr>
            <a:r>
              <a:rPr lang="en-US" sz="1400" b="1">
                <a:solidFill>
                  <a:srgbClr val="001F3D"/>
                </a:solidFill>
                <a:latin typeface="Aptos Narrow" panose="020B0004020202020204" pitchFamily="34" charset="0"/>
                <a:ea typeface="Nourd Semi-Bold"/>
                <a:cs typeface="Nourd Semi-Bold"/>
                <a:sym typeface="Nourd Semi-Bold"/>
              </a:rPr>
              <a:t>Body sensors collect</a:t>
            </a:r>
          </a:p>
          <a:p>
            <a:pPr algn="l">
              <a:lnSpc>
                <a:spcPts val="1563"/>
              </a:lnSpc>
            </a:pPr>
            <a:r>
              <a:rPr lang="en-US" sz="1400" b="1">
                <a:solidFill>
                  <a:srgbClr val="001F3D"/>
                </a:solidFill>
                <a:latin typeface="Aptos Narrow" panose="020B0004020202020204" pitchFamily="34" charset="0"/>
                <a:ea typeface="Nourd Semi-Bold"/>
                <a:cs typeface="Nourd Semi-Bold"/>
                <a:sym typeface="Nourd Semi-Bold"/>
              </a:rPr>
              <a:t>real-time health data.</a:t>
            </a:r>
          </a:p>
        </p:txBody>
      </p:sp>
      <p:sp>
        <p:nvSpPr>
          <p:cNvPr id="12" name="Freeform 12"/>
          <p:cNvSpPr/>
          <p:nvPr/>
        </p:nvSpPr>
        <p:spPr>
          <a:xfrm>
            <a:off x="371475" y="3171825"/>
            <a:ext cx="3048000" cy="3371850"/>
          </a:xfrm>
          <a:custGeom>
            <a:avLst/>
            <a:gdLst/>
            <a:ahLst/>
            <a:cxnLst/>
            <a:rect l="l" t="t" r="r" b="b"/>
            <a:pathLst>
              <a:path w="3048000" h="3371850">
                <a:moveTo>
                  <a:pt x="0" y="0"/>
                </a:moveTo>
                <a:lnTo>
                  <a:pt x="3048000" y="0"/>
                </a:lnTo>
                <a:lnTo>
                  <a:pt x="3048000" y="3371850"/>
                </a:lnTo>
                <a:lnTo>
                  <a:pt x="0" y="3371850"/>
                </a:lnTo>
                <a:lnTo>
                  <a:pt x="0" y="0"/>
                </a:lnTo>
                <a:close/>
              </a:path>
            </a:pathLst>
          </a:custGeom>
          <a:blipFill>
            <a:blip r:embed="rId8"/>
            <a:stretch>
              <a:fillRect/>
            </a:stretch>
          </a:blipFill>
        </p:spPr>
      </p:sp>
      <p:sp>
        <p:nvSpPr>
          <p:cNvPr id="13" name="Freeform 13"/>
          <p:cNvSpPr/>
          <p:nvPr/>
        </p:nvSpPr>
        <p:spPr>
          <a:xfrm>
            <a:off x="561975" y="3352800"/>
            <a:ext cx="1152525" cy="2438400"/>
          </a:xfrm>
          <a:custGeom>
            <a:avLst/>
            <a:gdLst/>
            <a:ahLst/>
            <a:cxnLst/>
            <a:rect l="l" t="t" r="r" b="b"/>
            <a:pathLst>
              <a:path w="1152525" h="2438400">
                <a:moveTo>
                  <a:pt x="0" y="0"/>
                </a:moveTo>
                <a:lnTo>
                  <a:pt x="1152525" y="0"/>
                </a:lnTo>
                <a:lnTo>
                  <a:pt x="1152525" y="2438400"/>
                </a:lnTo>
                <a:lnTo>
                  <a:pt x="0" y="2438400"/>
                </a:lnTo>
                <a:lnTo>
                  <a:pt x="0" y="0"/>
                </a:lnTo>
                <a:close/>
              </a:path>
            </a:pathLst>
          </a:custGeom>
          <a:blipFill>
            <a:blip r:embed="rId9"/>
            <a:stretch>
              <a:fillRect/>
            </a:stretch>
          </a:blipFill>
        </p:spPr>
      </p:sp>
      <p:sp>
        <p:nvSpPr>
          <p:cNvPr id="14" name="Freeform 14"/>
          <p:cNvSpPr/>
          <p:nvPr/>
        </p:nvSpPr>
        <p:spPr>
          <a:xfrm>
            <a:off x="1895475" y="3352800"/>
            <a:ext cx="571500" cy="762000"/>
          </a:xfrm>
          <a:custGeom>
            <a:avLst/>
            <a:gdLst/>
            <a:ahLst/>
            <a:cxnLst/>
            <a:rect l="l" t="t" r="r" b="b"/>
            <a:pathLst>
              <a:path w="571500" h="762000">
                <a:moveTo>
                  <a:pt x="0" y="0"/>
                </a:moveTo>
                <a:lnTo>
                  <a:pt x="571500" y="0"/>
                </a:lnTo>
                <a:lnTo>
                  <a:pt x="571500" y="762000"/>
                </a:lnTo>
                <a:lnTo>
                  <a:pt x="0" y="762000"/>
                </a:lnTo>
                <a:lnTo>
                  <a:pt x="0" y="0"/>
                </a:lnTo>
                <a:close/>
              </a:path>
            </a:pathLst>
          </a:custGeom>
          <a:blipFill>
            <a:blip r:embed="rId10"/>
            <a:stretch>
              <a:fillRect/>
            </a:stretch>
          </a:blipFill>
        </p:spPr>
      </p:sp>
      <p:sp>
        <p:nvSpPr>
          <p:cNvPr id="15" name="Freeform 15"/>
          <p:cNvSpPr/>
          <p:nvPr/>
        </p:nvSpPr>
        <p:spPr>
          <a:xfrm>
            <a:off x="1895475" y="410527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11"/>
            <a:stretch>
              <a:fillRect/>
            </a:stretch>
          </a:blipFill>
        </p:spPr>
      </p:sp>
      <p:sp>
        <p:nvSpPr>
          <p:cNvPr id="16" name="Freeform 16"/>
          <p:cNvSpPr/>
          <p:nvPr/>
        </p:nvSpPr>
        <p:spPr>
          <a:xfrm>
            <a:off x="1895475" y="4667250"/>
            <a:ext cx="571500" cy="561975"/>
          </a:xfrm>
          <a:custGeom>
            <a:avLst/>
            <a:gdLst/>
            <a:ahLst/>
            <a:cxnLst/>
            <a:rect l="l" t="t" r="r" b="b"/>
            <a:pathLst>
              <a:path w="571500" h="561975">
                <a:moveTo>
                  <a:pt x="0" y="0"/>
                </a:moveTo>
                <a:lnTo>
                  <a:pt x="571500" y="0"/>
                </a:lnTo>
                <a:lnTo>
                  <a:pt x="571500" y="561975"/>
                </a:lnTo>
                <a:lnTo>
                  <a:pt x="0" y="561975"/>
                </a:lnTo>
                <a:lnTo>
                  <a:pt x="0" y="0"/>
                </a:lnTo>
                <a:close/>
              </a:path>
            </a:pathLst>
          </a:custGeom>
          <a:blipFill>
            <a:blip r:embed="rId12"/>
            <a:stretch>
              <a:fillRect/>
            </a:stretch>
          </a:blipFill>
        </p:spPr>
      </p:sp>
      <p:sp>
        <p:nvSpPr>
          <p:cNvPr id="17" name="Freeform 17"/>
          <p:cNvSpPr/>
          <p:nvPr/>
        </p:nvSpPr>
        <p:spPr>
          <a:xfrm>
            <a:off x="1895475" y="5219700"/>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13"/>
            <a:stretch>
              <a:fillRect/>
            </a:stretch>
          </a:blipFill>
        </p:spPr>
      </p:sp>
      <p:sp>
        <p:nvSpPr>
          <p:cNvPr id="18" name="Freeform 18"/>
          <p:cNvSpPr/>
          <p:nvPr/>
        </p:nvSpPr>
        <p:spPr>
          <a:xfrm>
            <a:off x="942975" y="5972175"/>
            <a:ext cx="1714500" cy="571500"/>
          </a:xfrm>
          <a:custGeom>
            <a:avLst/>
            <a:gdLst/>
            <a:ahLst/>
            <a:cxnLst/>
            <a:rect l="l" t="t" r="r" b="b"/>
            <a:pathLst>
              <a:path w="1714500" h="571500">
                <a:moveTo>
                  <a:pt x="0" y="0"/>
                </a:moveTo>
                <a:lnTo>
                  <a:pt x="1714500" y="0"/>
                </a:lnTo>
                <a:lnTo>
                  <a:pt x="1714500" y="571500"/>
                </a:lnTo>
                <a:lnTo>
                  <a:pt x="0" y="571500"/>
                </a:lnTo>
                <a:lnTo>
                  <a:pt x="0" y="0"/>
                </a:lnTo>
                <a:close/>
              </a:path>
            </a:pathLst>
          </a:custGeom>
          <a:blipFill>
            <a:blip r:embed="rId14"/>
            <a:stretch>
              <a:fillRect/>
            </a:stretch>
          </a:blipFill>
        </p:spPr>
      </p:sp>
      <p:sp>
        <p:nvSpPr>
          <p:cNvPr id="19" name="TextBox 19"/>
          <p:cNvSpPr txBox="1"/>
          <p:nvPr/>
        </p:nvSpPr>
        <p:spPr>
          <a:xfrm>
            <a:off x="1194435" y="6117933"/>
            <a:ext cx="1258138" cy="185756"/>
          </a:xfrm>
          <a:prstGeom prst="rect">
            <a:avLst/>
          </a:prstGeom>
        </p:spPr>
        <p:txBody>
          <a:bodyPr lIns="0" tIns="0" rIns="0" bIns="0" rtlCol="0" anchor="t">
            <a:spAutoFit/>
          </a:bodyPr>
          <a:lstStyle/>
          <a:p>
            <a:pPr algn="ctr">
              <a:lnSpc>
                <a:spcPts val="1517"/>
              </a:lnSpc>
            </a:pPr>
            <a:r>
              <a:rPr lang="en-US" sz="1200" b="1" dirty="0">
                <a:solidFill>
                  <a:srgbClr val="FFFFFF"/>
                </a:solidFill>
                <a:latin typeface="Aptos Narrow" panose="020B0004020202020204" pitchFamily="34" charset="0"/>
                <a:ea typeface="Nourd Bold"/>
                <a:cs typeface="Nourd Bold"/>
                <a:sym typeface="Nourd Bold"/>
              </a:rPr>
              <a:t>BODY SENSORS</a:t>
            </a:r>
          </a:p>
        </p:txBody>
      </p:sp>
      <p:sp>
        <p:nvSpPr>
          <p:cNvPr id="20" name="Freeform 20"/>
          <p:cNvSpPr/>
          <p:nvPr/>
        </p:nvSpPr>
        <p:spPr>
          <a:xfrm>
            <a:off x="3219450" y="4286250"/>
            <a:ext cx="762000" cy="571500"/>
          </a:xfrm>
          <a:custGeom>
            <a:avLst/>
            <a:gdLst/>
            <a:ahLst/>
            <a:cxnLst/>
            <a:rect l="l" t="t" r="r" b="b"/>
            <a:pathLst>
              <a:path w="762000" h="571500">
                <a:moveTo>
                  <a:pt x="0" y="0"/>
                </a:moveTo>
                <a:lnTo>
                  <a:pt x="762000" y="0"/>
                </a:lnTo>
                <a:lnTo>
                  <a:pt x="762000" y="571500"/>
                </a:lnTo>
                <a:lnTo>
                  <a:pt x="0" y="571500"/>
                </a:lnTo>
                <a:lnTo>
                  <a:pt x="0" y="0"/>
                </a:lnTo>
                <a:close/>
              </a:path>
            </a:pathLst>
          </a:custGeom>
          <a:blipFill>
            <a:blip r:embed="rId15"/>
            <a:stretch>
              <a:fillRect/>
            </a:stretch>
          </a:blipFill>
        </p:spPr>
      </p:sp>
      <p:sp>
        <p:nvSpPr>
          <p:cNvPr id="21" name="Freeform 21"/>
          <p:cNvSpPr/>
          <p:nvPr/>
        </p:nvSpPr>
        <p:spPr>
          <a:xfrm>
            <a:off x="3600450" y="3171825"/>
            <a:ext cx="2466975" cy="3552825"/>
          </a:xfrm>
          <a:custGeom>
            <a:avLst/>
            <a:gdLst/>
            <a:ahLst/>
            <a:cxnLst/>
            <a:rect l="l" t="t" r="r" b="b"/>
            <a:pathLst>
              <a:path w="2466975" h="3552825">
                <a:moveTo>
                  <a:pt x="0" y="0"/>
                </a:moveTo>
                <a:lnTo>
                  <a:pt x="2466975" y="0"/>
                </a:lnTo>
                <a:lnTo>
                  <a:pt x="2466975" y="3552825"/>
                </a:lnTo>
                <a:lnTo>
                  <a:pt x="0" y="3552825"/>
                </a:lnTo>
                <a:lnTo>
                  <a:pt x="0" y="0"/>
                </a:lnTo>
                <a:close/>
              </a:path>
            </a:pathLst>
          </a:custGeom>
          <a:blipFill>
            <a:blip r:embed="rId16"/>
            <a:stretch>
              <a:fillRect/>
            </a:stretch>
          </a:blipFill>
        </p:spPr>
      </p:sp>
      <p:sp>
        <p:nvSpPr>
          <p:cNvPr id="22" name="Freeform 22"/>
          <p:cNvSpPr/>
          <p:nvPr/>
        </p:nvSpPr>
        <p:spPr>
          <a:xfrm>
            <a:off x="4352925" y="3352800"/>
            <a:ext cx="962025" cy="762000"/>
          </a:xfrm>
          <a:custGeom>
            <a:avLst/>
            <a:gdLst/>
            <a:ahLst/>
            <a:cxnLst/>
            <a:rect l="l" t="t" r="r" b="b"/>
            <a:pathLst>
              <a:path w="962025" h="762000">
                <a:moveTo>
                  <a:pt x="0" y="0"/>
                </a:moveTo>
                <a:lnTo>
                  <a:pt x="962025" y="0"/>
                </a:lnTo>
                <a:lnTo>
                  <a:pt x="962025" y="762000"/>
                </a:lnTo>
                <a:lnTo>
                  <a:pt x="0" y="762000"/>
                </a:lnTo>
                <a:lnTo>
                  <a:pt x="0" y="0"/>
                </a:lnTo>
                <a:close/>
              </a:path>
            </a:pathLst>
          </a:custGeom>
          <a:blipFill>
            <a:blip r:embed="rId17"/>
            <a:stretch>
              <a:fillRect/>
            </a:stretch>
          </a:blipFill>
        </p:spPr>
      </p:sp>
      <p:sp>
        <p:nvSpPr>
          <p:cNvPr id="23" name="Freeform 23"/>
          <p:cNvSpPr/>
          <p:nvPr/>
        </p:nvSpPr>
        <p:spPr>
          <a:xfrm>
            <a:off x="4352925" y="4105275"/>
            <a:ext cx="1152525" cy="1123950"/>
          </a:xfrm>
          <a:custGeom>
            <a:avLst/>
            <a:gdLst/>
            <a:ahLst/>
            <a:cxnLst/>
            <a:rect l="l" t="t" r="r" b="b"/>
            <a:pathLst>
              <a:path w="1152525" h="1123950">
                <a:moveTo>
                  <a:pt x="0" y="0"/>
                </a:moveTo>
                <a:lnTo>
                  <a:pt x="1152525" y="0"/>
                </a:lnTo>
                <a:lnTo>
                  <a:pt x="1152525" y="1123950"/>
                </a:lnTo>
                <a:lnTo>
                  <a:pt x="0" y="1123950"/>
                </a:lnTo>
                <a:lnTo>
                  <a:pt x="0" y="0"/>
                </a:lnTo>
                <a:close/>
              </a:path>
            </a:pathLst>
          </a:custGeom>
          <a:blipFill>
            <a:blip r:embed="rId18"/>
            <a:stretch>
              <a:fillRect/>
            </a:stretch>
          </a:blipFill>
        </p:spPr>
      </p:sp>
      <p:sp>
        <p:nvSpPr>
          <p:cNvPr id="24" name="Freeform 24"/>
          <p:cNvSpPr/>
          <p:nvPr/>
        </p:nvSpPr>
        <p:spPr>
          <a:xfrm>
            <a:off x="3981450" y="5600700"/>
            <a:ext cx="1905000" cy="190500"/>
          </a:xfrm>
          <a:custGeom>
            <a:avLst/>
            <a:gdLst/>
            <a:ahLst/>
            <a:cxnLst/>
            <a:rect l="l" t="t" r="r" b="b"/>
            <a:pathLst>
              <a:path w="1905000" h="190500">
                <a:moveTo>
                  <a:pt x="0" y="0"/>
                </a:moveTo>
                <a:lnTo>
                  <a:pt x="1905000" y="0"/>
                </a:lnTo>
                <a:lnTo>
                  <a:pt x="1905000" y="190500"/>
                </a:lnTo>
                <a:lnTo>
                  <a:pt x="0" y="190500"/>
                </a:lnTo>
                <a:lnTo>
                  <a:pt x="0" y="0"/>
                </a:lnTo>
                <a:close/>
              </a:path>
            </a:pathLst>
          </a:custGeom>
          <a:blipFill>
            <a:blip r:embed="rId19"/>
            <a:stretch>
              <a:fillRect/>
            </a:stretch>
          </a:blipFill>
        </p:spPr>
      </p:sp>
      <p:sp>
        <p:nvSpPr>
          <p:cNvPr id="26" name="Freeform 26"/>
          <p:cNvSpPr/>
          <p:nvPr/>
        </p:nvSpPr>
        <p:spPr>
          <a:xfrm>
            <a:off x="4733925" y="5781675"/>
            <a:ext cx="200025" cy="762000"/>
          </a:xfrm>
          <a:custGeom>
            <a:avLst/>
            <a:gdLst/>
            <a:ahLst/>
            <a:cxnLst/>
            <a:rect l="l" t="t" r="r" b="b"/>
            <a:pathLst>
              <a:path w="200025" h="762000">
                <a:moveTo>
                  <a:pt x="0" y="0"/>
                </a:moveTo>
                <a:lnTo>
                  <a:pt x="200025" y="0"/>
                </a:lnTo>
                <a:lnTo>
                  <a:pt x="200025" y="762000"/>
                </a:lnTo>
                <a:lnTo>
                  <a:pt x="0" y="762000"/>
                </a:lnTo>
                <a:lnTo>
                  <a:pt x="0" y="0"/>
                </a:lnTo>
                <a:close/>
              </a:path>
            </a:pathLst>
          </a:custGeom>
          <a:blipFill>
            <a:blip r:embed="rId20"/>
            <a:stretch>
              <a:fillRect/>
            </a:stretch>
          </a:blipFill>
        </p:spPr>
      </p:sp>
      <p:sp>
        <p:nvSpPr>
          <p:cNvPr id="28" name="Freeform 28"/>
          <p:cNvSpPr/>
          <p:nvPr/>
        </p:nvSpPr>
        <p:spPr>
          <a:xfrm>
            <a:off x="5876925" y="4105275"/>
            <a:ext cx="762000" cy="752475"/>
          </a:xfrm>
          <a:custGeom>
            <a:avLst/>
            <a:gdLst/>
            <a:ahLst/>
            <a:cxnLst/>
            <a:rect l="l" t="t" r="r" b="b"/>
            <a:pathLst>
              <a:path w="762000" h="752475">
                <a:moveTo>
                  <a:pt x="0" y="0"/>
                </a:moveTo>
                <a:lnTo>
                  <a:pt x="762000" y="0"/>
                </a:lnTo>
                <a:lnTo>
                  <a:pt x="762000" y="752475"/>
                </a:lnTo>
                <a:lnTo>
                  <a:pt x="0" y="752475"/>
                </a:lnTo>
                <a:lnTo>
                  <a:pt x="0" y="0"/>
                </a:lnTo>
                <a:close/>
              </a:path>
            </a:pathLst>
          </a:custGeom>
          <a:blipFill>
            <a:blip r:embed="rId21"/>
            <a:stretch>
              <a:fillRect/>
            </a:stretch>
          </a:blipFill>
        </p:spPr>
      </p:sp>
      <p:sp>
        <p:nvSpPr>
          <p:cNvPr id="29" name="Freeform 29"/>
          <p:cNvSpPr/>
          <p:nvPr/>
        </p:nvSpPr>
        <p:spPr>
          <a:xfrm>
            <a:off x="6438900" y="3171825"/>
            <a:ext cx="2857500" cy="3552825"/>
          </a:xfrm>
          <a:custGeom>
            <a:avLst/>
            <a:gdLst/>
            <a:ahLst/>
            <a:cxnLst/>
            <a:rect l="l" t="t" r="r" b="b"/>
            <a:pathLst>
              <a:path w="2857500" h="3552825">
                <a:moveTo>
                  <a:pt x="0" y="0"/>
                </a:moveTo>
                <a:lnTo>
                  <a:pt x="2857500" y="0"/>
                </a:lnTo>
                <a:lnTo>
                  <a:pt x="2857500" y="3552825"/>
                </a:lnTo>
                <a:lnTo>
                  <a:pt x="0" y="3552825"/>
                </a:lnTo>
                <a:lnTo>
                  <a:pt x="0" y="0"/>
                </a:lnTo>
                <a:close/>
              </a:path>
            </a:pathLst>
          </a:custGeom>
          <a:blipFill>
            <a:blip r:embed="rId22"/>
            <a:stretch>
              <a:fillRect/>
            </a:stretch>
          </a:blipFill>
        </p:spPr>
      </p:sp>
      <p:sp>
        <p:nvSpPr>
          <p:cNvPr id="30" name="Freeform 30"/>
          <p:cNvSpPr/>
          <p:nvPr/>
        </p:nvSpPr>
        <p:spPr>
          <a:xfrm>
            <a:off x="6819900" y="3543300"/>
            <a:ext cx="2095500" cy="1685925"/>
          </a:xfrm>
          <a:custGeom>
            <a:avLst/>
            <a:gdLst/>
            <a:ahLst/>
            <a:cxnLst/>
            <a:rect l="l" t="t" r="r" b="b"/>
            <a:pathLst>
              <a:path w="2095500" h="1685925">
                <a:moveTo>
                  <a:pt x="0" y="0"/>
                </a:moveTo>
                <a:lnTo>
                  <a:pt x="2095500" y="0"/>
                </a:lnTo>
                <a:lnTo>
                  <a:pt x="2095500" y="1685925"/>
                </a:lnTo>
                <a:lnTo>
                  <a:pt x="0" y="1685925"/>
                </a:lnTo>
                <a:lnTo>
                  <a:pt x="0" y="0"/>
                </a:lnTo>
                <a:close/>
              </a:path>
            </a:pathLst>
          </a:custGeom>
          <a:blipFill>
            <a:blip r:embed="rId23"/>
            <a:stretch>
              <a:fillRect/>
            </a:stretch>
          </a:blipFill>
        </p:spPr>
      </p:sp>
      <p:sp>
        <p:nvSpPr>
          <p:cNvPr id="31" name="Freeform 31"/>
          <p:cNvSpPr/>
          <p:nvPr/>
        </p:nvSpPr>
        <p:spPr>
          <a:xfrm>
            <a:off x="6629400" y="5600700"/>
            <a:ext cx="2286000" cy="190500"/>
          </a:xfrm>
          <a:custGeom>
            <a:avLst/>
            <a:gdLst/>
            <a:ahLst/>
            <a:cxnLst/>
            <a:rect l="l" t="t" r="r" b="b"/>
            <a:pathLst>
              <a:path w="2286000" h="190500">
                <a:moveTo>
                  <a:pt x="0" y="0"/>
                </a:moveTo>
                <a:lnTo>
                  <a:pt x="2286000" y="0"/>
                </a:lnTo>
                <a:lnTo>
                  <a:pt x="2286000" y="190500"/>
                </a:lnTo>
                <a:lnTo>
                  <a:pt x="0" y="190500"/>
                </a:lnTo>
                <a:lnTo>
                  <a:pt x="0" y="0"/>
                </a:lnTo>
                <a:close/>
              </a:path>
            </a:pathLst>
          </a:custGeom>
          <a:blipFill>
            <a:blip r:embed="rId24"/>
            <a:stretch>
              <a:fillRect/>
            </a:stretch>
          </a:blipFill>
        </p:spPr>
      </p:sp>
      <p:sp>
        <p:nvSpPr>
          <p:cNvPr id="32" name="Freeform 32"/>
          <p:cNvSpPr/>
          <p:nvPr/>
        </p:nvSpPr>
        <p:spPr>
          <a:xfrm>
            <a:off x="6819900" y="5781675"/>
            <a:ext cx="390525" cy="381000"/>
          </a:xfrm>
          <a:custGeom>
            <a:avLst/>
            <a:gdLst/>
            <a:ahLst/>
            <a:cxnLst/>
            <a:rect l="l" t="t" r="r" b="b"/>
            <a:pathLst>
              <a:path w="390525" h="381000">
                <a:moveTo>
                  <a:pt x="0" y="0"/>
                </a:moveTo>
                <a:lnTo>
                  <a:pt x="390525" y="0"/>
                </a:lnTo>
                <a:lnTo>
                  <a:pt x="390525" y="381000"/>
                </a:lnTo>
                <a:lnTo>
                  <a:pt x="0" y="381000"/>
                </a:lnTo>
                <a:lnTo>
                  <a:pt x="0" y="0"/>
                </a:lnTo>
                <a:close/>
              </a:path>
            </a:pathLst>
          </a:custGeom>
          <a:blipFill>
            <a:blip r:embed="rId25"/>
            <a:stretch>
              <a:fillRect/>
            </a:stretch>
          </a:blipFill>
        </p:spPr>
      </p:sp>
      <p:sp>
        <p:nvSpPr>
          <p:cNvPr id="33" name="Freeform 33"/>
          <p:cNvSpPr/>
          <p:nvPr/>
        </p:nvSpPr>
        <p:spPr>
          <a:xfrm>
            <a:off x="7391400" y="5781675"/>
            <a:ext cx="200025" cy="762000"/>
          </a:xfrm>
          <a:custGeom>
            <a:avLst/>
            <a:gdLst/>
            <a:ahLst/>
            <a:cxnLst/>
            <a:rect l="l" t="t" r="r" b="b"/>
            <a:pathLst>
              <a:path w="200025" h="762000">
                <a:moveTo>
                  <a:pt x="0" y="0"/>
                </a:moveTo>
                <a:lnTo>
                  <a:pt x="200025" y="0"/>
                </a:lnTo>
                <a:lnTo>
                  <a:pt x="200025" y="762000"/>
                </a:lnTo>
                <a:lnTo>
                  <a:pt x="0" y="762000"/>
                </a:lnTo>
                <a:lnTo>
                  <a:pt x="0" y="0"/>
                </a:lnTo>
                <a:close/>
              </a:path>
            </a:pathLst>
          </a:custGeom>
          <a:blipFill>
            <a:blip r:embed="rId26"/>
            <a:stretch>
              <a:fillRect/>
            </a:stretch>
          </a:blipFill>
        </p:spPr>
      </p:sp>
      <p:sp>
        <p:nvSpPr>
          <p:cNvPr id="34" name="Freeform 34"/>
          <p:cNvSpPr/>
          <p:nvPr/>
        </p:nvSpPr>
        <p:spPr>
          <a:xfrm>
            <a:off x="7391400" y="5781675"/>
            <a:ext cx="571500" cy="381000"/>
          </a:xfrm>
          <a:custGeom>
            <a:avLst/>
            <a:gdLst/>
            <a:ahLst/>
            <a:cxnLst/>
            <a:rect l="l" t="t" r="r" b="b"/>
            <a:pathLst>
              <a:path w="571500" h="381000">
                <a:moveTo>
                  <a:pt x="0" y="0"/>
                </a:moveTo>
                <a:lnTo>
                  <a:pt x="571500" y="0"/>
                </a:lnTo>
                <a:lnTo>
                  <a:pt x="571500" y="381000"/>
                </a:lnTo>
                <a:lnTo>
                  <a:pt x="0" y="381000"/>
                </a:lnTo>
                <a:lnTo>
                  <a:pt x="0" y="0"/>
                </a:lnTo>
                <a:close/>
              </a:path>
            </a:pathLst>
          </a:custGeom>
          <a:blipFill>
            <a:blip r:embed="rId27"/>
            <a:stretch>
              <a:fillRect/>
            </a:stretch>
          </a:blipFill>
        </p:spPr>
      </p:sp>
      <p:sp>
        <p:nvSpPr>
          <p:cNvPr id="35" name="Freeform 35"/>
          <p:cNvSpPr/>
          <p:nvPr/>
        </p:nvSpPr>
        <p:spPr>
          <a:xfrm>
            <a:off x="8143875" y="5781675"/>
            <a:ext cx="200025" cy="762000"/>
          </a:xfrm>
          <a:custGeom>
            <a:avLst/>
            <a:gdLst/>
            <a:ahLst/>
            <a:cxnLst/>
            <a:rect l="l" t="t" r="r" b="b"/>
            <a:pathLst>
              <a:path w="200025" h="762000">
                <a:moveTo>
                  <a:pt x="0" y="0"/>
                </a:moveTo>
                <a:lnTo>
                  <a:pt x="200025" y="0"/>
                </a:lnTo>
                <a:lnTo>
                  <a:pt x="200025" y="762000"/>
                </a:lnTo>
                <a:lnTo>
                  <a:pt x="0" y="762000"/>
                </a:lnTo>
                <a:lnTo>
                  <a:pt x="0" y="0"/>
                </a:lnTo>
                <a:close/>
              </a:path>
            </a:pathLst>
          </a:custGeom>
          <a:blipFill>
            <a:blip r:embed="rId28"/>
            <a:stretch>
              <a:fillRect/>
            </a:stretch>
          </a:blipFill>
        </p:spPr>
      </p:sp>
      <p:sp>
        <p:nvSpPr>
          <p:cNvPr id="36" name="Freeform 36"/>
          <p:cNvSpPr/>
          <p:nvPr/>
        </p:nvSpPr>
        <p:spPr>
          <a:xfrm>
            <a:off x="8334375" y="5781675"/>
            <a:ext cx="581025" cy="381000"/>
          </a:xfrm>
          <a:custGeom>
            <a:avLst/>
            <a:gdLst/>
            <a:ahLst/>
            <a:cxnLst/>
            <a:rect l="l" t="t" r="r" b="b"/>
            <a:pathLst>
              <a:path w="581025" h="381000">
                <a:moveTo>
                  <a:pt x="0" y="0"/>
                </a:moveTo>
                <a:lnTo>
                  <a:pt x="581025" y="0"/>
                </a:lnTo>
                <a:lnTo>
                  <a:pt x="581025" y="381000"/>
                </a:lnTo>
                <a:lnTo>
                  <a:pt x="0" y="381000"/>
                </a:lnTo>
                <a:lnTo>
                  <a:pt x="0" y="0"/>
                </a:lnTo>
                <a:close/>
              </a:path>
            </a:pathLst>
          </a:custGeom>
          <a:blipFill>
            <a:blip r:embed="rId29"/>
            <a:stretch>
              <a:fillRect/>
            </a:stretch>
          </a:blipFill>
        </p:spPr>
      </p:sp>
      <p:sp>
        <p:nvSpPr>
          <p:cNvPr id="37" name="Freeform 37"/>
          <p:cNvSpPr/>
          <p:nvPr/>
        </p:nvSpPr>
        <p:spPr>
          <a:xfrm>
            <a:off x="8905875" y="4105275"/>
            <a:ext cx="771525" cy="752475"/>
          </a:xfrm>
          <a:custGeom>
            <a:avLst/>
            <a:gdLst/>
            <a:ahLst/>
            <a:cxnLst/>
            <a:rect l="l" t="t" r="r" b="b"/>
            <a:pathLst>
              <a:path w="771525" h="752475">
                <a:moveTo>
                  <a:pt x="0" y="0"/>
                </a:moveTo>
                <a:lnTo>
                  <a:pt x="771525" y="0"/>
                </a:lnTo>
                <a:lnTo>
                  <a:pt x="771525" y="752475"/>
                </a:lnTo>
                <a:lnTo>
                  <a:pt x="0" y="752475"/>
                </a:lnTo>
                <a:lnTo>
                  <a:pt x="0" y="0"/>
                </a:lnTo>
                <a:close/>
              </a:path>
            </a:pathLst>
          </a:custGeom>
          <a:blipFill>
            <a:blip r:embed="rId30"/>
            <a:stretch>
              <a:fillRect/>
            </a:stretch>
          </a:blipFill>
        </p:spPr>
      </p:sp>
      <p:sp>
        <p:nvSpPr>
          <p:cNvPr id="38" name="Freeform 38"/>
          <p:cNvSpPr/>
          <p:nvPr/>
        </p:nvSpPr>
        <p:spPr>
          <a:xfrm>
            <a:off x="9477375" y="3171825"/>
            <a:ext cx="3038475" cy="3552825"/>
          </a:xfrm>
          <a:custGeom>
            <a:avLst/>
            <a:gdLst/>
            <a:ahLst/>
            <a:cxnLst/>
            <a:rect l="l" t="t" r="r" b="b"/>
            <a:pathLst>
              <a:path w="3038475" h="3552825">
                <a:moveTo>
                  <a:pt x="0" y="0"/>
                </a:moveTo>
                <a:lnTo>
                  <a:pt x="3038475" y="0"/>
                </a:lnTo>
                <a:lnTo>
                  <a:pt x="3038475" y="3552825"/>
                </a:lnTo>
                <a:lnTo>
                  <a:pt x="0" y="3552825"/>
                </a:lnTo>
                <a:lnTo>
                  <a:pt x="0" y="0"/>
                </a:lnTo>
                <a:close/>
              </a:path>
            </a:pathLst>
          </a:custGeom>
          <a:blipFill>
            <a:blip r:embed="rId31"/>
            <a:stretch>
              <a:fillRect/>
            </a:stretch>
          </a:blipFill>
        </p:spPr>
        <p:txBody>
          <a:bodyPr/>
          <a:lstStyle/>
          <a:p>
            <a:endParaRPr lang="en-IN" dirty="0"/>
          </a:p>
        </p:txBody>
      </p:sp>
      <p:sp>
        <p:nvSpPr>
          <p:cNvPr id="39" name="Freeform 39"/>
          <p:cNvSpPr/>
          <p:nvPr/>
        </p:nvSpPr>
        <p:spPr>
          <a:xfrm>
            <a:off x="9477375" y="3543300"/>
            <a:ext cx="2847975" cy="1876425"/>
          </a:xfrm>
          <a:custGeom>
            <a:avLst/>
            <a:gdLst/>
            <a:ahLst/>
            <a:cxnLst/>
            <a:rect l="l" t="t" r="r" b="b"/>
            <a:pathLst>
              <a:path w="2847975" h="1876425">
                <a:moveTo>
                  <a:pt x="0" y="0"/>
                </a:moveTo>
                <a:lnTo>
                  <a:pt x="2847975" y="0"/>
                </a:lnTo>
                <a:lnTo>
                  <a:pt x="2847975" y="1876425"/>
                </a:lnTo>
                <a:lnTo>
                  <a:pt x="0" y="1876425"/>
                </a:lnTo>
                <a:lnTo>
                  <a:pt x="0" y="0"/>
                </a:lnTo>
                <a:close/>
              </a:path>
            </a:pathLst>
          </a:custGeom>
          <a:blipFill>
            <a:blip r:embed="rId32"/>
            <a:stretch>
              <a:fillRect/>
            </a:stretch>
          </a:blipFill>
        </p:spPr>
      </p:sp>
      <p:sp>
        <p:nvSpPr>
          <p:cNvPr id="40" name="TextBox 40"/>
          <p:cNvSpPr txBox="1"/>
          <p:nvPr/>
        </p:nvSpPr>
        <p:spPr>
          <a:xfrm>
            <a:off x="4618482" y="338476"/>
            <a:ext cx="2818867" cy="835581"/>
          </a:xfrm>
          <a:prstGeom prst="rect">
            <a:avLst/>
          </a:prstGeom>
        </p:spPr>
        <p:txBody>
          <a:bodyPr lIns="0" tIns="0" rIns="0" bIns="0" rtlCol="0" anchor="t">
            <a:spAutoFit/>
          </a:bodyPr>
          <a:lstStyle/>
          <a:p>
            <a:pPr algn="r">
              <a:lnSpc>
                <a:spcPts val="6271"/>
              </a:lnSpc>
            </a:pPr>
            <a:r>
              <a:rPr lang="en-US" sz="6600" b="1" dirty="0">
                <a:solidFill>
                  <a:srgbClr val="001F3D"/>
                </a:solidFill>
                <a:latin typeface="Aptos Narrow" panose="020B0004020202020204" pitchFamily="34" charset="0"/>
                <a:ea typeface="Roboto Condensed Bold"/>
                <a:cs typeface="Roboto Condensed Bold"/>
                <a:sym typeface="Roboto Condensed Bold"/>
              </a:rPr>
              <a:t>SYSTEM</a:t>
            </a:r>
          </a:p>
        </p:txBody>
      </p:sp>
      <p:sp>
        <p:nvSpPr>
          <p:cNvPr id="41" name="TextBox 41"/>
          <p:cNvSpPr txBox="1"/>
          <p:nvPr/>
        </p:nvSpPr>
        <p:spPr>
          <a:xfrm>
            <a:off x="3854044" y="2290016"/>
            <a:ext cx="2149983" cy="230448"/>
          </a:xfrm>
          <a:prstGeom prst="rect">
            <a:avLst/>
          </a:prstGeom>
        </p:spPr>
        <p:txBody>
          <a:bodyPr lIns="0" tIns="0" rIns="0" bIns="0" rtlCol="0" anchor="t">
            <a:spAutoFit/>
          </a:bodyPr>
          <a:lstStyle/>
          <a:p>
            <a:pPr algn="l">
              <a:lnSpc>
                <a:spcPts val="1882"/>
              </a:lnSpc>
            </a:pPr>
            <a:r>
              <a:rPr lang="en-US" sz="1400" b="1" dirty="0">
                <a:solidFill>
                  <a:srgbClr val="001F3D"/>
                </a:solidFill>
                <a:latin typeface="Aptos Narrow" panose="020B0004020202020204" pitchFamily="34" charset="0"/>
                <a:ea typeface="Nourd Bold"/>
                <a:cs typeface="Nourd Bold"/>
                <a:sym typeface="Nourd Bold"/>
              </a:rPr>
              <a:t>2. DATA TRANSMISSION</a:t>
            </a:r>
          </a:p>
        </p:txBody>
      </p:sp>
      <p:sp>
        <p:nvSpPr>
          <p:cNvPr id="42" name="TextBox 42"/>
          <p:cNvSpPr txBox="1"/>
          <p:nvPr/>
        </p:nvSpPr>
        <p:spPr>
          <a:xfrm>
            <a:off x="7031241" y="2290016"/>
            <a:ext cx="1942948" cy="230448"/>
          </a:xfrm>
          <a:prstGeom prst="rect">
            <a:avLst/>
          </a:prstGeom>
        </p:spPr>
        <p:txBody>
          <a:bodyPr lIns="0" tIns="0" rIns="0" bIns="0" rtlCol="0" anchor="t">
            <a:spAutoFit/>
          </a:bodyPr>
          <a:lstStyle/>
          <a:p>
            <a:pPr algn="l">
              <a:lnSpc>
                <a:spcPts val="1882"/>
              </a:lnSpc>
            </a:pPr>
            <a:r>
              <a:rPr lang="en-US" sz="1400" b="1" dirty="0">
                <a:solidFill>
                  <a:srgbClr val="001F3D"/>
                </a:solidFill>
                <a:latin typeface="Aptos Narrow" panose="020B0004020202020204" pitchFamily="34" charset="0"/>
                <a:ea typeface="Nourd Bold"/>
                <a:cs typeface="Nourd Bold"/>
                <a:sym typeface="Nourd Bold"/>
              </a:rPr>
              <a:t>3. DATA PROCESSING</a:t>
            </a:r>
          </a:p>
        </p:txBody>
      </p:sp>
      <p:sp>
        <p:nvSpPr>
          <p:cNvPr id="43" name="TextBox 43"/>
          <p:cNvSpPr txBox="1"/>
          <p:nvPr/>
        </p:nvSpPr>
        <p:spPr>
          <a:xfrm>
            <a:off x="10128809" y="2280941"/>
            <a:ext cx="1656283" cy="231651"/>
          </a:xfrm>
          <a:prstGeom prst="rect">
            <a:avLst/>
          </a:prstGeom>
        </p:spPr>
        <p:txBody>
          <a:bodyPr lIns="0" tIns="0" rIns="0" bIns="0" rtlCol="0" anchor="t">
            <a:spAutoFit/>
          </a:bodyPr>
          <a:lstStyle/>
          <a:p>
            <a:pPr algn="l">
              <a:lnSpc>
                <a:spcPts val="1931"/>
              </a:lnSpc>
            </a:pPr>
            <a:r>
              <a:rPr lang="en-US" sz="1400" b="1">
                <a:solidFill>
                  <a:srgbClr val="001F3D"/>
                </a:solidFill>
                <a:latin typeface="Aptos Narrow" panose="020B0004020202020204" pitchFamily="34" charset="0"/>
                <a:ea typeface="Nourd Bold"/>
                <a:cs typeface="Nourd Bold"/>
                <a:sym typeface="Nourd Bold"/>
              </a:rPr>
              <a:t>4. VISUALIZATION</a:t>
            </a:r>
          </a:p>
        </p:txBody>
      </p:sp>
      <p:sp>
        <p:nvSpPr>
          <p:cNvPr id="44" name="TextBox 44"/>
          <p:cNvSpPr txBox="1"/>
          <p:nvPr/>
        </p:nvSpPr>
        <p:spPr>
          <a:xfrm>
            <a:off x="12947675" y="2294328"/>
            <a:ext cx="2484425" cy="222882"/>
          </a:xfrm>
          <a:prstGeom prst="rect">
            <a:avLst/>
          </a:prstGeom>
        </p:spPr>
        <p:txBody>
          <a:bodyPr lIns="0" tIns="0" rIns="0" bIns="0" rtlCol="0" anchor="t">
            <a:spAutoFit/>
          </a:bodyPr>
          <a:lstStyle/>
          <a:p>
            <a:pPr algn="l">
              <a:lnSpc>
                <a:spcPts val="1832"/>
              </a:lnSpc>
            </a:pPr>
            <a:r>
              <a:rPr lang="en-US" sz="1400" b="1">
                <a:solidFill>
                  <a:srgbClr val="001F3D"/>
                </a:solidFill>
                <a:latin typeface="Aptos Narrow" panose="020B0004020202020204" pitchFamily="34" charset="0"/>
                <a:ea typeface="Nourd Bold"/>
                <a:cs typeface="Nourd Bold"/>
                <a:sym typeface="Nourd Bold"/>
              </a:rPr>
              <a:t>5. ALERTS &amp; NOTIFICATIONS</a:t>
            </a:r>
          </a:p>
        </p:txBody>
      </p:sp>
      <p:sp>
        <p:nvSpPr>
          <p:cNvPr id="45" name="TextBox 45"/>
          <p:cNvSpPr txBox="1"/>
          <p:nvPr/>
        </p:nvSpPr>
        <p:spPr>
          <a:xfrm>
            <a:off x="4045153" y="2612702"/>
            <a:ext cx="1688135" cy="410369"/>
          </a:xfrm>
          <a:prstGeom prst="rect">
            <a:avLst/>
          </a:prstGeom>
        </p:spPr>
        <p:txBody>
          <a:bodyPr lIns="0" tIns="0" rIns="0" bIns="0" rtlCol="0" anchor="t">
            <a:spAutoFit/>
          </a:bodyPr>
          <a:lstStyle/>
          <a:p>
            <a:pPr algn="l">
              <a:lnSpc>
                <a:spcPts val="1609"/>
              </a:lnSpc>
            </a:pPr>
            <a:r>
              <a:rPr lang="en-US" sz="1400" b="1" dirty="0">
                <a:solidFill>
                  <a:srgbClr val="001F3D"/>
                </a:solidFill>
                <a:latin typeface="Aptos Narrow" panose="020B0004020202020204" pitchFamily="34" charset="0"/>
                <a:ea typeface="Nourd Semi-Bold"/>
                <a:cs typeface="Nourd Semi-Bold"/>
                <a:sym typeface="Nourd Semi-Bold"/>
              </a:rPr>
              <a:t>Data is sent to the IoT</a:t>
            </a:r>
          </a:p>
          <a:p>
            <a:pPr algn="l">
              <a:lnSpc>
                <a:spcPts val="1609"/>
              </a:lnSpc>
            </a:pPr>
            <a:r>
              <a:rPr lang="en-US" sz="1400" b="1" dirty="0">
                <a:solidFill>
                  <a:srgbClr val="001F3D"/>
                </a:solidFill>
                <a:latin typeface="Aptos Narrow" panose="020B0004020202020204" pitchFamily="34" charset="0"/>
                <a:ea typeface="Nourd Semi-Bold"/>
                <a:cs typeface="Nourd Semi-Bold"/>
                <a:sym typeface="Nourd Semi-Bold"/>
              </a:rPr>
              <a:t>gateway via wireless.</a:t>
            </a:r>
          </a:p>
        </p:txBody>
      </p:sp>
      <p:sp>
        <p:nvSpPr>
          <p:cNvPr id="46" name="TextBox 46"/>
          <p:cNvSpPr txBox="1"/>
          <p:nvPr/>
        </p:nvSpPr>
        <p:spPr>
          <a:xfrm>
            <a:off x="6848094" y="2612702"/>
            <a:ext cx="2149983" cy="410369"/>
          </a:xfrm>
          <a:prstGeom prst="rect">
            <a:avLst/>
          </a:prstGeom>
        </p:spPr>
        <p:txBody>
          <a:bodyPr lIns="0" tIns="0" rIns="0" bIns="0" rtlCol="0" anchor="t">
            <a:spAutoFit/>
          </a:bodyPr>
          <a:lstStyle/>
          <a:p>
            <a:pPr algn="ctr">
              <a:lnSpc>
                <a:spcPts val="1609"/>
              </a:lnSpc>
            </a:pPr>
            <a:r>
              <a:rPr lang="en-US" sz="1400" b="1" dirty="0">
                <a:solidFill>
                  <a:srgbClr val="001F3D"/>
                </a:solidFill>
                <a:latin typeface="Aptos Narrow" panose="020B0004020202020204" pitchFamily="34" charset="0"/>
                <a:ea typeface="Nourd Semi-Bold"/>
                <a:cs typeface="Nourd Semi-Bold"/>
                <a:sym typeface="Nourd Semi-Bold"/>
              </a:rPr>
              <a:t>Data is processed, analyzed</a:t>
            </a:r>
          </a:p>
          <a:p>
            <a:pPr algn="ctr">
              <a:lnSpc>
                <a:spcPts val="1609"/>
              </a:lnSpc>
            </a:pPr>
            <a:r>
              <a:rPr lang="en-US" sz="1400" b="1" dirty="0">
                <a:solidFill>
                  <a:srgbClr val="001F3D"/>
                </a:solidFill>
                <a:latin typeface="Aptos Narrow" panose="020B0004020202020204" pitchFamily="34" charset="0"/>
                <a:ea typeface="Nourd Semi-Bold"/>
                <a:cs typeface="Nourd Semi-Bold"/>
                <a:sym typeface="Nourd Semi-Bold"/>
              </a:rPr>
              <a:t>and stored securely.</a:t>
            </a:r>
          </a:p>
        </p:txBody>
      </p:sp>
      <p:sp>
        <p:nvSpPr>
          <p:cNvPr id="47" name="TextBox 47"/>
          <p:cNvSpPr txBox="1"/>
          <p:nvPr/>
        </p:nvSpPr>
        <p:spPr>
          <a:xfrm>
            <a:off x="10017328" y="2612702"/>
            <a:ext cx="1911096" cy="410369"/>
          </a:xfrm>
          <a:prstGeom prst="rect">
            <a:avLst/>
          </a:prstGeom>
        </p:spPr>
        <p:txBody>
          <a:bodyPr lIns="0" tIns="0" rIns="0" bIns="0" rtlCol="0" anchor="t">
            <a:spAutoFit/>
          </a:bodyPr>
          <a:lstStyle/>
          <a:p>
            <a:pPr algn="l">
              <a:lnSpc>
                <a:spcPts val="1609"/>
              </a:lnSpc>
            </a:pPr>
            <a:r>
              <a:rPr lang="en-US" sz="1400" b="1">
                <a:solidFill>
                  <a:srgbClr val="001F3D"/>
                </a:solidFill>
                <a:latin typeface="Aptos Narrow" panose="020B0004020202020204" pitchFamily="34" charset="0"/>
                <a:ea typeface="Nourd Semi-Bold"/>
                <a:cs typeface="Nourd Semi-Bold"/>
                <a:sym typeface="Nourd Semi-Bold"/>
              </a:rPr>
              <a:t>Users can view real-time</a:t>
            </a:r>
          </a:p>
          <a:p>
            <a:pPr algn="l">
              <a:lnSpc>
                <a:spcPts val="1609"/>
              </a:lnSpc>
            </a:pPr>
            <a:r>
              <a:rPr lang="en-US" sz="1400" b="1">
                <a:solidFill>
                  <a:srgbClr val="001F3D"/>
                </a:solidFill>
                <a:latin typeface="Aptos Narrow" panose="020B0004020202020204" pitchFamily="34" charset="0"/>
                <a:ea typeface="Nourd Semi-Bold"/>
                <a:cs typeface="Nourd Semi-Bold"/>
                <a:sym typeface="Nourd Semi-Bold"/>
              </a:rPr>
              <a:t>data on dashboard.</a:t>
            </a:r>
          </a:p>
        </p:txBody>
      </p:sp>
      <p:sp>
        <p:nvSpPr>
          <p:cNvPr id="48" name="TextBox 48"/>
          <p:cNvSpPr txBox="1"/>
          <p:nvPr/>
        </p:nvSpPr>
        <p:spPr>
          <a:xfrm>
            <a:off x="13170637" y="2631527"/>
            <a:ext cx="2006651" cy="410369"/>
          </a:xfrm>
          <a:prstGeom prst="rect">
            <a:avLst/>
          </a:prstGeom>
        </p:spPr>
        <p:txBody>
          <a:bodyPr lIns="0" tIns="0" rIns="0" bIns="0" rtlCol="0" anchor="t">
            <a:spAutoFit/>
          </a:bodyPr>
          <a:lstStyle/>
          <a:p>
            <a:pPr algn="ctr">
              <a:lnSpc>
                <a:spcPts val="1563"/>
              </a:lnSpc>
            </a:pPr>
            <a:r>
              <a:rPr lang="en-US" sz="1400" b="1">
                <a:solidFill>
                  <a:srgbClr val="001F3D"/>
                </a:solidFill>
                <a:latin typeface="Aptos Narrow" panose="020B0004020202020204" pitchFamily="34" charset="0"/>
                <a:ea typeface="Nourd Semi-Bold"/>
                <a:cs typeface="Nourd Semi-Bold"/>
                <a:sym typeface="Nourd Semi-Bold"/>
              </a:rPr>
              <a:t>Instant alerts for abnormal</a:t>
            </a:r>
          </a:p>
          <a:p>
            <a:pPr algn="ctr">
              <a:lnSpc>
                <a:spcPts val="1563"/>
              </a:lnSpc>
            </a:pPr>
            <a:r>
              <a:rPr lang="en-US" sz="1400" b="1">
                <a:solidFill>
                  <a:srgbClr val="001F3D"/>
                </a:solidFill>
                <a:latin typeface="Aptos Narrow" panose="020B0004020202020204" pitchFamily="34" charset="0"/>
                <a:ea typeface="Nourd Semi-Bold"/>
                <a:cs typeface="Nourd Semi-Bold"/>
                <a:sym typeface="Nourd Semi-Bold"/>
              </a:rPr>
              <a:t>health conditions.</a:t>
            </a:r>
          </a:p>
        </p:txBody>
      </p:sp>
      <p:sp>
        <p:nvSpPr>
          <p:cNvPr id="49" name="TextBox 49"/>
          <p:cNvSpPr txBox="1"/>
          <p:nvPr/>
        </p:nvSpPr>
        <p:spPr>
          <a:xfrm>
            <a:off x="2500351" y="4818460"/>
            <a:ext cx="716661" cy="141178"/>
          </a:xfrm>
          <a:prstGeom prst="rect">
            <a:avLst/>
          </a:prstGeom>
        </p:spPr>
        <p:txBody>
          <a:bodyPr lIns="0" tIns="0" rIns="0" bIns="0" rtlCol="0" anchor="t">
            <a:spAutoFit/>
          </a:bodyPr>
          <a:lstStyle/>
          <a:p>
            <a:pPr algn="l">
              <a:lnSpc>
                <a:spcPts val="1148"/>
              </a:lnSpc>
            </a:pPr>
            <a:r>
              <a:rPr lang="en-US" sz="900" b="1">
                <a:solidFill>
                  <a:srgbClr val="001F3D"/>
                </a:solidFill>
                <a:latin typeface="Aptos Narrow" panose="020B0004020202020204" pitchFamily="34" charset="0"/>
                <a:ea typeface="Nourd Semi-Bold"/>
                <a:cs typeface="Nourd Semi-Bold"/>
                <a:sym typeface="Nourd Semi-Bold"/>
              </a:rPr>
              <a:t>Temperature</a:t>
            </a:r>
          </a:p>
        </p:txBody>
      </p:sp>
      <p:sp>
        <p:nvSpPr>
          <p:cNvPr id="50" name="TextBox 50"/>
          <p:cNvSpPr txBox="1"/>
          <p:nvPr/>
        </p:nvSpPr>
        <p:spPr>
          <a:xfrm>
            <a:off x="2500351" y="5424282"/>
            <a:ext cx="477774" cy="256480"/>
          </a:xfrm>
          <a:prstGeom prst="rect">
            <a:avLst/>
          </a:prstGeom>
        </p:spPr>
        <p:txBody>
          <a:bodyPr lIns="0" tIns="0" rIns="0" bIns="0" rtlCol="0" anchor="t">
            <a:spAutoFit/>
          </a:bodyPr>
          <a:lstStyle/>
          <a:p>
            <a:pPr algn="l">
              <a:lnSpc>
                <a:spcPts val="971"/>
              </a:lnSpc>
            </a:pPr>
            <a:r>
              <a:rPr lang="en-US" sz="900" b="1">
                <a:solidFill>
                  <a:srgbClr val="001F3D"/>
                </a:solidFill>
                <a:latin typeface="Aptos Narrow" panose="020B0004020202020204" pitchFamily="34" charset="0"/>
                <a:ea typeface="Nourd Semi-Bold"/>
                <a:cs typeface="Nourd Semi-Bold"/>
                <a:sym typeface="Nourd Semi-Bold"/>
              </a:rPr>
              <a:t>Blood</a:t>
            </a:r>
          </a:p>
          <a:p>
            <a:pPr algn="l">
              <a:lnSpc>
                <a:spcPts val="971"/>
              </a:lnSpc>
            </a:pPr>
            <a:r>
              <a:rPr lang="en-US" sz="900" b="1">
                <a:solidFill>
                  <a:srgbClr val="001F3D"/>
                </a:solidFill>
                <a:latin typeface="Aptos Narrow" panose="020B0004020202020204" pitchFamily="34" charset="0"/>
                <a:ea typeface="Nourd Semi-Bold"/>
                <a:cs typeface="Nourd Semi-Bold"/>
                <a:sym typeface="Nourd Semi-Bold"/>
              </a:rPr>
              <a:t>Pressure</a:t>
            </a:r>
          </a:p>
        </p:txBody>
      </p:sp>
      <p:sp>
        <p:nvSpPr>
          <p:cNvPr id="51" name="TextBox 51"/>
          <p:cNvSpPr txBox="1"/>
          <p:nvPr/>
        </p:nvSpPr>
        <p:spPr>
          <a:xfrm>
            <a:off x="2500351" y="3662230"/>
            <a:ext cx="605180" cy="141178"/>
          </a:xfrm>
          <a:prstGeom prst="rect">
            <a:avLst/>
          </a:prstGeom>
        </p:spPr>
        <p:txBody>
          <a:bodyPr lIns="0" tIns="0" rIns="0" bIns="0" rtlCol="0" anchor="t">
            <a:spAutoFit/>
          </a:bodyPr>
          <a:lstStyle/>
          <a:p>
            <a:pPr algn="l">
              <a:lnSpc>
                <a:spcPts val="1148"/>
              </a:lnSpc>
            </a:pPr>
            <a:r>
              <a:rPr lang="en-US" sz="900" b="1">
                <a:solidFill>
                  <a:srgbClr val="001F3D"/>
                </a:solidFill>
                <a:latin typeface="Aptos Narrow" panose="020B0004020202020204" pitchFamily="34" charset="0"/>
                <a:ea typeface="Nourd Semi-Bold"/>
                <a:cs typeface="Nourd Semi-Bold"/>
                <a:sym typeface="Nourd Semi-Bold"/>
              </a:rPr>
              <a:t>Heart Rate</a:t>
            </a:r>
          </a:p>
        </p:txBody>
      </p:sp>
      <p:sp>
        <p:nvSpPr>
          <p:cNvPr id="52" name="TextBox 52"/>
          <p:cNvSpPr txBox="1"/>
          <p:nvPr/>
        </p:nvSpPr>
        <p:spPr>
          <a:xfrm>
            <a:off x="2500350" y="4226900"/>
            <a:ext cx="716661" cy="137153"/>
          </a:xfrm>
          <a:prstGeom prst="rect">
            <a:avLst/>
          </a:prstGeom>
        </p:spPr>
        <p:txBody>
          <a:bodyPr wrap="square" lIns="0" tIns="0" rIns="0" bIns="0" rtlCol="0" anchor="t">
            <a:spAutoFit/>
          </a:bodyPr>
          <a:lstStyle/>
          <a:p>
            <a:pPr algn="l">
              <a:lnSpc>
                <a:spcPts val="1148"/>
              </a:lnSpc>
            </a:pPr>
            <a:r>
              <a:rPr lang="en-US" sz="900" b="1" dirty="0">
                <a:solidFill>
                  <a:srgbClr val="001F3D"/>
                </a:solidFill>
                <a:latin typeface="Aptos Narrow" panose="020B0004020202020204" pitchFamily="34" charset="0"/>
                <a:ea typeface="Nourd Semi-Bold"/>
                <a:cs typeface="Nourd Semi-Bold"/>
                <a:sym typeface="Nourd Semi-Bold"/>
              </a:rPr>
              <a:t>SPO2</a:t>
            </a:r>
          </a:p>
        </p:txBody>
      </p:sp>
      <p:sp>
        <p:nvSpPr>
          <p:cNvPr id="55" name="TextBox 55"/>
          <p:cNvSpPr txBox="1"/>
          <p:nvPr/>
        </p:nvSpPr>
        <p:spPr>
          <a:xfrm>
            <a:off x="4092931" y="6230306"/>
            <a:ext cx="589255" cy="153888"/>
          </a:xfrm>
          <a:prstGeom prst="rect">
            <a:avLst/>
          </a:prstGeom>
        </p:spPr>
        <p:txBody>
          <a:bodyPr lIns="0" tIns="0" rIns="0" bIns="0" rtlCol="0" anchor="t">
            <a:spAutoFit/>
          </a:bodyPr>
          <a:lstStyle/>
          <a:p>
            <a:pPr algn="ctr">
              <a:lnSpc>
                <a:spcPts val="1240"/>
              </a:lnSpc>
            </a:pPr>
            <a:r>
              <a:rPr lang="en-US" sz="1000" b="1">
                <a:solidFill>
                  <a:srgbClr val="001F3D"/>
                </a:solidFill>
                <a:latin typeface="Aptos Narrow" panose="020B0004020202020204" pitchFamily="34" charset="0"/>
                <a:ea typeface="Nourd Semi-Bold"/>
                <a:cs typeface="Nourd Semi-Bold"/>
                <a:sym typeface="Nourd Semi-Bold"/>
              </a:rPr>
              <a:t>Bluetooth</a:t>
            </a:r>
          </a:p>
        </p:txBody>
      </p:sp>
      <p:sp>
        <p:nvSpPr>
          <p:cNvPr id="56" name="TextBox 56"/>
          <p:cNvSpPr txBox="1"/>
          <p:nvPr/>
        </p:nvSpPr>
        <p:spPr>
          <a:xfrm>
            <a:off x="5207737" y="6230306"/>
            <a:ext cx="318516" cy="153888"/>
          </a:xfrm>
          <a:prstGeom prst="rect">
            <a:avLst/>
          </a:prstGeom>
        </p:spPr>
        <p:txBody>
          <a:bodyPr lIns="0" tIns="0" rIns="0" bIns="0" rtlCol="0" anchor="t">
            <a:spAutoFit/>
          </a:bodyPr>
          <a:lstStyle/>
          <a:p>
            <a:pPr algn="ctr">
              <a:lnSpc>
                <a:spcPts val="1240"/>
              </a:lnSpc>
            </a:pPr>
            <a:r>
              <a:rPr lang="en-US" sz="1000" b="1" dirty="0">
                <a:solidFill>
                  <a:srgbClr val="001F3D"/>
                </a:solidFill>
                <a:latin typeface="Aptos Narrow" panose="020B0004020202020204" pitchFamily="34" charset="0"/>
                <a:ea typeface="Nourd Semi-Bold"/>
                <a:cs typeface="Nourd Semi-Bold"/>
                <a:sym typeface="Nourd Semi-Bold"/>
              </a:rPr>
              <a:t>Wi-Fi</a:t>
            </a:r>
          </a:p>
        </p:txBody>
      </p:sp>
      <p:sp>
        <p:nvSpPr>
          <p:cNvPr id="57" name="TextBox 57"/>
          <p:cNvSpPr txBox="1"/>
          <p:nvPr/>
        </p:nvSpPr>
        <p:spPr>
          <a:xfrm>
            <a:off x="4315892" y="5361175"/>
            <a:ext cx="1098880" cy="186846"/>
          </a:xfrm>
          <a:prstGeom prst="rect">
            <a:avLst/>
          </a:prstGeom>
        </p:spPr>
        <p:txBody>
          <a:bodyPr lIns="0" tIns="0" rIns="0" bIns="0" rtlCol="0" anchor="t">
            <a:spAutoFit/>
          </a:bodyPr>
          <a:lstStyle/>
          <a:p>
            <a:pPr algn="ctr">
              <a:lnSpc>
                <a:spcPts val="1471"/>
              </a:lnSpc>
            </a:pPr>
            <a:r>
              <a:rPr lang="en-US" sz="1200" b="1">
                <a:solidFill>
                  <a:srgbClr val="001F3D"/>
                </a:solidFill>
                <a:latin typeface="Aptos Narrow" panose="020B0004020202020204" pitchFamily="34" charset="0"/>
                <a:ea typeface="Nourd Bold"/>
                <a:cs typeface="Nourd Bold"/>
                <a:sym typeface="Nourd Bold"/>
              </a:rPr>
              <a:t>IOT GATEWAY</a:t>
            </a:r>
          </a:p>
        </p:txBody>
      </p:sp>
      <p:sp>
        <p:nvSpPr>
          <p:cNvPr id="58" name="TextBox 58"/>
          <p:cNvSpPr txBox="1"/>
          <p:nvPr/>
        </p:nvSpPr>
        <p:spPr>
          <a:xfrm>
            <a:off x="7230313" y="5347112"/>
            <a:ext cx="1210361" cy="185756"/>
          </a:xfrm>
          <a:prstGeom prst="rect">
            <a:avLst/>
          </a:prstGeom>
        </p:spPr>
        <p:txBody>
          <a:bodyPr lIns="0" tIns="0" rIns="0" bIns="0" rtlCol="0" anchor="t">
            <a:spAutoFit/>
          </a:bodyPr>
          <a:lstStyle/>
          <a:p>
            <a:pPr algn="ctr">
              <a:lnSpc>
                <a:spcPts val="1517"/>
              </a:lnSpc>
            </a:pPr>
            <a:r>
              <a:rPr lang="en-US" sz="1200" b="1" dirty="0">
                <a:solidFill>
                  <a:srgbClr val="6E58C4"/>
                </a:solidFill>
                <a:latin typeface="Aptos Narrow" panose="020B0004020202020204" pitchFamily="34" charset="0"/>
                <a:ea typeface="Nourd Bold"/>
                <a:cs typeface="Nourd Bold"/>
                <a:sym typeface="Nourd Bold"/>
              </a:rPr>
              <a:t>CLOUD SERVER</a:t>
            </a:r>
          </a:p>
        </p:txBody>
      </p:sp>
      <p:sp>
        <p:nvSpPr>
          <p:cNvPr id="66" name="TextBox 66"/>
          <p:cNvSpPr txBox="1"/>
          <p:nvPr/>
        </p:nvSpPr>
        <p:spPr>
          <a:xfrm>
            <a:off x="6800317" y="6244368"/>
            <a:ext cx="461848" cy="153888"/>
          </a:xfrm>
          <a:prstGeom prst="rect">
            <a:avLst/>
          </a:prstGeom>
        </p:spPr>
        <p:txBody>
          <a:bodyPr lIns="0" tIns="0" rIns="0" bIns="0" rtlCol="0" anchor="t">
            <a:spAutoFit/>
          </a:bodyPr>
          <a:lstStyle/>
          <a:p>
            <a:pPr algn="ctr">
              <a:lnSpc>
                <a:spcPts val="1194"/>
              </a:lnSpc>
            </a:pPr>
            <a:r>
              <a:rPr lang="en-US" sz="1000" b="1" dirty="0">
                <a:solidFill>
                  <a:srgbClr val="001F3D"/>
                </a:solidFill>
                <a:latin typeface="Aptos Narrow" panose="020B0004020202020204" pitchFamily="34" charset="0"/>
                <a:ea typeface="Nourd Semi-Bold"/>
                <a:cs typeface="Nourd Semi-Bold"/>
                <a:sym typeface="Nourd Semi-Bold"/>
              </a:rPr>
              <a:t>Storage</a:t>
            </a:r>
          </a:p>
        </p:txBody>
      </p:sp>
      <p:sp>
        <p:nvSpPr>
          <p:cNvPr id="67" name="TextBox 67"/>
          <p:cNvSpPr txBox="1"/>
          <p:nvPr/>
        </p:nvSpPr>
        <p:spPr>
          <a:xfrm>
            <a:off x="7580681" y="6230306"/>
            <a:ext cx="637032" cy="153888"/>
          </a:xfrm>
          <a:prstGeom prst="rect">
            <a:avLst/>
          </a:prstGeom>
        </p:spPr>
        <p:txBody>
          <a:bodyPr lIns="0" tIns="0" rIns="0" bIns="0" rtlCol="0" anchor="t">
            <a:spAutoFit/>
          </a:bodyPr>
          <a:lstStyle/>
          <a:p>
            <a:pPr algn="ctr">
              <a:lnSpc>
                <a:spcPts val="1240"/>
              </a:lnSpc>
            </a:pPr>
            <a:r>
              <a:rPr lang="en-US" sz="1000" b="1" dirty="0">
                <a:solidFill>
                  <a:srgbClr val="001F3D"/>
                </a:solidFill>
                <a:latin typeface="Aptos Narrow" panose="020B0004020202020204" pitchFamily="34" charset="0"/>
                <a:ea typeface="Nourd Semi-Bold"/>
                <a:cs typeface="Nourd Semi-Bold"/>
                <a:sym typeface="Nourd Semi-Bold"/>
              </a:rPr>
              <a:t>Analytics</a:t>
            </a:r>
          </a:p>
        </p:txBody>
      </p:sp>
      <p:sp>
        <p:nvSpPr>
          <p:cNvPr id="68" name="TextBox 68"/>
          <p:cNvSpPr txBox="1"/>
          <p:nvPr/>
        </p:nvSpPr>
        <p:spPr>
          <a:xfrm>
            <a:off x="8345119" y="6244368"/>
            <a:ext cx="605180" cy="153888"/>
          </a:xfrm>
          <a:prstGeom prst="rect">
            <a:avLst/>
          </a:prstGeom>
        </p:spPr>
        <p:txBody>
          <a:bodyPr lIns="0" tIns="0" rIns="0" bIns="0" rtlCol="0" anchor="t">
            <a:spAutoFit/>
          </a:bodyPr>
          <a:lstStyle/>
          <a:p>
            <a:pPr algn="ctr">
              <a:lnSpc>
                <a:spcPts val="1194"/>
              </a:lnSpc>
            </a:pPr>
            <a:r>
              <a:rPr lang="en-US" sz="1000" b="1" dirty="0">
                <a:solidFill>
                  <a:srgbClr val="001F3D"/>
                </a:solidFill>
                <a:latin typeface="Aptos Narrow" panose="020B0004020202020204" pitchFamily="34" charset="0"/>
                <a:ea typeface="Nourd Semi-Bold"/>
                <a:cs typeface="Nourd Semi-Bold"/>
                <a:sym typeface="Nourd Semi-Bold"/>
              </a:rPr>
              <a:t>AI Insights</a:t>
            </a:r>
          </a:p>
        </p:txBody>
      </p:sp>
      <p:sp>
        <p:nvSpPr>
          <p:cNvPr id="74" name="TextBox 74"/>
          <p:cNvSpPr txBox="1"/>
          <p:nvPr/>
        </p:nvSpPr>
        <p:spPr>
          <a:xfrm>
            <a:off x="7118833" y="6979231"/>
            <a:ext cx="1560728" cy="273699"/>
          </a:xfrm>
          <a:prstGeom prst="rect">
            <a:avLst/>
          </a:prstGeom>
        </p:spPr>
        <p:txBody>
          <a:bodyPr lIns="0" tIns="0" rIns="0" bIns="0" rtlCol="0" anchor="t">
            <a:spAutoFit/>
          </a:bodyPr>
          <a:lstStyle/>
          <a:p>
            <a:pPr algn="ctr">
              <a:lnSpc>
                <a:spcPts val="2208"/>
              </a:lnSpc>
            </a:pPr>
            <a:r>
              <a:rPr lang="en-US" b="1">
                <a:solidFill>
                  <a:srgbClr val="001F3D"/>
                </a:solidFill>
                <a:latin typeface="Aptos Narrow" panose="020B0004020202020204" pitchFamily="34" charset="0"/>
                <a:ea typeface="Nourd Bold"/>
                <a:cs typeface="Nourd Bold"/>
                <a:sym typeface="Nourd Bold"/>
              </a:rPr>
              <a:t>KEY BENEFITS</a:t>
            </a:r>
          </a:p>
        </p:txBody>
      </p:sp>
      <p:sp>
        <p:nvSpPr>
          <p:cNvPr id="75" name="TextBox 75"/>
          <p:cNvSpPr txBox="1"/>
          <p:nvPr/>
        </p:nvSpPr>
        <p:spPr>
          <a:xfrm>
            <a:off x="2267293" y="7851024"/>
            <a:ext cx="780364" cy="376770"/>
          </a:xfrm>
          <a:prstGeom prst="rect">
            <a:avLst/>
          </a:prstGeom>
        </p:spPr>
        <p:txBody>
          <a:bodyPr lIns="0" tIns="0" rIns="0" bIns="0" rtlCol="0" anchor="t">
            <a:spAutoFit/>
          </a:bodyPr>
          <a:lstStyle/>
          <a:p>
            <a:pPr algn="ctr">
              <a:lnSpc>
                <a:spcPts val="1471"/>
              </a:lnSpc>
            </a:pPr>
            <a:r>
              <a:rPr lang="en-US" sz="1200" b="1" dirty="0">
                <a:solidFill>
                  <a:srgbClr val="001F3D"/>
                </a:solidFill>
                <a:latin typeface="Aptos Narrow" panose="020B0004020202020204" pitchFamily="34" charset="0"/>
                <a:ea typeface="Nourd Semi-Bold"/>
                <a:cs typeface="Nourd Semi-Bold"/>
                <a:sym typeface="Nourd Semi-Bold"/>
              </a:rPr>
              <a:t>Real-time</a:t>
            </a:r>
          </a:p>
          <a:p>
            <a:pPr algn="ctr">
              <a:lnSpc>
                <a:spcPts val="1471"/>
              </a:lnSpc>
            </a:pPr>
            <a:r>
              <a:rPr lang="en-US" sz="1200" b="1" dirty="0">
                <a:solidFill>
                  <a:srgbClr val="001F3D"/>
                </a:solidFill>
                <a:latin typeface="Aptos Narrow" panose="020B0004020202020204" pitchFamily="34" charset="0"/>
                <a:ea typeface="Nourd Semi-Bold"/>
                <a:cs typeface="Nourd Semi-Bold"/>
                <a:sym typeface="Nourd Semi-Bold"/>
              </a:rPr>
              <a:t>Monitoring</a:t>
            </a:r>
          </a:p>
        </p:txBody>
      </p:sp>
      <p:sp>
        <p:nvSpPr>
          <p:cNvPr id="76" name="TextBox 76"/>
          <p:cNvSpPr txBox="1"/>
          <p:nvPr/>
        </p:nvSpPr>
        <p:spPr>
          <a:xfrm>
            <a:off x="4022454" y="7840732"/>
            <a:ext cx="1321841" cy="410369"/>
          </a:xfrm>
          <a:prstGeom prst="rect">
            <a:avLst/>
          </a:prstGeom>
        </p:spPr>
        <p:txBody>
          <a:bodyPr lIns="0" tIns="0" rIns="0" bIns="0" rtlCol="0" anchor="t">
            <a:spAutoFit/>
          </a:bodyPr>
          <a:lstStyle/>
          <a:p>
            <a:pPr algn="ctr">
              <a:lnSpc>
                <a:spcPts val="1563"/>
              </a:lnSpc>
            </a:pPr>
            <a:r>
              <a:rPr lang="en-US" sz="1400" b="1" dirty="0">
                <a:solidFill>
                  <a:srgbClr val="001F3D"/>
                </a:solidFill>
                <a:latin typeface="Aptos Narrow" panose="020B0004020202020204" pitchFamily="34" charset="0"/>
                <a:ea typeface="Nourd Semi-Bold"/>
                <a:cs typeface="Nourd Semi-Bold"/>
                <a:sym typeface="Nourd Semi-Bold"/>
              </a:rPr>
              <a:t>Early Detection &amp;</a:t>
            </a:r>
          </a:p>
          <a:p>
            <a:pPr algn="ctr">
              <a:lnSpc>
                <a:spcPts val="1563"/>
              </a:lnSpc>
            </a:pPr>
            <a:r>
              <a:rPr lang="en-US" sz="1400" b="1" dirty="0">
                <a:solidFill>
                  <a:srgbClr val="001F3D"/>
                </a:solidFill>
                <a:latin typeface="Aptos Narrow" panose="020B0004020202020204" pitchFamily="34" charset="0"/>
                <a:ea typeface="Nourd Semi-Bold"/>
                <a:cs typeface="Nourd Semi-Bold"/>
                <a:sym typeface="Nourd Semi-Bold"/>
              </a:rPr>
              <a:t>Timely Alerts</a:t>
            </a:r>
          </a:p>
        </p:txBody>
      </p:sp>
      <p:sp>
        <p:nvSpPr>
          <p:cNvPr id="77" name="TextBox 77"/>
          <p:cNvSpPr txBox="1"/>
          <p:nvPr/>
        </p:nvSpPr>
        <p:spPr>
          <a:xfrm>
            <a:off x="6402791" y="7829755"/>
            <a:ext cx="891845" cy="410369"/>
          </a:xfrm>
          <a:prstGeom prst="rect">
            <a:avLst/>
          </a:prstGeom>
        </p:spPr>
        <p:txBody>
          <a:bodyPr lIns="0" tIns="0" rIns="0" bIns="0" rtlCol="0" anchor="t">
            <a:spAutoFit/>
          </a:bodyPr>
          <a:lstStyle/>
          <a:p>
            <a:pPr algn="ctr">
              <a:lnSpc>
                <a:spcPts val="1609"/>
              </a:lnSpc>
            </a:pPr>
            <a:r>
              <a:rPr lang="en-US" sz="1400" b="1" dirty="0">
                <a:solidFill>
                  <a:srgbClr val="001F3D"/>
                </a:solidFill>
                <a:latin typeface="Aptos Narrow" panose="020B0004020202020204" pitchFamily="34" charset="0"/>
                <a:ea typeface="Nourd Semi-Bold"/>
                <a:cs typeface="Nourd Semi-Bold"/>
                <a:sym typeface="Nourd Semi-Bold"/>
              </a:rPr>
              <a:t>Data-driven</a:t>
            </a:r>
          </a:p>
          <a:p>
            <a:pPr algn="ctr">
              <a:lnSpc>
                <a:spcPts val="1609"/>
              </a:lnSpc>
            </a:pPr>
            <a:r>
              <a:rPr lang="en-US" sz="1400" b="1" dirty="0">
                <a:solidFill>
                  <a:srgbClr val="001F3D"/>
                </a:solidFill>
                <a:latin typeface="Aptos Narrow" panose="020B0004020202020204" pitchFamily="34" charset="0"/>
                <a:ea typeface="Nourd Semi-Bold"/>
                <a:cs typeface="Nourd Semi-Bold"/>
                <a:sym typeface="Nourd Semi-Bold"/>
              </a:rPr>
              <a:t>Insights</a:t>
            </a:r>
          </a:p>
        </p:txBody>
      </p:sp>
      <p:sp>
        <p:nvSpPr>
          <p:cNvPr id="78" name="TextBox 78"/>
          <p:cNvSpPr txBox="1"/>
          <p:nvPr/>
        </p:nvSpPr>
        <p:spPr>
          <a:xfrm>
            <a:off x="8235031" y="7815865"/>
            <a:ext cx="1688135" cy="385227"/>
          </a:xfrm>
          <a:prstGeom prst="rect">
            <a:avLst/>
          </a:prstGeom>
        </p:spPr>
        <p:txBody>
          <a:bodyPr lIns="0" tIns="0" rIns="0" bIns="0" rtlCol="0" anchor="t">
            <a:spAutoFit/>
          </a:bodyPr>
          <a:lstStyle/>
          <a:p>
            <a:pPr algn="ctr">
              <a:lnSpc>
                <a:spcPts val="1517"/>
              </a:lnSpc>
            </a:pPr>
            <a:r>
              <a:rPr lang="en-US" sz="1400" b="1" dirty="0">
                <a:solidFill>
                  <a:srgbClr val="001F3D"/>
                </a:solidFill>
                <a:latin typeface="Aptos Narrow" panose="020B0004020202020204" pitchFamily="34" charset="0"/>
                <a:ea typeface="Nourd Semi-Bold"/>
                <a:cs typeface="Nourd Semi-Bold"/>
                <a:sym typeface="Nourd Semi-Bold"/>
              </a:rPr>
              <a:t>Improved Patient Care</a:t>
            </a:r>
          </a:p>
          <a:p>
            <a:pPr algn="ctr">
              <a:lnSpc>
                <a:spcPts val="1517"/>
              </a:lnSpc>
            </a:pPr>
            <a:r>
              <a:rPr lang="en-US" sz="1400" b="1" dirty="0">
                <a:solidFill>
                  <a:srgbClr val="001F3D"/>
                </a:solidFill>
                <a:latin typeface="Aptos Narrow" panose="020B0004020202020204" pitchFamily="34" charset="0"/>
                <a:ea typeface="Nourd Semi-Bold"/>
                <a:cs typeface="Nourd Semi-Bold"/>
                <a:sym typeface="Nourd Semi-Bold"/>
              </a:rPr>
              <a:t>&amp; Outcomes</a:t>
            </a:r>
          </a:p>
        </p:txBody>
      </p:sp>
      <p:sp>
        <p:nvSpPr>
          <p:cNvPr id="79" name="TextBox 79"/>
          <p:cNvSpPr txBox="1"/>
          <p:nvPr/>
        </p:nvSpPr>
        <p:spPr>
          <a:xfrm>
            <a:off x="10813618" y="7807241"/>
            <a:ext cx="1210361" cy="410369"/>
          </a:xfrm>
          <a:prstGeom prst="rect">
            <a:avLst/>
          </a:prstGeom>
        </p:spPr>
        <p:txBody>
          <a:bodyPr lIns="0" tIns="0" rIns="0" bIns="0" rtlCol="0" anchor="t">
            <a:spAutoFit/>
          </a:bodyPr>
          <a:lstStyle/>
          <a:p>
            <a:pPr algn="ctr">
              <a:lnSpc>
                <a:spcPts val="1609"/>
              </a:lnSpc>
            </a:pPr>
            <a:r>
              <a:rPr lang="en-US" sz="1400" b="1" dirty="0">
                <a:solidFill>
                  <a:srgbClr val="001F3D"/>
                </a:solidFill>
                <a:latin typeface="Aptos Narrow" panose="020B0004020202020204" pitchFamily="34" charset="0"/>
                <a:ea typeface="Nourd Semi-Bold"/>
                <a:cs typeface="Nourd Semi-Bold"/>
                <a:sym typeface="Nourd Semi-Bold"/>
              </a:rPr>
              <a:t>Continuous</a:t>
            </a:r>
          </a:p>
          <a:p>
            <a:pPr algn="ctr">
              <a:lnSpc>
                <a:spcPts val="1609"/>
              </a:lnSpc>
            </a:pPr>
            <a:r>
              <a:rPr lang="en-US" sz="1400" b="1" dirty="0">
                <a:solidFill>
                  <a:srgbClr val="001F3D"/>
                </a:solidFill>
                <a:latin typeface="Aptos Narrow" panose="020B0004020202020204" pitchFamily="34" charset="0"/>
                <a:ea typeface="Nourd Semi-Bold"/>
                <a:cs typeface="Nourd Semi-Bold"/>
                <a:sym typeface="Nourd Semi-Bold"/>
              </a:rPr>
              <a:t>Health Tracking</a:t>
            </a:r>
          </a:p>
        </p:txBody>
      </p:sp>
      <p:sp>
        <p:nvSpPr>
          <p:cNvPr id="80" name="TextBox 80"/>
          <p:cNvSpPr txBox="1"/>
          <p:nvPr/>
        </p:nvSpPr>
        <p:spPr>
          <a:xfrm>
            <a:off x="13044223" y="7769388"/>
            <a:ext cx="1051103" cy="410369"/>
          </a:xfrm>
          <a:prstGeom prst="rect">
            <a:avLst/>
          </a:prstGeom>
        </p:spPr>
        <p:txBody>
          <a:bodyPr lIns="0" tIns="0" rIns="0" bIns="0" rtlCol="0" anchor="t">
            <a:spAutoFit/>
          </a:bodyPr>
          <a:lstStyle/>
          <a:p>
            <a:pPr algn="ctr">
              <a:lnSpc>
                <a:spcPts val="1563"/>
              </a:lnSpc>
            </a:pPr>
            <a:r>
              <a:rPr lang="en-US" sz="1400" b="1" dirty="0">
                <a:solidFill>
                  <a:srgbClr val="001F3D"/>
                </a:solidFill>
                <a:latin typeface="Aptos Narrow" panose="020B0004020202020204" pitchFamily="34" charset="0"/>
                <a:ea typeface="Nourd Semi-Bold"/>
                <a:cs typeface="Nourd Semi-Bold"/>
                <a:sym typeface="Nourd Semi-Bold"/>
              </a:rPr>
              <a:t>Cost-effective</a:t>
            </a:r>
          </a:p>
          <a:p>
            <a:pPr algn="ctr">
              <a:lnSpc>
                <a:spcPts val="1563"/>
              </a:lnSpc>
            </a:pPr>
            <a:r>
              <a:rPr lang="en-US" sz="1400" b="1" dirty="0">
                <a:solidFill>
                  <a:srgbClr val="001F3D"/>
                </a:solidFill>
                <a:latin typeface="Aptos Narrow" panose="020B0004020202020204" pitchFamily="34" charset="0"/>
                <a:ea typeface="Nourd Semi-Bold"/>
                <a:cs typeface="Nourd Semi-Bold"/>
                <a:sym typeface="Nourd Semi-Bold"/>
              </a:rPr>
              <a:t>Healthcare</a:t>
            </a:r>
          </a:p>
        </p:txBody>
      </p:sp>
      <p:sp>
        <p:nvSpPr>
          <p:cNvPr id="82" name="Rectangle: Rounded Corners 81">
            <a:extLst>
              <a:ext uri="{FF2B5EF4-FFF2-40B4-BE49-F238E27FC236}">
                <a16:creationId xmlns:a16="http://schemas.microsoft.com/office/drawing/2014/main" id="{C888A57F-119E-4597-E03C-BA451461697E}"/>
              </a:ext>
            </a:extLst>
          </p:cNvPr>
          <p:cNvSpPr/>
          <p:nvPr/>
        </p:nvSpPr>
        <p:spPr>
          <a:xfrm>
            <a:off x="12837473" y="3294537"/>
            <a:ext cx="2526352" cy="331299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1" name="TextBox 71"/>
          <p:cNvSpPr txBox="1"/>
          <p:nvPr/>
        </p:nvSpPr>
        <p:spPr>
          <a:xfrm>
            <a:off x="13379441" y="5791942"/>
            <a:ext cx="2598098" cy="153055"/>
          </a:xfrm>
          <a:prstGeom prst="rect">
            <a:avLst/>
          </a:prstGeom>
        </p:spPr>
        <p:txBody>
          <a:bodyPr wrap="square" lIns="0" tIns="0" rIns="0" bIns="0" rtlCol="0" anchor="t">
            <a:spAutoFit/>
          </a:bodyPr>
          <a:lstStyle/>
          <a:p>
            <a:pPr algn="l">
              <a:lnSpc>
                <a:spcPts val="1010"/>
              </a:lnSpc>
            </a:pPr>
            <a:r>
              <a:rPr lang="en-US" sz="1600" b="1" dirty="0">
                <a:solidFill>
                  <a:srgbClr val="001F3D"/>
                </a:solidFill>
                <a:latin typeface="Aptos Narrow" panose="020B0004020202020204" pitchFamily="34" charset="0"/>
                <a:ea typeface="Nourd Semi-Bold"/>
                <a:cs typeface="Nourd Semi-Bold"/>
                <a:sym typeface="Nourd Semi-Bold"/>
              </a:rPr>
              <a:t>Push Notifications</a:t>
            </a:r>
          </a:p>
        </p:txBody>
      </p:sp>
      <p:sp>
        <p:nvSpPr>
          <p:cNvPr id="83" name="Freeform 37">
            <a:extLst>
              <a:ext uri="{FF2B5EF4-FFF2-40B4-BE49-F238E27FC236}">
                <a16:creationId xmlns:a16="http://schemas.microsoft.com/office/drawing/2014/main" id="{2489D80E-3C72-EFC2-36D0-B926716EBB7E}"/>
              </a:ext>
            </a:extLst>
          </p:cNvPr>
          <p:cNvSpPr/>
          <p:nvPr/>
        </p:nvSpPr>
        <p:spPr>
          <a:xfrm>
            <a:off x="12184702" y="4059063"/>
            <a:ext cx="771525" cy="752475"/>
          </a:xfrm>
          <a:custGeom>
            <a:avLst/>
            <a:gdLst/>
            <a:ahLst/>
            <a:cxnLst/>
            <a:rect l="l" t="t" r="r" b="b"/>
            <a:pathLst>
              <a:path w="771525" h="752475">
                <a:moveTo>
                  <a:pt x="0" y="0"/>
                </a:moveTo>
                <a:lnTo>
                  <a:pt x="771525" y="0"/>
                </a:lnTo>
                <a:lnTo>
                  <a:pt x="771525" y="752475"/>
                </a:lnTo>
                <a:lnTo>
                  <a:pt x="0" y="752475"/>
                </a:lnTo>
                <a:lnTo>
                  <a:pt x="0" y="0"/>
                </a:lnTo>
                <a:close/>
              </a:path>
            </a:pathLst>
          </a:custGeom>
          <a:blipFill>
            <a:blip r:embed="rId30"/>
            <a:stretch>
              <a:fillRect/>
            </a:stretch>
          </a:blipFill>
        </p:spPr>
        <p:txBody>
          <a:bodyPr/>
          <a:lstStyle/>
          <a:p>
            <a:endParaRPr lang="en-IN" dirty="0"/>
          </a:p>
        </p:txBody>
      </p:sp>
      <p:pic>
        <p:nvPicPr>
          <p:cNvPr id="85" name="Picture 84">
            <a:extLst>
              <a:ext uri="{FF2B5EF4-FFF2-40B4-BE49-F238E27FC236}">
                <a16:creationId xmlns:a16="http://schemas.microsoft.com/office/drawing/2014/main" id="{6037C5E4-D0BA-B884-606E-D3CA8F9D9F28}"/>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13027820" y="3455614"/>
            <a:ext cx="2119312" cy="2119312"/>
          </a:xfrm>
          <a:prstGeom prst="rect">
            <a:avLst/>
          </a:prstGeom>
        </p:spPr>
      </p:pic>
      <p:pic>
        <p:nvPicPr>
          <p:cNvPr id="88" name="Picture 87">
            <a:extLst>
              <a:ext uri="{FF2B5EF4-FFF2-40B4-BE49-F238E27FC236}">
                <a16:creationId xmlns:a16="http://schemas.microsoft.com/office/drawing/2014/main" id="{DF6ACD48-998F-6264-184A-52CD0207120F}"/>
              </a:ext>
            </a:extLst>
          </p:cNvPr>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4073190" y="5686423"/>
            <a:ext cx="571501" cy="571501"/>
          </a:xfrm>
          <a:prstGeom prst="rect">
            <a:avLst/>
          </a:prstGeom>
        </p:spPr>
      </p:pic>
      <p:pic>
        <p:nvPicPr>
          <p:cNvPr id="90" name="Picture 89">
            <a:extLst>
              <a:ext uri="{FF2B5EF4-FFF2-40B4-BE49-F238E27FC236}">
                <a16:creationId xmlns:a16="http://schemas.microsoft.com/office/drawing/2014/main" id="{77BB6C2B-762E-4476-FBFB-AB548C06ABC8}"/>
              </a:ext>
            </a:extLst>
          </p:cNvPr>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5033084" y="5623150"/>
            <a:ext cx="667821" cy="66782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Freeform 37">
            <a:extLst>
              <a:ext uri="{FF2B5EF4-FFF2-40B4-BE49-F238E27FC236}">
                <a16:creationId xmlns:a16="http://schemas.microsoft.com/office/drawing/2014/main" id="{22CC83B4-9D25-CA28-00BD-8540B3A6D6C9}"/>
              </a:ext>
            </a:extLst>
          </p:cNvPr>
          <p:cNvSpPr/>
          <p:nvPr/>
        </p:nvSpPr>
        <p:spPr>
          <a:xfrm>
            <a:off x="9473874" y="1713275"/>
            <a:ext cx="2667000" cy="4676775"/>
          </a:xfrm>
          <a:custGeom>
            <a:avLst/>
            <a:gdLst/>
            <a:ahLst/>
            <a:cxnLst/>
            <a:rect l="l" t="t" r="r" b="b"/>
            <a:pathLst>
              <a:path w="2667000" h="4676775">
                <a:moveTo>
                  <a:pt x="0" y="0"/>
                </a:moveTo>
                <a:lnTo>
                  <a:pt x="2667000" y="0"/>
                </a:lnTo>
                <a:lnTo>
                  <a:pt x="2667000" y="4676775"/>
                </a:lnTo>
                <a:lnTo>
                  <a:pt x="0" y="4676775"/>
                </a:lnTo>
                <a:lnTo>
                  <a:pt x="0" y="0"/>
                </a:lnTo>
                <a:close/>
              </a:path>
            </a:pathLst>
          </a:custGeom>
          <a:blipFill>
            <a:blip r:embed="rId2"/>
            <a:stretch>
              <a:fillRect/>
            </a:stretch>
          </a:blipFill>
        </p:spPr>
        <p:txBody>
          <a:bodyPr/>
          <a:lstStyle/>
          <a:p>
            <a:endParaRPr lang="en-IN" dirty="0"/>
          </a:p>
        </p:txBody>
      </p:sp>
      <p:sp>
        <p:nvSpPr>
          <p:cNvPr id="3" name="Freeform 3"/>
          <p:cNvSpPr/>
          <p:nvPr/>
        </p:nvSpPr>
        <p:spPr>
          <a:xfrm>
            <a:off x="0" y="0"/>
            <a:ext cx="1714500" cy="1314450"/>
          </a:xfrm>
          <a:custGeom>
            <a:avLst/>
            <a:gdLst/>
            <a:ahLst/>
            <a:cxnLst/>
            <a:rect l="l" t="t" r="r" b="b"/>
            <a:pathLst>
              <a:path w="1714500" h="1314450">
                <a:moveTo>
                  <a:pt x="0" y="0"/>
                </a:moveTo>
                <a:lnTo>
                  <a:pt x="1714500" y="0"/>
                </a:lnTo>
                <a:lnTo>
                  <a:pt x="1714500" y="1314450"/>
                </a:lnTo>
                <a:lnTo>
                  <a:pt x="0" y="1314450"/>
                </a:lnTo>
                <a:lnTo>
                  <a:pt x="0" y="0"/>
                </a:lnTo>
                <a:close/>
              </a:path>
            </a:pathLst>
          </a:custGeom>
          <a:blipFill>
            <a:blip r:embed="rId3"/>
            <a:stretch>
              <a:fillRect/>
            </a:stretch>
          </a:blipFill>
        </p:spPr>
      </p:sp>
      <p:sp>
        <p:nvSpPr>
          <p:cNvPr id="4" name="Freeform 4"/>
          <p:cNvSpPr/>
          <p:nvPr/>
        </p:nvSpPr>
        <p:spPr>
          <a:xfrm>
            <a:off x="561975" y="371475"/>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4"/>
            <a:stretch>
              <a:fillRect/>
            </a:stretch>
          </a:blipFill>
        </p:spPr>
      </p:sp>
      <p:sp>
        <p:nvSpPr>
          <p:cNvPr id="5" name="Freeform 5"/>
          <p:cNvSpPr/>
          <p:nvPr/>
        </p:nvSpPr>
        <p:spPr>
          <a:xfrm>
            <a:off x="12170367" y="0"/>
            <a:ext cx="3800475" cy="2428875"/>
          </a:xfrm>
          <a:custGeom>
            <a:avLst/>
            <a:gdLst/>
            <a:ahLst/>
            <a:cxnLst/>
            <a:rect l="l" t="t" r="r" b="b"/>
            <a:pathLst>
              <a:path w="3800475" h="2428875">
                <a:moveTo>
                  <a:pt x="0" y="0"/>
                </a:moveTo>
                <a:lnTo>
                  <a:pt x="3800475" y="0"/>
                </a:lnTo>
                <a:lnTo>
                  <a:pt x="3800475" y="2428875"/>
                </a:lnTo>
                <a:lnTo>
                  <a:pt x="0" y="2428875"/>
                </a:lnTo>
                <a:lnTo>
                  <a:pt x="0" y="0"/>
                </a:lnTo>
                <a:close/>
              </a:path>
            </a:pathLst>
          </a:custGeom>
          <a:blipFill>
            <a:blip r:embed="rId5"/>
            <a:stretch>
              <a:fillRect/>
            </a:stretch>
          </a:blipFill>
        </p:spPr>
      </p:sp>
      <p:sp>
        <p:nvSpPr>
          <p:cNvPr id="6" name="Freeform 6"/>
          <p:cNvSpPr/>
          <p:nvPr/>
        </p:nvSpPr>
        <p:spPr>
          <a:xfrm>
            <a:off x="14592300" y="180975"/>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6"/>
            <a:stretch>
              <a:fillRect/>
            </a:stretch>
          </a:blipFill>
        </p:spPr>
      </p:sp>
      <p:sp>
        <p:nvSpPr>
          <p:cNvPr id="7" name="TextBox 7"/>
          <p:cNvSpPr txBox="1"/>
          <p:nvPr/>
        </p:nvSpPr>
        <p:spPr>
          <a:xfrm>
            <a:off x="1956070" y="234125"/>
            <a:ext cx="12166452" cy="753599"/>
          </a:xfrm>
          <a:prstGeom prst="rect">
            <a:avLst/>
          </a:prstGeom>
        </p:spPr>
        <p:txBody>
          <a:bodyPr wrap="square" lIns="0" tIns="0" rIns="0" bIns="0" rtlCol="0" anchor="t">
            <a:spAutoFit/>
          </a:bodyPr>
          <a:lstStyle/>
          <a:p>
            <a:pPr algn="ctr">
              <a:lnSpc>
                <a:spcPts val="5669"/>
              </a:lnSpc>
            </a:pPr>
            <a:r>
              <a:rPr lang="en-US" sz="5669" b="1" dirty="0">
                <a:solidFill>
                  <a:srgbClr val="002F5D"/>
                </a:solidFill>
                <a:latin typeface="Bebas Neue Bold"/>
                <a:ea typeface="Bebas Neue Bold"/>
                <a:cs typeface="Bebas Neue Bold"/>
                <a:sym typeface="Bebas Neue Bold"/>
              </a:rPr>
              <a:t>Methodology &amp; </a:t>
            </a:r>
            <a:r>
              <a:rPr lang="en-US" sz="5669" b="1" dirty="0">
                <a:solidFill>
                  <a:srgbClr val="008F8D"/>
                </a:solidFill>
                <a:latin typeface="Bebas Neue Bold"/>
                <a:ea typeface="Bebas Neue Bold"/>
                <a:cs typeface="Bebas Neue Bold"/>
                <a:sym typeface="Bebas Neue Bold"/>
              </a:rPr>
              <a:t>Technical Strategy</a:t>
            </a:r>
          </a:p>
        </p:txBody>
      </p:sp>
      <p:sp>
        <p:nvSpPr>
          <p:cNvPr id="8" name="TextBox 8"/>
          <p:cNvSpPr txBox="1"/>
          <p:nvPr/>
        </p:nvSpPr>
        <p:spPr>
          <a:xfrm>
            <a:off x="2675534" y="1221849"/>
            <a:ext cx="10574731" cy="281487"/>
          </a:xfrm>
          <a:prstGeom prst="rect">
            <a:avLst/>
          </a:prstGeom>
        </p:spPr>
        <p:txBody>
          <a:bodyPr wrap="square" lIns="0" tIns="0" rIns="0" bIns="0" rtlCol="0" anchor="t">
            <a:spAutoFit/>
          </a:bodyPr>
          <a:lstStyle/>
          <a:p>
            <a:pPr algn="ctr">
              <a:lnSpc>
                <a:spcPts val="2428"/>
              </a:lnSpc>
            </a:pPr>
            <a:r>
              <a:rPr lang="en-US" sz="1734" b="1" dirty="0">
                <a:solidFill>
                  <a:srgbClr val="002F5D"/>
                </a:solidFill>
                <a:latin typeface="Nunito Bold"/>
                <a:ea typeface="Nunito Bold"/>
                <a:cs typeface="Nunito Bold"/>
                <a:sym typeface="Nunito Bold"/>
              </a:rPr>
              <a:t>A smart, connected approach to real-time patient health monitoring</a:t>
            </a:r>
          </a:p>
        </p:txBody>
      </p:sp>
      <p:sp>
        <p:nvSpPr>
          <p:cNvPr id="9" name="Freeform 9"/>
          <p:cNvSpPr/>
          <p:nvPr/>
        </p:nvSpPr>
        <p:spPr>
          <a:xfrm>
            <a:off x="1704975" y="1485900"/>
            <a:ext cx="11382375" cy="200025"/>
          </a:xfrm>
          <a:custGeom>
            <a:avLst/>
            <a:gdLst/>
            <a:ahLst/>
            <a:cxnLst/>
            <a:rect l="l" t="t" r="r" b="b"/>
            <a:pathLst>
              <a:path w="11382375" h="200025">
                <a:moveTo>
                  <a:pt x="0" y="0"/>
                </a:moveTo>
                <a:lnTo>
                  <a:pt x="11382375" y="0"/>
                </a:lnTo>
                <a:lnTo>
                  <a:pt x="11382375" y="200025"/>
                </a:lnTo>
                <a:lnTo>
                  <a:pt x="0" y="200025"/>
                </a:lnTo>
                <a:lnTo>
                  <a:pt x="0" y="0"/>
                </a:lnTo>
                <a:close/>
              </a:path>
            </a:pathLst>
          </a:custGeom>
          <a:blipFill>
            <a:blip r:embed="rId7"/>
            <a:stretch>
              <a:fillRect/>
            </a:stretch>
          </a:blipFill>
        </p:spPr>
      </p:sp>
      <p:sp>
        <p:nvSpPr>
          <p:cNvPr id="10" name="Freeform 10"/>
          <p:cNvSpPr/>
          <p:nvPr/>
        </p:nvSpPr>
        <p:spPr>
          <a:xfrm>
            <a:off x="8905875" y="1114425"/>
            <a:ext cx="771525" cy="571500"/>
          </a:xfrm>
          <a:custGeom>
            <a:avLst/>
            <a:gdLst/>
            <a:ahLst/>
            <a:cxnLst/>
            <a:rect l="l" t="t" r="r" b="b"/>
            <a:pathLst>
              <a:path w="771525" h="571500">
                <a:moveTo>
                  <a:pt x="0" y="0"/>
                </a:moveTo>
                <a:lnTo>
                  <a:pt x="771525" y="0"/>
                </a:lnTo>
                <a:lnTo>
                  <a:pt x="771525" y="571500"/>
                </a:lnTo>
                <a:lnTo>
                  <a:pt x="0" y="571500"/>
                </a:lnTo>
                <a:lnTo>
                  <a:pt x="0" y="0"/>
                </a:lnTo>
                <a:close/>
              </a:path>
            </a:pathLst>
          </a:custGeom>
          <a:blipFill>
            <a:blip r:embed="rId8"/>
            <a:stretch>
              <a:fillRect/>
            </a:stretch>
          </a:blipFill>
        </p:spPr>
      </p:sp>
      <p:sp>
        <p:nvSpPr>
          <p:cNvPr id="11" name="Freeform 11"/>
          <p:cNvSpPr/>
          <p:nvPr/>
        </p:nvSpPr>
        <p:spPr>
          <a:xfrm>
            <a:off x="371475" y="1676400"/>
            <a:ext cx="2857500" cy="4676775"/>
          </a:xfrm>
          <a:custGeom>
            <a:avLst/>
            <a:gdLst/>
            <a:ahLst/>
            <a:cxnLst/>
            <a:rect l="l" t="t" r="r" b="b"/>
            <a:pathLst>
              <a:path w="2857500" h="4676775">
                <a:moveTo>
                  <a:pt x="0" y="0"/>
                </a:moveTo>
                <a:lnTo>
                  <a:pt x="2857500" y="0"/>
                </a:lnTo>
                <a:lnTo>
                  <a:pt x="2857500" y="4676775"/>
                </a:lnTo>
                <a:lnTo>
                  <a:pt x="0" y="4676775"/>
                </a:lnTo>
                <a:lnTo>
                  <a:pt x="0" y="0"/>
                </a:lnTo>
                <a:close/>
              </a:path>
            </a:pathLst>
          </a:custGeom>
          <a:blipFill>
            <a:blip r:embed="rId9"/>
            <a:stretch>
              <a:fillRect/>
            </a:stretch>
          </a:blipFill>
        </p:spPr>
      </p:sp>
      <p:sp>
        <p:nvSpPr>
          <p:cNvPr id="12" name="Freeform 12"/>
          <p:cNvSpPr/>
          <p:nvPr/>
        </p:nvSpPr>
        <p:spPr>
          <a:xfrm>
            <a:off x="752475" y="1866900"/>
            <a:ext cx="2095500" cy="561975"/>
          </a:xfrm>
          <a:custGeom>
            <a:avLst/>
            <a:gdLst/>
            <a:ahLst/>
            <a:cxnLst/>
            <a:rect l="l" t="t" r="r" b="b"/>
            <a:pathLst>
              <a:path w="2095500" h="561975">
                <a:moveTo>
                  <a:pt x="0" y="0"/>
                </a:moveTo>
                <a:lnTo>
                  <a:pt x="2095500" y="0"/>
                </a:lnTo>
                <a:lnTo>
                  <a:pt x="2095500" y="561975"/>
                </a:lnTo>
                <a:lnTo>
                  <a:pt x="0" y="561975"/>
                </a:lnTo>
                <a:lnTo>
                  <a:pt x="0" y="0"/>
                </a:lnTo>
                <a:close/>
              </a:path>
            </a:pathLst>
          </a:custGeom>
          <a:blipFill>
            <a:blip r:embed="rId10"/>
            <a:stretch>
              <a:fillRect/>
            </a:stretch>
          </a:blipFill>
        </p:spPr>
      </p:sp>
      <p:sp>
        <p:nvSpPr>
          <p:cNvPr id="13" name="TextBox 13"/>
          <p:cNvSpPr txBox="1"/>
          <p:nvPr/>
        </p:nvSpPr>
        <p:spPr>
          <a:xfrm>
            <a:off x="1003325" y="2015912"/>
            <a:ext cx="1528877" cy="211340"/>
          </a:xfrm>
          <a:prstGeom prst="rect">
            <a:avLst/>
          </a:prstGeom>
        </p:spPr>
        <p:txBody>
          <a:bodyPr lIns="0" tIns="0" rIns="0" bIns="0" rtlCol="0" anchor="t">
            <a:spAutoFit/>
          </a:bodyPr>
          <a:lstStyle/>
          <a:p>
            <a:pPr algn="ctr">
              <a:lnSpc>
                <a:spcPts val="1832"/>
              </a:lnSpc>
            </a:pPr>
            <a:r>
              <a:rPr lang="en-US" sz="1308" b="1" dirty="0">
                <a:solidFill>
                  <a:srgbClr val="FFFFFF"/>
                </a:solidFill>
                <a:latin typeface="Nunito Ultra-Bold"/>
                <a:ea typeface="Nunito Ultra-Bold"/>
                <a:cs typeface="Nunito Ultra-Bold"/>
                <a:sym typeface="Nunito Ultra-Bold"/>
              </a:rPr>
              <a:t>1. SENSING </a:t>
            </a:r>
          </a:p>
        </p:txBody>
      </p:sp>
      <p:sp>
        <p:nvSpPr>
          <p:cNvPr id="14" name="TextBox 14"/>
          <p:cNvSpPr txBox="1"/>
          <p:nvPr/>
        </p:nvSpPr>
        <p:spPr>
          <a:xfrm>
            <a:off x="923696" y="2411532"/>
            <a:ext cx="1783690" cy="589478"/>
          </a:xfrm>
          <a:prstGeom prst="rect">
            <a:avLst/>
          </a:prstGeom>
        </p:spPr>
        <p:txBody>
          <a:bodyPr lIns="0" tIns="0" rIns="0" bIns="0" rtlCol="0" anchor="t">
            <a:spAutoFit/>
          </a:bodyPr>
          <a:lstStyle/>
          <a:p>
            <a:pPr algn="ctr">
              <a:lnSpc>
                <a:spcPts val="1634"/>
              </a:lnSpc>
            </a:pPr>
            <a:r>
              <a:rPr lang="en-US" sz="1167" b="1">
                <a:solidFill>
                  <a:srgbClr val="002F5D"/>
                </a:solidFill>
                <a:latin typeface="Nunito Bold"/>
                <a:ea typeface="Nunito Bold"/>
                <a:cs typeface="Nunito Bold"/>
                <a:sym typeface="Nunito Bold"/>
              </a:rPr>
              <a:t>Wearable/portable sensors continuously measure vital signs.</a:t>
            </a:r>
          </a:p>
        </p:txBody>
      </p:sp>
      <p:sp>
        <p:nvSpPr>
          <p:cNvPr id="15" name="Freeform 15"/>
          <p:cNvSpPr/>
          <p:nvPr/>
        </p:nvSpPr>
        <p:spPr>
          <a:xfrm>
            <a:off x="371475" y="2981325"/>
            <a:ext cx="1343025" cy="3181350"/>
          </a:xfrm>
          <a:custGeom>
            <a:avLst/>
            <a:gdLst/>
            <a:ahLst/>
            <a:cxnLst/>
            <a:rect l="l" t="t" r="r" b="b"/>
            <a:pathLst>
              <a:path w="1343025" h="3181350">
                <a:moveTo>
                  <a:pt x="0" y="0"/>
                </a:moveTo>
                <a:lnTo>
                  <a:pt x="1343025" y="0"/>
                </a:lnTo>
                <a:lnTo>
                  <a:pt x="1343025" y="3181350"/>
                </a:lnTo>
                <a:lnTo>
                  <a:pt x="0" y="3181350"/>
                </a:lnTo>
                <a:lnTo>
                  <a:pt x="0" y="0"/>
                </a:lnTo>
                <a:close/>
              </a:path>
            </a:pathLst>
          </a:custGeom>
          <a:blipFill>
            <a:blip r:embed="rId11"/>
            <a:stretch>
              <a:fillRect/>
            </a:stretch>
          </a:blipFill>
        </p:spPr>
      </p:sp>
      <p:sp>
        <p:nvSpPr>
          <p:cNvPr id="16" name="Freeform 16"/>
          <p:cNvSpPr/>
          <p:nvPr/>
        </p:nvSpPr>
        <p:spPr>
          <a:xfrm>
            <a:off x="1704975" y="2981325"/>
            <a:ext cx="1333500" cy="942975"/>
          </a:xfrm>
          <a:custGeom>
            <a:avLst/>
            <a:gdLst/>
            <a:ahLst/>
            <a:cxnLst/>
            <a:rect l="l" t="t" r="r" b="b"/>
            <a:pathLst>
              <a:path w="1333500" h="942975">
                <a:moveTo>
                  <a:pt x="0" y="0"/>
                </a:moveTo>
                <a:lnTo>
                  <a:pt x="1333500" y="0"/>
                </a:lnTo>
                <a:lnTo>
                  <a:pt x="1333500" y="942975"/>
                </a:lnTo>
                <a:lnTo>
                  <a:pt x="0" y="942975"/>
                </a:lnTo>
                <a:lnTo>
                  <a:pt x="0" y="0"/>
                </a:lnTo>
                <a:close/>
              </a:path>
            </a:pathLst>
          </a:custGeom>
          <a:blipFill>
            <a:blip r:embed="rId12"/>
            <a:stretch>
              <a:fillRect/>
            </a:stretch>
          </a:blipFill>
        </p:spPr>
      </p:sp>
      <p:sp>
        <p:nvSpPr>
          <p:cNvPr id="17" name="Freeform 17"/>
          <p:cNvSpPr/>
          <p:nvPr/>
        </p:nvSpPr>
        <p:spPr>
          <a:xfrm>
            <a:off x="1704975" y="317182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13"/>
            <a:stretch>
              <a:fillRect/>
            </a:stretch>
          </a:blipFill>
        </p:spPr>
      </p:sp>
      <p:sp>
        <p:nvSpPr>
          <p:cNvPr id="18" name="Freeform 18"/>
          <p:cNvSpPr/>
          <p:nvPr/>
        </p:nvSpPr>
        <p:spPr>
          <a:xfrm>
            <a:off x="1704975" y="3914775"/>
            <a:ext cx="1333500" cy="762000"/>
          </a:xfrm>
          <a:custGeom>
            <a:avLst/>
            <a:gdLst/>
            <a:ahLst/>
            <a:cxnLst/>
            <a:rect l="l" t="t" r="r" b="b"/>
            <a:pathLst>
              <a:path w="1333500" h="762000">
                <a:moveTo>
                  <a:pt x="0" y="0"/>
                </a:moveTo>
                <a:lnTo>
                  <a:pt x="1333500" y="0"/>
                </a:lnTo>
                <a:lnTo>
                  <a:pt x="1333500" y="762000"/>
                </a:lnTo>
                <a:lnTo>
                  <a:pt x="0" y="762000"/>
                </a:lnTo>
                <a:lnTo>
                  <a:pt x="0" y="0"/>
                </a:lnTo>
                <a:close/>
              </a:path>
            </a:pathLst>
          </a:custGeom>
          <a:blipFill>
            <a:blip r:embed="rId14"/>
            <a:stretch>
              <a:fillRect/>
            </a:stretch>
          </a:blipFill>
        </p:spPr>
      </p:sp>
      <p:sp>
        <p:nvSpPr>
          <p:cNvPr id="19" name="Freeform 19"/>
          <p:cNvSpPr/>
          <p:nvPr/>
        </p:nvSpPr>
        <p:spPr>
          <a:xfrm>
            <a:off x="1704975" y="391477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15"/>
            <a:stretch>
              <a:fillRect/>
            </a:stretch>
          </a:blipFill>
        </p:spPr>
      </p:sp>
      <p:sp>
        <p:nvSpPr>
          <p:cNvPr id="20" name="Freeform 20"/>
          <p:cNvSpPr/>
          <p:nvPr/>
        </p:nvSpPr>
        <p:spPr>
          <a:xfrm>
            <a:off x="1704975" y="4667250"/>
            <a:ext cx="1333500" cy="942975"/>
          </a:xfrm>
          <a:custGeom>
            <a:avLst/>
            <a:gdLst/>
            <a:ahLst/>
            <a:cxnLst/>
            <a:rect l="l" t="t" r="r" b="b"/>
            <a:pathLst>
              <a:path w="1333500" h="942975">
                <a:moveTo>
                  <a:pt x="0" y="0"/>
                </a:moveTo>
                <a:lnTo>
                  <a:pt x="1333500" y="0"/>
                </a:lnTo>
                <a:lnTo>
                  <a:pt x="1333500" y="942975"/>
                </a:lnTo>
                <a:lnTo>
                  <a:pt x="0" y="942975"/>
                </a:lnTo>
                <a:lnTo>
                  <a:pt x="0" y="0"/>
                </a:lnTo>
                <a:close/>
              </a:path>
            </a:pathLst>
          </a:custGeom>
          <a:blipFill>
            <a:blip r:embed="rId16"/>
            <a:stretch>
              <a:fillRect/>
            </a:stretch>
          </a:blipFill>
        </p:spPr>
      </p:sp>
      <p:sp>
        <p:nvSpPr>
          <p:cNvPr id="21" name="Freeform 21"/>
          <p:cNvSpPr/>
          <p:nvPr/>
        </p:nvSpPr>
        <p:spPr>
          <a:xfrm>
            <a:off x="1704975" y="484822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17"/>
            <a:stretch>
              <a:fillRect/>
            </a:stretch>
          </a:blipFill>
        </p:spPr>
      </p:sp>
      <p:sp>
        <p:nvSpPr>
          <p:cNvPr id="22" name="Freeform 22"/>
          <p:cNvSpPr/>
          <p:nvPr/>
        </p:nvSpPr>
        <p:spPr>
          <a:xfrm>
            <a:off x="3028950" y="3733800"/>
            <a:ext cx="581025" cy="561975"/>
          </a:xfrm>
          <a:custGeom>
            <a:avLst/>
            <a:gdLst/>
            <a:ahLst/>
            <a:cxnLst/>
            <a:rect l="l" t="t" r="r" b="b"/>
            <a:pathLst>
              <a:path w="581025" h="561975">
                <a:moveTo>
                  <a:pt x="0" y="0"/>
                </a:moveTo>
                <a:lnTo>
                  <a:pt x="581025" y="0"/>
                </a:lnTo>
                <a:lnTo>
                  <a:pt x="581025" y="561975"/>
                </a:lnTo>
                <a:lnTo>
                  <a:pt x="0" y="561975"/>
                </a:lnTo>
                <a:lnTo>
                  <a:pt x="0" y="0"/>
                </a:lnTo>
                <a:close/>
              </a:path>
            </a:pathLst>
          </a:custGeom>
          <a:blipFill>
            <a:blip r:embed="rId18"/>
            <a:stretch>
              <a:fillRect/>
            </a:stretch>
          </a:blipFill>
        </p:spPr>
      </p:sp>
      <p:sp>
        <p:nvSpPr>
          <p:cNvPr id="23" name="Freeform 23"/>
          <p:cNvSpPr/>
          <p:nvPr/>
        </p:nvSpPr>
        <p:spPr>
          <a:xfrm>
            <a:off x="3471215" y="1676400"/>
            <a:ext cx="2847975" cy="4676775"/>
          </a:xfrm>
          <a:custGeom>
            <a:avLst/>
            <a:gdLst/>
            <a:ahLst/>
            <a:cxnLst/>
            <a:rect l="l" t="t" r="r" b="b"/>
            <a:pathLst>
              <a:path w="2847975" h="4676775">
                <a:moveTo>
                  <a:pt x="0" y="0"/>
                </a:moveTo>
                <a:lnTo>
                  <a:pt x="2847975" y="0"/>
                </a:lnTo>
                <a:lnTo>
                  <a:pt x="2847975" y="4676775"/>
                </a:lnTo>
                <a:lnTo>
                  <a:pt x="0" y="4676775"/>
                </a:lnTo>
                <a:lnTo>
                  <a:pt x="0" y="0"/>
                </a:lnTo>
                <a:close/>
              </a:path>
            </a:pathLst>
          </a:custGeom>
          <a:blipFill>
            <a:blip r:embed="rId19"/>
            <a:stretch>
              <a:fillRect/>
            </a:stretch>
          </a:blipFill>
        </p:spPr>
      </p:sp>
      <p:sp>
        <p:nvSpPr>
          <p:cNvPr id="24" name="Freeform 24"/>
          <p:cNvSpPr/>
          <p:nvPr/>
        </p:nvSpPr>
        <p:spPr>
          <a:xfrm>
            <a:off x="3600450" y="1866900"/>
            <a:ext cx="2286000" cy="561975"/>
          </a:xfrm>
          <a:custGeom>
            <a:avLst/>
            <a:gdLst/>
            <a:ahLst/>
            <a:cxnLst/>
            <a:rect l="l" t="t" r="r" b="b"/>
            <a:pathLst>
              <a:path w="2286000" h="561975">
                <a:moveTo>
                  <a:pt x="0" y="0"/>
                </a:moveTo>
                <a:lnTo>
                  <a:pt x="2286000" y="0"/>
                </a:lnTo>
                <a:lnTo>
                  <a:pt x="2286000" y="561975"/>
                </a:lnTo>
                <a:lnTo>
                  <a:pt x="0" y="561975"/>
                </a:lnTo>
                <a:lnTo>
                  <a:pt x="0" y="0"/>
                </a:lnTo>
                <a:close/>
              </a:path>
            </a:pathLst>
          </a:custGeom>
          <a:blipFill>
            <a:blip r:embed="rId20"/>
            <a:stretch>
              <a:fillRect/>
            </a:stretch>
          </a:blipFill>
        </p:spPr>
      </p:sp>
      <p:sp>
        <p:nvSpPr>
          <p:cNvPr id="25" name="TextBox 25"/>
          <p:cNvSpPr txBox="1"/>
          <p:nvPr/>
        </p:nvSpPr>
        <p:spPr>
          <a:xfrm>
            <a:off x="3885894" y="2002525"/>
            <a:ext cx="1960093" cy="231869"/>
          </a:xfrm>
          <a:prstGeom prst="rect">
            <a:avLst/>
          </a:prstGeom>
        </p:spPr>
        <p:txBody>
          <a:bodyPr wrap="square" lIns="0" tIns="0" rIns="0" bIns="0" rtlCol="0" anchor="t">
            <a:spAutoFit/>
          </a:bodyPr>
          <a:lstStyle/>
          <a:p>
            <a:pPr algn="ctr">
              <a:lnSpc>
                <a:spcPts val="1931"/>
              </a:lnSpc>
            </a:pPr>
            <a:r>
              <a:rPr lang="en-US" sz="1379" b="1" dirty="0">
                <a:solidFill>
                  <a:srgbClr val="FFFFFF"/>
                </a:solidFill>
                <a:latin typeface="Nunito Ultra-Bold"/>
                <a:ea typeface="Nunito Ultra-Bold"/>
                <a:cs typeface="Nunito Ultra-Bold"/>
                <a:sym typeface="Nunito Ultra-Bold"/>
              </a:rPr>
              <a:t>2. EDGE PROCESSING</a:t>
            </a:r>
          </a:p>
        </p:txBody>
      </p:sp>
      <p:sp>
        <p:nvSpPr>
          <p:cNvPr id="26" name="TextBox 26"/>
          <p:cNvSpPr txBox="1"/>
          <p:nvPr/>
        </p:nvSpPr>
        <p:spPr>
          <a:xfrm>
            <a:off x="3710711" y="2416983"/>
            <a:ext cx="2325167" cy="390354"/>
          </a:xfrm>
          <a:prstGeom prst="rect">
            <a:avLst/>
          </a:prstGeom>
        </p:spPr>
        <p:txBody>
          <a:bodyPr lIns="0" tIns="0" rIns="0" bIns="0" rtlCol="0" anchor="t">
            <a:spAutoFit/>
          </a:bodyPr>
          <a:lstStyle/>
          <a:p>
            <a:pPr algn="ctr">
              <a:lnSpc>
                <a:spcPts val="1584"/>
              </a:lnSpc>
            </a:pPr>
            <a:r>
              <a:rPr lang="en-US" sz="1131" b="1">
                <a:solidFill>
                  <a:srgbClr val="002F5D"/>
                </a:solidFill>
                <a:latin typeface="Nunito Bold"/>
                <a:ea typeface="Nunito Bold"/>
                <a:cs typeface="Nunito Bold"/>
                <a:sym typeface="Nunito Bold"/>
              </a:rPr>
              <a:t>ESP32 acquires, filters &amp; processes sensor data in real-time.</a:t>
            </a:r>
          </a:p>
        </p:txBody>
      </p:sp>
      <p:sp>
        <p:nvSpPr>
          <p:cNvPr id="27" name="Freeform 27"/>
          <p:cNvSpPr/>
          <p:nvPr/>
        </p:nvSpPr>
        <p:spPr>
          <a:xfrm>
            <a:off x="4162425" y="2800350"/>
            <a:ext cx="1343025" cy="2619375"/>
          </a:xfrm>
          <a:custGeom>
            <a:avLst/>
            <a:gdLst/>
            <a:ahLst/>
            <a:cxnLst/>
            <a:rect l="l" t="t" r="r" b="b"/>
            <a:pathLst>
              <a:path w="1343025" h="2619375">
                <a:moveTo>
                  <a:pt x="0" y="0"/>
                </a:moveTo>
                <a:lnTo>
                  <a:pt x="1343025" y="0"/>
                </a:lnTo>
                <a:lnTo>
                  <a:pt x="1343025" y="2619375"/>
                </a:lnTo>
                <a:lnTo>
                  <a:pt x="0" y="2619375"/>
                </a:lnTo>
                <a:lnTo>
                  <a:pt x="0" y="0"/>
                </a:lnTo>
                <a:close/>
              </a:path>
            </a:pathLst>
          </a:custGeom>
          <a:blipFill>
            <a:blip r:embed="rId21"/>
            <a:stretch>
              <a:fillRect/>
            </a:stretch>
          </a:blipFill>
        </p:spPr>
      </p:sp>
      <p:sp>
        <p:nvSpPr>
          <p:cNvPr id="28" name="Freeform 28"/>
          <p:cNvSpPr/>
          <p:nvPr/>
        </p:nvSpPr>
        <p:spPr>
          <a:xfrm>
            <a:off x="3600450" y="5219700"/>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22"/>
            <a:stretch>
              <a:fillRect/>
            </a:stretch>
          </a:blipFill>
        </p:spPr>
      </p:sp>
      <p:sp>
        <p:nvSpPr>
          <p:cNvPr id="29" name="TextBox 29"/>
          <p:cNvSpPr txBox="1"/>
          <p:nvPr/>
        </p:nvSpPr>
        <p:spPr>
          <a:xfrm>
            <a:off x="3647008" y="5827072"/>
            <a:ext cx="752780" cy="301407"/>
          </a:xfrm>
          <a:prstGeom prst="rect">
            <a:avLst/>
          </a:prstGeom>
        </p:spPr>
        <p:txBody>
          <a:bodyPr wrap="square" lIns="0" tIns="0" rIns="0" bIns="0" rtlCol="0" anchor="t">
            <a:spAutoFit/>
          </a:bodyPr>
          <a:lstStyle/>
          <a:p>
            <a:pPr algn="ctr">
              <a:lnSpc>
                <a:spcPts val="1237"/>
              </a:lnSpc>
            </a:pPr>
            <a:r>
              <a:rPr lang="en-US" sz="883" b="1" dirty="0">
                <a:solidFill>
                  <a:srgbClr val="002F5D"/>
                </a:solidFill>
                <a:latin typeface="Nunito Bold"/>
                <a:ea typeface="Nunito Bold"/>
                <a:cs typeface="Nunito Bold"/>
                <a:sym typeface="Nunito Bold"/>
              </a:rPr>
              <a:t>Data Acquisition</a:t>
            </a:r>
          </a:p>
        </p:txBody>
      </p:sp>
      <p:sp>
        <p:nvSpPr>
          <p:cNvPr id="30" name="Freeform 30"/>
          <p:cNvSpPr/>
          <p:nvPr/>
        </p:nvSpPr>
        <p:spPr>
          <a:xfrm>
            <a:off x="4352925" y="5219700"/>
            <a:ext cx="200025" cy="942975"/>
          </a:xfrm>
          <a:custGeom>
            <a:avLst/>
            <a:gdLst/>
            <a:ahLst/>
            <a:cxnLst/>
            <a:rect l="l" t="t" r="r" b="b"/>
            <a:pathLst>
              <a:path w="200025" h="942975">
                <a:moveTo>
                  <a:pt x="0" y="0"/>
                </a:moveTo>
                <a:lnTo>
                  <a:pt x="200025" y="0"/>
                </a:lnTo>
                <a:lnTo>
                  <a:pt x="200025" y="942975"/>
                </a:lnTo>
                <a:lnTo>
                  <a:pt x="0" y="942975"/>
                </a:lnTo>
                <a:lnTo>
                  <a:pt x="0" y="0"/>
                </a:lnTo>
                <a:close/>
              </a:path>
            </a:pathLst>
          </a:custGeom>
          <a:blipFill>
            <a:blip r:embed="rId23"/>
            <a:stretch>
              <a:fillRect/>
            </a:stretch>
          </a:blipFill>
        </p:spPr>
      </p:sp>
      <p:sp>
        <p:nvSpPr>
          <p:cNvPr id="31" name="Freeform 31"/>
          <p:cNvSpPr/>
          <p:nvPr/>
        </p:nvSpPr>
        <p:spPr>
          <a:xfrm>
            <a:off x="4543425" y="5219700"/>
            <a:ext cx="581025" cy="571500"/>
          </a:xfrm>
          <a:custGeom>
            <a:avLst/>
            <a:gdLst/>
            <a:ahLst/>
            <a:cxnLst/>
            <a:rect l="l" t="t" r="r" b="b"/>
            <a:pathLst>
              <a:path w="581025" h="571500">
                <a:moveTo>
                  <a:pt x="0" y="0"/>
                </a:moveTo>
                <a:lnTo>
                  <a:pt x="581025" y="0"/>
                </a:lnTo>
                <a:lnTo>
                  <a:pt x="581025" y="571500"/>
                </a:lnTo>
                <a:lnTo>
                  <a:pt x="0" y="571500"/>
                </a:lnTo>
                <a:lnTo>
                  <a:pt x="0" y="0"/>
                </a:lnTo>
                <a:close/>
              </a:path>
            </a:pathLst>
          </a:custGeom>
          <a:blipFill>
            <a:blip r:embed="rId24"/>
            <a:stretch>
              <a:fillRect/>
            </a:stretch>
          </a:blipFill>
        </p:spPr>
      </p:sp>
      <p:sp>
        <p:nvSpPr>
          <p:cNvPr id="32" name="TextBox 32"/>
          <p:cNvSpPr txBox="1"/>
          <p:nvPr/>
        </p:nvSpPr>
        <p:spPr>
          <a:xfrm>
            <a:off x="4554779" y="5818448"/>
            <a:ext cx="605180" cy="318656"/>
          </a:xfrm>
          <a:prstGeom prst="rect">
            <a:avLst/>
          </a:prstGeom>
        </p:spPr>
        <p:txBody>
          <a:bodyPr lIns="0" tIns="0" rIns="0" bIns="0" rtlCol="0" anchor="t">
            <a:spAutoFit/>
          </a:bodyPr>
          <a:lstStyle/>
          <a:p>
            <a:pPr algn="ctr">
              <a:lnSpc>
                <a:spcPts val="1336"/>
              </a:lnSpc>
            </a:pPr>
            <a:r>
              <a:rPr lang="en-US" sz="954" b="1" dirty="0">
                <a:solidFill>
                  <a:srgbClr val="002F5D"/>
                </a:solidFill>
                <a:latin typeface="Nunito Bold"/>
                <a:ea typeface="Nunito Bold"/>
                <a:cs typeface="Nunito Bold"/>
                <a:sym typeface="Nunito Bold"/>
              </a:rPr>
              <a:t>Filtering &amp; Validation</a:t>
            </a:r>
          </a:p>
        </p:txBody>
      </p:sp>
      <p:sp>
        <p:nvSpPr>
          <p:cNvPr id="33" name="Freeform 33"/>
          <p:cNvSpPr/>
          <p:nvPr/>
        </p:nvSpPr>
        <p:spPr>
          <a:xfrm>
            <a:off x="5114925" y="5219700"/>
            <a:ext cx="200025" cy="942975"/>
          </a:xfrm>
          <a:custGeom>
            <a:avLst/>
            <a:gdLst/>
            <a:ahLst/>
            <a:cxnLst/>
            <a:rect l="l" t="t" r="r" b="b"/>
            <a:pathLst>
              <a:path w="200025" h="942975">
                <a:moveTo>
                  <a:pt x="0" y="0"/>
                </a:moveTo>
                <a:lnTo>
                  <a:pt x="200025" y="0"/>
                </a:lnTo>
                <a:lnTo>
                  <a:pt x="200025" y="942975"/>
                </a:lnTo>
                <a:lnTo>
                  <a:pt x="0" y="942975"/>
                </a:lnTo>
                <a:lnTo>
                  <a:pt x="0" y="0"/>
                </a:lnTo>
                <a:close/>
              </a:path>
            </a:pathLst>
          </a:custGeom>
          <a:blipFill>
            <a:blip r:embed="rId25"/>
            <a:stretch>
              <a:fillRect/>
            </a:stretch>
          </a:blipFill>
        </p:spPr>
      </p:sp>
      <p:sp>
        <p:nvSpPr>
          <p:cNvPr id="34" name="Freeform 34"/>
          <p:cNvSpPr/>
          <p:nvPr/>
        </p:nvSpPr>
        <p:spPr>
          <a:xfrm>
            <a:off x="5495925" y="5219700"/>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26"/>
            <a:stretch>
              <a:fillRect/>
            </a:stretch>
          </a:blipFill>
        </p:spPr>
      </p:sp>
      <p:sp>
        <p:nvSpPr>
          <p:cNvPr id="35" name="TextBox 35"/>
          <p:cNvSpPr txBox="1"/>
          <p:nvPr/>
        </p:nvSpPr>
        <p:spPr>
          <a:xfrm>
            <a:off x="5376942" y="5844772"/>
            <a:ext cx="731672" cy="292332"/>
          </a:xfrm>
          <a:prstGeom prst="rect">
            <a:avLst/>
          </a:prstGeom>
        </p:spPr>
        <p:txBody>
          <a:bodyPr wrap="square" lIns="0" tIns="0" rIns="0" bIns="0" rtlCol="0" anchor="t">
            <a:spAutoFit/>
          </a:bodyPr>
          <a:lstStyle/>
          <a:p>
            <a:pPr algn="ctr">
              <a:lnSpc>
                <a:spcPts val="1187"/>
              </a:lnSpc>
            </a:pPr>
            <a:r>
              <a:rPr lang="en-US" sz="848" b="1" dirty="0">
                <a:solidFill>
                  <a:srgbClr val="002F5D"/>
                </a:solidFill>
                <a:latin typeface="Nunito Bold"/>
                <a:ea typeface="Nunito Bold"/>
                <a:cs typeface="Nunito Bold"/>
                <a:sym typeface="Nunito Bold"/>
              </a:rPr>
              <a:t>Local Processing</a:t>
            </a:r>
          </a:p>
        </p:txBody>
      </p:sp>
      <p:sp>
        <p:nvSpPr>
          <p:cNvPr id="36" name="Freeform 36"/>
          <p:cNvSpPr/>
          <p:nvPr/>
        </p:nvSpPr>
        <p:spPr>
          <a:xfrm>
            <a:off x="6057900" y="3733800"/>
            <a:ext cx="581025" cy="561975"/>
          </a:xfrm>
          <a:custGeom>
            <a:avLst/>
            <a:gdLst/>
            <a:ahLst/>
            <a:cxnLst/>
            <a:rect l="l" t="t" r="r" b="b"/>
            <a:pathLst>
              <a:path w="581025" h="561975">
                <a:moveTo>
                  <a:pt x="0" y="0"/>
                </a:moveTo>
                <a:lnTo>
                  <a:pt x="581025" y="0"/>
                </a:lnTo>
                <a:lnTo>
                  <a:pt x="581025" y="561975"/>
                </a:lnTo>
                <a:lnTo>
                  <a:pt x="0" y="561975"/>
                </a:lnTo>
                <a:lnTo>
                  <a:pt x="0" y="0"/>
                </a:lnTo>
                <a:close/>
              </a:path>
            </a:pathLst>
          </a:custGeom>
          <a:blipFill>
            <a:blip r:embed="rId27"/>
            <a:stretch>
              <a:fillRect/>
            </a:stretch>
          </a:blipFill>
        </p:spPr>
      </p:sp>
      <p:sp>
        <p:nvSpPr>
          <p:cNvPr id="37" name="Freeform 37"/>
          <p:cNvSpPr/>
          <p:nvPr/>
        </p:nvSpPr>
        <p:spPr>
          <a:xfrm>
            <a:off x="6438900" y="1676400"/>
            <a:ext cx="2667000" cy="4676775"/>
          </a:xfrm>
          <a:custGeom>
            <a:avLst/>
            <a:gdLst/>
            <a:ahLst/>
            <a:cxnLst/>
            <a:rect l="l" t="t" r="r" b="b"/>
            <a:pathLst>
              <a:path w="2667000" h="4676775">
                <a:moveTo>
                  <a:pt x="0" y="0"/>
                </a:moveTo>
                <a:lnTo>
                  <a:pt x="2667000" y="0"/>
                </a:lnTo>
                <a:lnTo>
                  <a:pt x="2667000" y="4676775"/>
                </a:lnTo>
                <a:lnTo>
                  <a:pt x="0" y="4676775"/>
                </a:lnTo>
                <a:lnTo>
                  <a:pt x="0" y="0"/>
                </a:lnTo>
                <a:close/>
              </a:path>
            </a:pathLst>
          </a:custGeom>
          <a:blipFill>
            <a:blip r:embed="rId2"/>
            <a:stretch>
              <a:fillRect/>
            </a:stretch>
          </a:blipFill>
        </p:spPr>
      </p:sp>
      <p:sp>
        <p:nvSpPr>
          <p:cNvPr id="38" name="Freeform 38"/>
          <p:cNvSpPr/>
          <p:nvPr/>
        </p:nvSpPr>
        <p:spPr>
          <a:xfrm>
            <a:off x="6629400" y="1866900"/>
            <a:ext cx="2476500" cy="561975"/>
          </a:xfrm>
          <a:custGeom>
            <a:avLst/>
            <a:gdLst/>
            <a:ahLst/>
            <a:cxnLst/>
            <a:rect l="l" t="t" r="r" b="b"/>
            <a:pathLst>
              <a:path w="2476500" h="561975">
                <a:moveTo>
                  <a:pt x="0" y="0"/>
                </a:moveTo>
                <a:lnTo>
                  <a:pt x="2476500" y="0"/>
                </a:lnTo>
                <a:lnTo>
                  <a:pt x="2476500" y="561975"/>
                </a:lnTo>
                <a:lnTo>
                  <a:pt x="0" y="561975"/>
                </a:lnTo>
                <a:lnTo>
                  <a:pt x="0" y="0"/>
                </a:lnTo>
                <a:close/>
              </a:path>
            </a:pathLst>
          </a:custGeom>
          <a:blipFill>
            <a:blip r:embed="rId28"/>
            <a:stretch>
              <a:fillRect/>
            </a:stretch>
          </a:blipFill>
        </p:spPr>
      </p:sp>
      <p:sp>
        <p:nvSpPr>
          <p:cNvPr id="39" name="TextBox 39"/>
          <p:cNvSpPr txBox="1"/>
          <p:nvPr/>
        </p:nvSpPr>
        <p:spPr>
          <a:xfrm>
            <a:off x="6800317" y="2020224"/>
            <a:ext cx="2006651" cy="215302"/>
          </a:xfrm>
          <a:prstGeom prst="rect">
            <a:avLst/>
          </a:prstGeom>
        </p:spPr>
        <p:txBody>
          <a:bodyPr lIns="0" tIns="0" rIns="0" bIns="0" rtlCol="0" anchor="t">
            <a:spAutoFit/>
          </a:bodyPr>
          <a:lstStyle/>
          <a:p>
            <a:pPr algn="ctr">
              <a:lnSpc>
                <a:spcPts val="1782"/>
              </a:lnSpc>
            </a:pPr>
            <a:r>
              <a:rPr lang="en-US" sz="1273" b="1" dirty="0">
                <a:solidFill>
                  <a:srgbClr val="FFFFFF"/>
                </a:solidFill>
                <a:latin typeface="Nunito Ultra-Bold"/>
                <a:ea typeface="Nunito Ultra-Bold"/>
                <a:cs typeface="Nunito Ultra-Bold"/>
                <a:sym typeface="Nunito Ultra-Bold"/>
              </a:rPr>
              <a:t>3. CONNECTIVITY LAYER</a:t>
            </a:r>
          </a:p>
        </p:txBody>
      </p:sp>
      <p:sp>
        <p:nvSpPr>
          <p:cNvPr id="40" name="TextBox 40"/>
          <p:cNvSpPr txBox="1"/>
          <p:nvPr/>
        </p:nvSpPr>
        <p:spPr>
          <a:xfrm>
            <a:off x="6911797" y="2417883"/>
            <a:ext cx="1847393" cy="398078"/>
          </a:xfrm>
          <a:prstGeom prst="rect">
            <a:avLst/>
          </a:prstGeom>
        </p:spPr>
        <p:txBody>
          <a:bodyPr lIns="0" tIns="0" rIns="0" bIns="0" rtlCol="0" anchor="t">
            <a:spAutoFit/>
          </a:bodyPr>
          <a:lstStyle/>
          <a:p>
            <a:pPr algn="ctr">
              <a:lnSpc>
                <a:spcPts val="1683"/>
              </a:lnSpc>
            </a:pPr>
            <a:r>
              <a:rPr lang="en-US" sz="1202" b="1" dirty="0">
                <a:solidFill>
                  <a:srgbClr val="002F5D"/>
                </a:solidFill>
                <a:latin typeface="Nunito Bold"/>
                <a:ea typeface="Nunito Bold"/>
                <a:cs typeface="Nunito Bold"/>
                <a:sym typeface="Nunito Bold"/>
              </a:rPr>
              <a:t>Secure transmission of data to the cloud.</a:t>
            </a:r>
          </a:p>
        </p:txBody>
      </p:sp>
      <p:sp>
        <p:nvSpPr>
          <p:cNvPr id="41" name="Freeform 41"/>
          <p:cNvSpPr/>
          <p:nvPr/>
        </p:nvSpPr>
        <p:spPr>
          <a:xfrm>
            <a:off x="6819900" y="3171825"/>
            <a:ext cx="962025" cy="752475"/>
          </a:xfrm>
          <a:custGeom>
            <a:avLst/>
            <a:gdLst/>
            <a:ahLst/>
            <a:cxnLst/>
            <a:rect l="l" t="t" r="r" b="b"/>
            <a:pathLst>
              <a:path w="962025" h="752475">
                <a:moveTo>
                  <a:pt x="0" y="0"/>
                </a:moveTo>
                <a:lnTo>
                  <a:pt x="962025" y="0"/>
                </a:lnTo>
                <a:lnTo>
                  <a:pt x="962025" y="752475"/>
                </a:lnTo>
                <a:lnTo>
                  <a:pt x="0" y="752475"/>
                </a:lnTo>
                <a:lnTo>
                  <a:pt x="0" y="0"/>
                </a:lnTo>
                <a:close/>
              </a:path>
            </a:pathLst>
          </a:custGeom>
          <a:blipFill>
            <a:blip r:embed="rId29"/>
            <a:stretch>
              <a:fillRect/>
            </a:stretch>
          </a:blipFill>
        </p:spPr>
      </p:sp>
      <p:sp>
        <p:nvSpPr>
          <p:cNvPr id="42" name="Freeform 42"/>
          <p:cNvSpPr/>
          <p:nvPr/>
        </p:nvSpPr>
        <p:spPr>
          <a:xfrm>
            <a:off x="7010400" y="4286250"/>
            <a:ext cx="581025" cy="942975"/>
          </a:xfrm>
          <a:custGeom>
            <a:avLst/>
            <a:gdLst/>
            <a:ahLst/>
            <a:cxnLst/>
            <a:rect l="l" t="t" r="r" b="b"/>
            <a:pathLst>
              <a:path w="581025" h="942975">
                <a:moveTo>
                  <a:pt x="0" y="0"/>
                </a:moveTo>
                <a:lnTo>
                  <a:pt x="581025" y="0"/>
                </a:lnTo>
                <a:lnTo>
                  <a:pt x="581025" y="942975"/>
                </a:lnTo>
                <a:lnTo>
                  <a:pt x="0" y="942975"/>
                </a:lnTo>
                <a:lnTo>
                  <a:pt x="0" y="0"/>
                </a:lnTo>
                <a:close/>
              </a:path>
            </a:pathLst>
          </a:custGeom>
          <a:blipFill>
            <a:blip r:embed="rId30"/>
            <a:stretch>
              <a:fillRect/>
            </a:stretch>
          </a:blipFill>
        </p:spPr>
      </p:sp>
      <p:sp>
        <p:nvSpPr>
          <p:cNvPr id="43" name="TextBox 43"/>
          <p:cNvSpPr txBox="1"/>
          <p:nvPr/>
        </p:nvSpPr>
        <p:spPr>
          <a:xfrm>
            <a:off x="6943649" y="5197617"/>
            <a:ext cx="764438" cy="215302"/>
          </a:xfrm>
          <a:prstGeom prst="rect">
            <a:avLst/>
          </a:prstGeom>
        </p:spPr>
        <p:txBody>
          <a:bodyPr lIns="0" tIns="0" rIns="0" bIns="0" rtlCol="0" anchor="t">
            <a:spAutoFit/>
          </a:bodyPr>
          <a:lstStyle/>
          <a:p>
            <a:pPr algn="ctr">
              <a:lnSpc>
                <a:spcPts val="1782"/>
              </a:lnSpc>
            </a:pPr>
            <a:r>
              <a:rPr lang="en-US" sz="1273" b="1">
                <a:solidFill>
                  <a:srgbClr val="002F5D"/>
                </a:solidFill>
                <a:latin typeface="Nunito Bold"/>
                <a:ea typeface="Nunito Bold"/>
                <a:cs typeface="Nunito Bold"/>
                <a:sym typeface="Nunito Bold"/>
              </a:rPr>
              <a:t>Bluetooth</a:t>
            </a:r>
          </a:p>
        </p:txBody>
      </p:sp>
      <p:sp>
        <p:nvSpPr>
          <p:cNvPr id="44" name="Freeform 44"/>
          <p:cNvSpPr/>
          <p:nvPr/>
        </p:nvSpPr>
        <p:spPr>
          <a:xfrm>
            <a:off x="7772400" y="3352800"/>
            <a:ext cx="190500" cy="2066925"/>
          </a:xfrm>
          <a:custGeom>
            <a:avLst/>
            <a:gdLst/>
            <a:ahLst/>
            <a:cxnLst/>
            <a:rect l="l" t="t" r="r" b="b"/>
            <a:pathLst>
              <a:path w="190500" h="2066925">
                <a:moveTo>
                  <a:pt x="0" y="0"/>
                </a:moveTo>
                <a:lnTo>
                  <a:pt x="190500" y="0"/>
                </a:lnTo>
                <a:lnTo>
                  <a:pt x="190500" y="2066925"/>
                </a:lnTo>
                <a:lnTo>
                  <a:pt x="0" y="2066925"/>
                </a:lnTo>
                <a:lnTo>
                  <a:pt x="0" y="0"/>
                </a:lnTo>
                <a:close/>
              </a:path>
            </a:pathLst>
          </a:custGeom>
          <a:blipFill>
            <a:blip r:embed="rId31"/>
            <a:stretch>
              <a:fillRect/>
            </a:stretch>
          </a:blipFill>
        </p:spPr>
      </p:sp>
      <p:sp>
        <p:nvSpPr>
          <p:cNvPr id="45" name="Freeform 45"/>
          <p:cNvSpPr/>
          <p:nvPr/>
        </p:nvSpPr>
        <p:spPr>
          <a:xfrm>
            <a:off x="7962900" y="3914775"/>
            <a:ext cx="952500" cy="942975"/>
          </a:xfrm>
          <a:custGeom>
            <a:avLst/>
            <a:gdLst/>
            <a:ahLst/>
            <a:cxnLst/>
            <a:rect l="l" t="t" r="r" b="b"/>
            <a:pathLst>
              <a:path w="952500" h="942975">
                <a:moveTo>
                  <a:pt x="0" y="0"/>
                </a:moveTo>
                <a:lnTo>
                  <a:pt x="952500" y="0"/>
                </a:lnTo>
                <a:lnTo>
                  <a:pt x="952500" y="942975"/>
                </a:lnTo>
                <a:lnTo>
                  <a:pt x="0" y="942975"/>
                </a:lnTo>
                <a:lnTo>
                  <a:pt x="0" y="0"/>
                </a:lnTo>
                <a:close/>
              </a:path>
            </a:pathLst>
          </a:custGeom>
          <a:blipFill>
            <a:blip r:embed="rId32"/>
            <a:stretch>
              <a:fillRect/>
            </a:stretch>
          </a:blipFill>
        </p:spPr>
      </p:sp>
      <p:sp>
        <p:nvSpPr>
          <p:cNvPr id="46" name="Freeform 46"/>
          <p:cNvSpPr/>
          <p:nvPr/>
        </p:nvSpPr>
        <p:spPr>
          <a:xfrm>
            <a:off x="8905875" y="3733800"/>
            <a:ext cx="581025" cy="561975"/>
          </a:xfrm>
          <a:custGeom>
            <a:avLst/>
            <a:gdLst/>
            <a:ahLst/>
            <a:cxnLst/>
            <a:rect l="l" t="t" r="r" b="b"/>
            <a:pathLst>
              <a:path w="581025" h="561975">
                <a:moveTo>
                  <a:pt x="0" y="0"/>
                </a:moveTo>
                <a:lnTo>
                  <a:pt x="581025" y="0"/>
                </a:lnTo>
                <a:lnTo>
                  <a:pt x="581025" y="561975"/>
                </a:lnTo>
                <a:lnTo>
                  <a:pt x="0" y="561975"/>
                </a:lnTo>
                <a:lnTo>
                  <a:pt x="0" y="0"/>
                </a:lnTo>
                <a:close/>
              </a:path>
            </a:pathLst>
          </a:custGeom>
          <a:blipFill>
            <a:blip r:embed="rId33"/>
            <a:stretch>
              <a:fillRect/>
            </a:stretch>
          </a:blipFill>
        </p:spPr>
      </p:sp>
      <p:sp>
        <p:nvSpPr>
          <p:cNvPr id="47" name="TextBox 47"/>
          <p:cNvSpPr txBox="1"/>
          <p:nvPr/>
        </p:nvSpPr>
        <p:spPr>
          <a:xfrm>
            <a:off x="10033254" y="2002525"/>
            <a:ext cx="1465174" cy="241176"/>
          </a:xfrm>
          <a:prstGeom prst="rect">
            <a:avLst/>
          </a:prstGeom>
        </p:spPr>
        <p:txBody>
          <a:bodyPr lIns="0" tIns="0" rIns="0" bIns="0" rtlCol="0" anchor="t">
            <a:spAutoFit/>
          </a:bodyPr>
          <a:lstStyle/>
          <a:p>
            <a:pPr algn="ctr">
              <a:lnSpc>
                <a:spcPts val="1931"/>
              </a:lnSpc>
            </a:pPr>
            <a:r>
              <a:rPr lang="en-US" sz="1379" b="1">
                <a:solidFill>
                  <a:srgbClr val="FFFFFF"/>
                </a:solidFill>
                <a:latin typeface="Nunito Ultra-Bold"/>
                <a:ea typeface="Nunito Ultra-Bold"/>
                <a:cs typeface="Nunito Ultra-Bold"/>
                <a:sym typeface="Nunito Ultra-Bold"/>
              </a:rPr>
              <a:t>4. CLOUD LAYER</a:t>
            </a:r>
          </a:p>
        </p:txBody>
      </p:sp>
      <p:sp>
        <p:nvSpPr>
          <p:cNvPr id="48" name="TextBox 48"/>
          <p:cNvSpPr txBox="1"/>
          <p:nvPr/>
        </p:nvSpPr>
        <p:spPr>
          <a:xfrm>
            <a:off x="9698812" y="2417883"/>
            <a:ext cx="2006651" cy="398078"/>
          </a:xfrm>
          <a:prstGeom prst="rect">
            <a:avLst/>
          </a:prstGeom>
        </p:spPr>
        <p:txBody>
          <a:bodyPr lIns="0" tIns="0" rIns="0" bIns="0" rtlCol="0" anchor="t">
            <a:spAutoFit/>
          </a:bodyPr>
          <a:lstStyle/>
          <a:p>
            <a:pPr algn="ctr">
              <a:lnSpc>
                <a:spcPts val="1683"/>
              </a:lnSpc>
            </a:pPr>
            <a:r>
              <a:rPr lang="en-US" sz="1202" b="1" dirty="0">
                <a:solidFill>
                  <a:srgbClr val="002F5D"/>
                </a:solidFill>
                <a:latin typeface="Nunito Bold"/>
                <a:ea typeface="Nunito Bold"/>
                <a:cs typeface="Nunito Bold"/>
                <a:sym typeface="Nunito Bold"/>
              </a:rPr>
              <a:t>Cloud platform stores, manages &amp; analyzes data.</a:t>
            </a:r>
          </a:p>
        </p:txBody>
      </p:sp>
      <p:sp>
        <p:nvSpPr>
          <p:cNvPr id="49" name="TextBox 49"/>
          <p:cNvSpPr txBox="1"/>
          <p:nvPr/>
        </p:nvSpPr>
        <p:spPr>
          <a:xfrm>
            <a:off x="12804343" y="2015912"/>
            <a:ext cx="1927022" cy="223927"/>
          </a:xfrm>
          <a:prstGeom prst="rect">
            <a:avLst/>
          </a:prstGeom>
        </p:spPr>
        <p:txBody>
          <a:bodyPr lIns="0" tIns="0" rIns="0" bIns="0" rtlCol="0" anchor="t">
            <a:spAutoFit/>
          </a:bodyPr>
          <a:lstStyle/>
          <a:p>
            <a:pPr algn="ctr">
              <a:lnSpc>
                <a:spcPts val="1832"/>
              </a:lnSpc>
            </a:pPr>
            <a:r>
              <a:rPr lang="en-US" sz="1308" b="1" dirty="0">
                <a:solidFill>
                  <a:srgbClr val="FFFFFF"/>
                </a:solidFill>
                <a:latin typeface="Nunito Ultra-Bold"/>
                <a:ea typeface="Nunito Ultra-Bold"/>
                <a:cs typeface="Nunito Ultra-Bold"/>
                <a:sym typeface="Nunito Ultra-Bold"/>
              </a:rPr>
              <a:t>5. APPLICATION LAYER</a:t>
            </a:r>
          </a:p>
        </p:txBody>
      </p:sp>
      <p:sp>
        <p:nvSpPr>
          <p:cNvPr id="51" name="TextBox 51"/>
          <p:cNvSpPr txBox="1"/>
          <p:nvPr/>
        </p:nvSpPr>
        <p:spPr>
          <a:xfrm>
            <a:off x="4108856" y="6596806"/>
            <a:ext cx="1082954" cy="240276"/>
          </a:xfrm>
          <a:prstGeom prst="rect">
            <a:avLst/>
          </a:prstGeom>
        </p:spPr>
        <p:txBody>
          <a:bodyPr lIns="0" tIns="0" rIns="0" bIns="0" rtlCol="0" anchor="t">
            <a:spAutoFit/>
          </a:bodyPr>
          <a:lstStyle/>
          <a:p>
            <a:pPr algn="ctr">
              <a:lnSpc>
                <a:spcPts val="1981"/>
              </a:lnSpc>
            </a:pPr>
            <a:r>
              <a:rPr lang="en-US" sz="1415" b="1">
                <a:solidFill>
                  <a:srgbClr val="008F8D"/>
                </a:solidFill>
                <a:latin typeface="Nunito Ultra-Bold"/>
                <a:ea typeface="Nunito Ultra-Bold"/>
                <a:cs typeface="Nunito Ultra-Bold"/>
                <a:sym typeface="Nunito Ultra-Bold"/>
              </a:rPr>
              <a:t>DATA FLOW</a:t>
            </a:r>
          </a:p>
        </p:txBody>
      </p:sp>
      <p:sp>
        <p:nvSpPr>
          <p:cNvPr id="52" name="TextBox 52"/>
          <p:cNvSpPr txBox="1"/>
          <p:nvPr/>
        </p:nvSpPr>
        <p:spPr>
          <a:xfrm>
            <a:off x="780364" y="7472014"/>
            <a:ext cx="1210361" cy="538609"/>
          </a:xfrm>
          <a:prstGeom prst="rect">
            <a:avLst/>
          </a:prstGeom>
        </p:spPr>
        <p:txBody>
          <a:bodyPr lIns="0" tIns="0" rIns="0" bIns="0" rtlCol="0" anchor="t">
            <a:spAutoFit/>
          </a:bodyPr>
          <a:lstStyle/>
          <a:p>
            <a:pPr algn="ctr">
              <a:lnSpc>
                <a:spcPts val="1385"/>
              </a:lnSpc>
            </a:pPr>
            <a:r>
              <a:rPr lang="en-US" sz="1200" b="1" dirty="0">
                <a:solidFill>
                  <a:srgbClr val="002F5D"/>
                </a:solidFill>
                <a:latin typeface="Nunito Bold"/>
                <a:ea typeface="Nunito Bold"/>
                <a:cs typeface="Nunito Bold"/>
                <a:sym typeface="Nunito Bold"/>
              </a:rPr>
              <a:t>Vital signs captured by sensors</a:t>
            </a:r>
          </a:p>
        </p:txBody>
      </p:sp>
      <p:sp>
        <p:nvSpPr>
          <p:cNvPr id="53" name="TextBox 53"/>
          <p:cNvSpPr txBox="1"/>
          <p:nvPr/>
        </p:nvSpPr>
        <p:spPr>
          <a:xfrm>
            <a:off x="2293315" y="7469557"/>
            <a:ext cx="828142" cy="359073"/>
          </a:xfrm>
          <a:prstGeom prst="rect">
            <a:avLst/>
          </a:prstGeom>
        </p:spPr>
        <p:txBody>
          <a:bodyPr lIns="0" tIns="0" rIns="0" bIns="0" rtlCol="0" anchor="t">
            <a:spAutoFit/>
          </a:bodyPr>
          <a:lstStyle/>
          <a:p>
            <a:pPr algn="ctr">
              <a:lnSpc>
                <a:spcPts val="1385"/>
              </a:lnSpc>
            </a:pPr>
            <a:r>
              <a:rPr lang="en-US" sz="1200" b="1" dirty="0">
                <a:solidFill>
                  <a:srgbClr val="002F5D"/>
                </a:solidFill>
                <a:latin typeface="Nunito Bold"/>
                <a:ea typeface="Nunito Bold"/>
                <a:cs typeface="Nunito Bold"/>
                <a:sym typeface="Nunito Bold"/>
              </a:rPr>
              <a:t>Processed by ESP32</a:t>
            </a:r>
          </a:p>
        </p:txBody>
      </p:sp>
      <p:sp>
        <p:nvSpPr>
          <p:cNvPr id="54" name="TextBox 54"/>
          <p:cNvSpPr txBox="1"/>
          <p:nvPr/>
        </p:nvSpPr>
        <p:spPr>
          <a:xfrm>
            <a:off x="3632273" y="7480072"/>
            <a:ext cx="955548" cy="538609"/>
          </a:xfrm>
          <a:prstGeom prst="rect">
            <a:avLst/>
          </a:prstGeom>
        </p:spPr>
        <p:txBody>
          <a:bodyPr lIns="0" tIns="0" rIns="0" bIns="0" rtlCol="0" anchor="t">
            <a:spAutoFit/>
          </a:bodyPr>
          <a:lstStyle/>
          <a:p>
            <a:pPr algn="ctr">
              <a:lnSpc>
                <a:spcPts val="1385"/>
              </a:lnSpc>
            </a:pPr>
            <a:r>
              <a:rPr lang="en-US" sz="1200" b="1" dirty="0">
                <a:solidFill>
                  <a:srgbClr val="002F5D"/>
                </a:solidFill>
                <a:latin typeface="Nunito Bold"/>
                <a:ea typeface="Nunito Bold"/>
                <a:cs typeface="Nunito Bold"/>
                <a:sym typeface="Nunito Bold"/>
              </a:rPr>
              <a:t>Sent via Wi-Fi / Bluetooth</a:t>
            </a:r>
          </a:p>
        </p:txBody>
      </p:sp>
      <p:sp>
        <p:nvSpPr>
          <p:cNvPr id="55" name="TextBox 55"/>
          <p:cNvSpPr txBox="1"/>
          <p:nvPr/>
        </p:nvSpPr>
        <p:spPr>
          <a:xfrm>
            <a:off x="5315521" y="7462318"/>
            <a:ext cx="668884" cy="538609"/>
          </a:xfrm>
          <a:prstGeom prst="rect">
            <a:avLst/>
          </a:prstGeom>
        </p:spPr>
        <p:txBody>
          <a:bodyPr lIns="0" tIns="0" rIns="0" bIns="0" rtlCol="0" anchor="t">
            <a:spAutoFit/>
          </a:bodyPr>
          <a:lstStyle/>
          <a:p>
            <a:pPr algn="ctr">
              <a:lnSpc>
                <a:spcPts val="1385"/>
              </a:lnSpc>
            </a:pPr>
            <a:r>
              <a:rPr lang="en-US" sz="1200" b="1" dirty="0">
                <a:solidFill>
                  <a:srgbClr val="002F5D"/>
                </a:solidFill>
                <a:latin typeface="Nunito Bold"/>
                <a:ea typeface="Nunito Bold"/>
                <a:cs typeface="Nunito Bold"/>
                <a:sym typeface="Nunito Bold"/>
              </a:rPr>
              <a:t>Stored in the cloud</a:t>
            </a:r>
          </a:p>
        </p:txBody>
      </p:sp>
      <p:sp>
        <p:nvSpPr>
          <p:cNvPr id="56" name="TextBox 56"/>
          <p:cNvSpPr txBox="1"/>
          <p:nvPr/>
        </p:nvSpPr>
        <p:spPr>
          <a:xfrm>
            <a:off x="6473229" y="7458089"/>
            <a:ext cx="764438" cy="538609"/>
          </a:xfrm>
          <a:prstGeom prst="rect">
            <a:avLst/>
          </a:prstGeom>
        </p:spPr>
        <p:txBody>
          <a:bodyPr lIns="0" tIns="0" rIns="0" bIns="0" rtlCol="0" anchor="t">
            <a:spAutoFit/>
          </a:bodyPr>
          <a:lstStyle/>
          <a:p>
            <a:pPr algn="ctr">
              <a:lnSpc>
                <a:spcPts val="1385"/>
              </a:lnSpc>
            </a:pPr>
            <a:r>
              <a:rPr lang="en-US" sz="1200" b="1" dirty="0">
                <a:solidFill>
                  <a:srgbClr val="002F5D"/>
                </a:solidFill>
                <a:latin typeface="Nunito Bold"/>
                <a:ea typeface="Nunito Bold"/>
                <a:cs typeface="Nunito Bold"/>
                <a:sym typeface="Nunito Bold"/>
              </a:rPr>
              <a:t>Analyzed &amp; monitored</a:t>
            </a:r>
          </a:p>
        </p:txBody>
      </p:sp>
      <p:sp>
        <p:nvSpPr>
          <p:cNvPr id="57" name="TextBox 57"/>
          <p:cNvSpPr txBox="1"/>
          <p:nvPr/>
        </p:nvSpPr>
        <p:spPr>
          <a:xfrm>
            <a:off x="7732587" y="7406744"/>
            <a:ext cx="955548" cy="487698"/>
          </a:xfrm>
          <a:prstGeom prst="rect">
            <a:avLst/>
          </a:prstGeom>
        </p:spPr>
        <p:txBody>
          <a:bodyPr lIns="0" tIns="0" rIns="0" bIns="0" rtlCol="0" anchor="t">
            <a:spAutoFit/>
          </a:bodyPr>
          <a:lstStyle/>
          <a:p>
            <a:pPr algn="ctr">
              <a:lnSpc>
                <a:spcPts val="1336"/>
              </a:lnSpc>
            </a:pPr>
            <a:r>
              <a:rPr lang="en-US" sz="1050" b="1" dirty="0">
                <a:solidFill>
                  <a:srgbClr val="002F5D"/>
                </a:solidFill>
                <a:latin typeface="Nunito Bold"/>
                <a:ea typeface="Nunito Bold"/>
                <a:cs typeface="Nunito Bold"/>
                <a:sym typeface="Nunito Bold"/>
              </a:rPr>
              <a:t>Alerts &amp; insights to caregivers</a:t>
            </a:r>
          </a:p>
        </p:txBody>
      </p:sp>
      <p:sp>
        <p:nvSpPr>
          <p:cNvPr id="58" name="TextBox 58"/>
          <p:cNvSpPr txBox="1"/>
          <p:nvPr/>
        </p:nvSpPr>
        <p:spPr>
          <a:xfrm>
            <a:off x="12645689" y="6620073"/>
            <a:ext cx="3217012" cy="223010"/>
          </a:xfrm>
          <a:prstGeom prst="rect">
            <a:avLst/>
          </a:prstGeom>
        </p:spPr>
        <p:txBody>
          <a:bodyPr wrap="square" lIns="0" tIns="0" rIns="0" bIns="0" rtlCol="0" anchor="t">
            <a:spAutoFit/>
          </a:bodyPr>
          <a:lstStyle/>
          <a:p>
            <a:pPr algn="l">
              <a:lnSpc>
                <a:spcPts val="1931"/>
              </a:lnSpc>
            </a:pPr>
            <a:r>
              <a:rPr lang="en-US" sz="1379" b="1" dirty="0">
                <a:solidFill>
                  <a:srgbClr val="008F8D"/>
                </a:solidFill>
                <a:latin typeface="Nunito Ultra-Bold"/>
                <a:ea typeface="Nunito Ultra-Bold"/>
                <a:cs typeface="Nunito Ultra-Bold"/>
                <a:sym typeface="Nunito Ultra-Bold"/>
              </a:rPr>
              <a:t>TECHNICAL STRATEGY</a:t>
            </a:r>
          </a:p>
        </p:txBody>
      </p:sp>
      <p:sp>
        <p:nvSpPr>
          <p:cNvPr id="59" name="TextBox 59"/>
          <p:cNvSpPr txBox="1"/>
          <p:nvPr/>
        </p:nvSpPr>
        <p:spPr>
          <a:xfrm>
            <a:off x="12582507" y="7019473"/>
            <a:ext cx="2197759" cy="179536"/>
          </a:xfrm>
          <a:prstGeom prst="rect">
            <a:avLst/>
          </a:prstGeom>
        </p:spPr>
        <p:txBody>
          <a:bodyPr wrap="square" lIns="0" tIns="0" rIns="0" bIns="0" rtlCol="0" anchor="t">
            <a:spAutoFit/>
          </a:bodyPr>
          <a:lstStyle/>
          <a:p>
            <a:pPr algn="l">
              <a:lnSpc>
                <a:spcPts val="1385"/>
              </a:lnSpc>
            </a:pPr>
            <a:r>
              <a:rPr lang="en-US" sz="1200" b="1" dirty="0">
                <a:solidFill>
                  <a:srgbClr val="002F5D"/>
                </a:solidFill>
                <a:latin typeface="Nunito Bold"/>
                <a:ea typeface="Nunito Bold"/>
                <a:cs typeface="Nunito Bold"/>
                <a:sym typeface="Nunito Bold"/>
              </a:rPr>
              <a:t>Real-time Monitoring</a:t>
            </a:r>
          </a:p>
        </p:txBody>
      </p:sp>
      <p:sp>
        <p:nvSpPr>
          <p:cNvPr id="60" name="TextBox 60"/>
          <p:cNvSpPr txBox="1"/>
          <p:nvPr/>
        </p:nvSpPr>
        <p:spPr>
          <a:xfrm>
            <a:off x="12588546" y="7313711"/>
            <a:ext cx="2197760" cy="307777"/>
          </a:xfrm>
          <a:prstGeom prst="rect">
            <a:avLst/>
          </a:prstGeom>
        </p:spPr>
        <p:txBody>
          <a:bodyPr lIns="0" tIns="0" rIns="0" bIns="0" rtlCol="0" anchor="t">
            <a:spAutoFit/>
          </a:bodyPr>
          <a:lstStyle/>
          <a:p>
            <a:pPr algn="l">
              <a:lnSpc>
                <a:spcPts val="1187"/>
              </a:lnSpc>
            </a:pPr>
            <a:r>
              <a:rPr lang="en-US" sz="1100" b="1" dirty="0">
                <a:solidFill>
                  <a:srgbClr val="002F5D"/>
                </a:solidFill>
                <a:latin typeface="Nunito Bold"/>
                <a:ea typeface="Nunito Bold"/>
                <a:cs typeface="Nunito Bold"/>
                <a:sym typeface="Nunito Bold"/>
              </a:rPr>
              <a:t>Continuous acquisition and instant updates</a:t>
            </a:r>
          </a:p>
        </p:txBody>
      </p:sp>
      <p:sp>
        <p:nvSpPr>
          <p:cNvPr id="61" name="TextBox 61"/>
          <p:cNvSpPr txBox="1"/>
          <p:nvPr/>
        </p:nvSpPr>
        <p:spPr>
          <a:xfrm>
            <a:off x="12582507" y="7741318"/>
            <a:ext cx="1465174" cy="173980"/>
          </a:xfrm>
          <a:prstGeom prst="rect">
            <a:avLst/>
          </a:prstGeom>
        </p:spPr>
        <p:txBody>
          <a:bodyPr lIns="0" tIns="0" rIns="0" bIns="0" rtlCol="0" anchor="t">
            <a:spAutoFit/>
          </a:bodyPr>
          <a:lstStyle/>
          <a:p>
            <a:pPr algn="l">
              <a:lnSpc>
                <a:spcPts val="1435"/>
              </a:lnSpc>
            </a:pPr>
            <a:r>
              <a:rPr lang="en-US" sz="1025" b="1" dirty="0">
                <a:solidFill>
                  <a:srgbClr val="002F5D"/>
                </a:solidFill>
                <a:latin typeface="Nunito Bold"/>
                <a:ea typeface="Nunito Bold"/>
                <a:cs typeface="Nunito Bold"/>
                <a:sym typeface="Nunito Bold"/>
              </a:rPr>
              <a:t>Threshold-based Alerts</a:t>
            </a:r>
          </a:p>
        </p:txBody>
      </p:sp>
      <p:sp>
        <p:nvSpPr>
          <p:cNvPr id="62" name="TextBox 62"/>
          <p:cNvSpPr txBox="1"/>
          <p:nvPr/>
        </p:nvSpPr>
        <p:spPr>
          <a:xfrm>
            <a:off x="12581381" y="8079993"/>
            <a:ext cx="2420722" cy="307777"/>
          </a:xfrm>
          <a:prstGeom prst="rect">
            <a:avLst/>
          </a:prstGeom>
        </p:spPr>
        <p:txBody>
          <a:bodyPr lIns="0" tIns="0" rIns="0" bIns="0" rtlCol="0" anchor="t">
            <a:spAutoFit/>
          </a:bodyPr>
          <a:lstStyle/>
          <a:p>
            <a:pPr algn="l">
              <a:lnSpc>
                <a:spcPts val="1187"/>
              </a:lnSpc>
            </a:pPr>
            <a:r>
              <a:rPr lang="en-US" sz="1100" b="1" dirty="0">
                <a:solidFill>
                  <a:srgbClr val="002F5D"/>
                </a:solidFill>
                <a:latin typeface="Nunito Bold"/>
                <a:ea typeface="Nunito Bold"/>
                <a:cs typeface="Nunito Bold"/>
                <a:sym typeface="Nunito Bold"/>
              </a:rPr>
              <a:t>Rule engine detects anomalies &amp; triggers alerts</a:t>
            </a:r>
          </a:p>
        </p:txBody>
      </p:sp>
      <p:sp>
        <p:nvSpPr>
          <p:cNvPr id="67" name="TextBox 67"/>
          <p:cNvSpPr txBox="1"/>
          <p:nvPr/>
        </p:nvSpPr>
        <p:spPr>
          <a:xfrm>
            <a:off x="2328215" y="4915488"/>
            <a:ext cx="605180" cy="564257"/>
          </a:xfrm>
          <a:prstGeom prst="rect">
            <a:avLst/>
          </a:prstGeom>
        </p:spPr>
        <p:txBody>
          <a:bodyPr lIns="0" tIns="0" rIns="0" bIns="0" rtlCol="0" anchor="t">
            <a:spAutoFit/>
          </a:bodyPr>
          <a:lstStyle/>
          <a:p>
            <a:pPr algn="ctr">
              <a:lnSpc>
                <a:spcPts val="1088"/>
              </a:lnSpc>
            </a:pPr>
            <a:r>
              <a:rPr lang="en-US" sz="1200" b="1" dirty="0">
                <a:solidFill>
                  <a:srgbClr val="002F5D"/>
                </a:solidFill>
                <a:latin typeface="Nunito Bold"/>
                <a:ea typeface="Nunito Bold"/>
                <a:cs typeface="Nunito Bold"/>
                <a:sym typeface="Nunito Bold"/>
              </a:rPr>
              <a:t>Body Temperature Sensor</a:t>
            </a:r>
          </a:p>
        </p:txBody>
      </p:sp>
      <p:sp>
        <p:nvSpPr>
          <p:cNvPr id="69" name="TextBox 69"/>
          <p:cNvSpPr txBox="1"/>
          <p:nvPr/>
        </p:nvSpPr>
        <p:spPr>
          <a:xfrm>
            <a:off x="2079151" y="3386782"/>
            <a:ext cx="1098880" cy="359073"/>
          </a:xfrm>
          <a:prstGeom prst="rect">
            <a:avLst/>
          </a:prstGeom>
        </p:spPr>
        <p:txBody>
          <a:bodyPr wrap="square" lIns="0" tIns="0" rIns="0" bIns="0" rtlCol="0" anchor="t">
            <a:spAutoFit/>
          </a:bodyPr>
          <a:lstStyle/>
          <a:p>
            <a:pPr algn="ctr">
              <a:lnSpc>
                <a:spcPts val="1385"/>
              </a:lnSpc>
            </a:pPr>
            <a:r>
              <a:rPr lang="en-US" sz="1200" dirty="0">
                <a:solidFill>
                  <a:srgbClr val="002F5D"/>
                </a:solidFill>
                <a:latin typeface="Nunito Bold"/>
                <a:ea typeface="Nunito Bold"/>
                <a:cs typeface="Nunito Bold"/>
                <a:sym typeface="Nunito Bold"/>
              </a:rPr>
              <a:t>Heart Rate Sensor</a:t>
            </a:r>
          </a:p>
        </p:txBody>
      </p:sp>
      <p:sp>
        <p:nvSpPr>
          <p:cNvPr id="71" name="TextBox 71"/>
          <p:cNvSpPr txBox="1"/>
          <p:nvPr/>
        </p:nvSpPr>
        <p:spPr>
          <a:xfrm>
            <a:off x="7166610" y="3977630"/>
            <a:ext cx="366293" cy="173080"/>
          </a:xfrm>
          <a:prstGeom prst="rect">
            <a:avLst/>
          </a:prstGeom>
        </p:spPr>
        <p:txBody>
          <a:bodyPr lIns="0" tIns="0" rIns="0" bIns="0" rtlCol="0" anchor="t">
            <a:spAutoFit/>
          </a:bodyPr>
          <a:lstStyle/>
          <a:p>
            <a:pPr algn="ctr">
              <a:lnSpc>
                <a:spcPts val="1485"/>
              </a:lnSpc>
            </a:pPr>
            <a:r>
              <a:rPr lang="en-US" sz="1060" b="1">
                <a:solidFill>
                  <a:srgbClr val="002F5D"/>
                </a:solidFill>
                <a:latin typeface="Nunito Bold"/>
                <a:ea typeface="Nunito Bold"/>
                <a:cs typeface="Nunito Bold"/>
                <a:sym typeface="Nunito Bold"/>
              </a:rPr>
              <a:t>Wi-Fi</a:t>
            </a:r>
          </a:p>
        </p:txBody>
      </p:sp>
      <p:sp>
        <p:nvSpPr>
          <p:cNvPr id="79" name="TextBox 79"/>
          <p:cNvSpPr txBox="1"/>
          <p:nvPr/>
        </p:nvSpPr>
        <p:spPr>
          <a:xfrm>
            <a:off x="9885956" y="5142332"/>
            <a:ext cx="1560728" cy="354055"/>
          </a:xfrm>
          <a:prstGeom prst="rect">
            <a:avLst/>
          </a:prstGeom>
        </p:spPr>
        <p:txBody>
          <a:bodyPr lIns="0" tIns="0" rIns="0" bIns="0" rtlCol="0" anchor="t">
            <a:spAutoFit/>
          </a:bodyPr>
          <a:lstStyle/>
          <a:p>
            <a:pPr algn="l">
              <a:lnSpc>
                <a:spcPts val="1485"/>
              </a:lnSpc>
            </a:pPr>
            <a:r>
              <a:rPr lang="en-US" sz="1060" b="1" dirty="0">
                <a:solidFill>
                  <a:srgbClr val="002F5D"/>
                </a:solidFill>
                <a:latin typeface="Nunito Bold"/>
                <a:ea typeface="Nunito Bold"/>
                <a:cs typeface="Nunito Bold"/>
                <a:sym typeface="Nunito Bold"/>
              </a:rPr>
              <a:t>Cloud Services (Firebase / Blynk / AWS)</a:t>
            </a:r>
          </a:p>
        </p:txBody>
      </p:sp>
      <p:sp>
        <p:nvSpPr>
          <p:cNvPr id="80" name="TextBox 80"/>
          <p:cNvSpPr txBox="1"/>
          <p:nvPr/>
        </p:nvSpPr>
        <p:spPr>
          <a:xfrm>
            <a:off x="9651035" y="5818448"/>
            <a:ext cx="771524" cy="152862"/>
          </a:xfrm>
          <a:prstGeom prst="rect">
            <a:avLst/>
          </a:prstGeom>
        </p:spPr>
        <p:txBody>
          <a:bodyPr wrap="square" lIns="0" tIns="0" rIns="0" bIns="0" rtlCol="0" anchor="t">
            <a:spAutoFit/>
          </a:bodyPr>
          <a:lstStyle/>
          <a:p>
            <a:pPr algn="ctr">
              <a:lnSpc>
                <a:spcPts val="1336"/>
              </a:lnSpc>
            </a:pPr>
            <a:r>
              <a:rPr lang="en-US" sz="954" b="1" dirty="0">
                <a:solidFill>
                  <a:srgbClr val="002F5D"/>
                </a:solidFill>
                <a:latin typeface="Nunito Bold"/>
                <a:ea typeface="Nunito Bold"/>
                <a:cs typeface="Nunito Bold"/>
                <a:sym typeface="Nunito Bold"/>
              </a:rPr>
              <a:t>Data Storage</a:t>
            </a:r>
          </a:p>
        </p:txBody>
      </p:sp>
      <p:sp>
        <p:nvSpPr>
          <p:cNvPr id="81" name="TextBox 81"/>
          <p:cNvSpPr txBox="1"/>
          <p:nvPr/>
        </p:nvSpPr>
        <p:spPr>
          <a:xfrm>
            <a:off x="10783970" y="5754774"/>
            <a:ext cx="1100022" cy="343043"/>
          </a:xfrm>
          <a:prstGeom prst="rect">
            <a:avLst/>
          </a:prstGeom>
        </p:spPr>
        <p:txBody>
          <a:bodyPr wrap="square" lIns="0" tIns="0" rIns="0" bIns="0" rtlCol="0" anchor="t">
            <a:spAutoFit/>
          </a:bodyPr>
          <a:lstStyle/>
          <a:p>
            <a:pPr algn="ctr">
              <a:lnSpc>
                <a:spcPts val="1385"/>
              </a:lnSpc>
            </a:pPr>
            <a:r>
              <a:rPr lang="en-US" sz="989" b="1" dirty="0">
                <a:solidFill>
                  <a:srgbClr val="002F5D"/>
                </a:solidFill>
                <a:latin typeface="Nunito Bold"/>
                <a:ea typeface="Nunito Bold"/>
                <a:cs typeface="Nunito Bold"/>
                <a:sym typeface="Nunito Bold"/>
              </a:rPr>
              <a:t>Analytics &amp; Insights</a:t>
            </a:r>
          </a:p>
        </p:txBody>
      </p:sp>
      <p:sp>
        <p:nvSpPr>
          <p:cNvPr id="82" name="Freeform 37">
            <a:extLst>
              <a:ext uri="{FF2B5EF4-FFF2-40B4-BE49-F238E27FC236}">
                <a16:creationId xmlns:a16="http://schemas.microsoft.com/office/drawing/2014/main" id="{3637CDA3-5033-9FC5-92CD-507688693519}"/>
              </a:ext>
            </a:extLst>
          </p:cNvPr>
          <p:cNvSpPr/>
          <p:nvPr/>
        </p:nvSpPr>
        <p:spPr>
          <a:xfrm>
            <a:off x="12502824" y="1713275"/>
            <a:ext cx="2667000" cy="4676775"/>
          </a:xfrm>
          <a:custGeom>
            <a:avLst/>
            <a:gdLst/>
            <a:ahLst/>
            <a:cxnLst/>
            <a:rect l="l" t="t" r="r" b="b"/>
            <a:pathLst>
              <a:path w="2667000" h="4676775">
                <a:moveTo>
                  <a:pt x="0" y="0"/>
                </a:moveTo>
                <a:lnTo>
                  <a:pt x="2667000" y="0"/>
                </a:lnTo>
                <a:lnTo>
                  <a:pt x="2667000" y="4676775"/>
                </a:lnTo>
                <a:lnTo>
                  <a:pt x="0" y="4676775"/>
                </a:lnTo>
                <a:lnTo>
                  <a:pt x="0" y="0"/>
                </a:lnTo>
                <a:close/>
              </a:path>
            </a:pathLst>
          </a:custGeom>
          <a:blipFill>
            <a:blip r:embed="rId2"/>
            <a:stretch>
              <a:fillRect/>
            </a:stretch>
          </a:blipFill>
        </p:spPr>
        <p:txBody>
          <a:bodyPr/>
          <a:lstStyle/>
          <a:p>
            <a:endParaRPr lang="en-IN" dirty="0"/>
          </a:p>
        </p:txBody>
      </p:sp>
      <p:cxnSp>
        <p:nvCxnSpPr>
          <p:cNvPr id="86" name="Straight Arrow Connector 85">
            <a:extLst>
              <a:ext uri="{FF2B5EF4-FFF2-40B4-BE49-F238E27FC236}">
                <a16:creationId xmlns:a16="http://schemas.microsoft.com/office/drawing/2014/main" id="{A5D45AD4-A570-23C7-3FBC-BC05D95843C3}"/>
              </a:ext>
            </a:extLst>
          </p:cNvPr>
          <p:cNvCxnSpPr>
            <a:cxnSpLocks/>
          </p:cNvCxnSpPr>
          <p:nvPr/>
        </p:nvCxnSpPr>
        <p:spPr>
          <a:xfrm>
            <a:off x="1833116" y="7648575"/>
            <a:ext cx="3372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2A88076D-77FF-FABC-97B7-8382475D5218}"/>
              </a:ext>
            </a:extLst>
          </p:cNvPr>
          <p:cNvCxnSpPr>
            <a:cxnSpLocks/>
          </p:cNvCxnSpPr>
          <p:nvPr/>
        </p:nvCxnSpPr>
        <p:spPr>
          <a:xfrm>
            <a:off x="3206055" y="7677150"/>
            <a:ext cx="3372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A744C8B2-6128-C03C-71E6-44C5AB563B02}"/>
              </a:ext>
            </a:extLst>
          </p:cNvPr>
          <p:cNvCxnSpPr>
            <a:cxnSpLocks/>
          </p:cNvCxnSpPr>
          <p:nvPr/>
        </p:nvCxnSpPr>
        <p:spPr>
          <a:xfrm>
            <a:off x="4730055" y="7677149"/>
            <a:ext cx="3372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3EF203BF-E447-1616-E674-FAE2CE5BDB3C}"/>
              </a:ext>
            </a:extLst>
          </p:cNvPr>
          <p:cNvCxnSpPr>
            <a:cxnSpLocks/>
          </p:cNvCxnSpPr>
          <p:nvPr/>
        </p:nvCxnSpPr>
        <p:spPr>
          <a:xfrm>
            <a:off x="6101655" y="7677148"/>
            <a:ext cx="3372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2A026362-7CD5-11F8-A0DA-B5B73ED18B1F}"/>
              </a:ext>
            </a:extLst>
          </p:cNvPr>
          <p:cNvCxnSpPr>
            <a:cxnSpLocks/>
          </p:cNvCxnSpPr>
          <p:nvPr/>
        </p:nvCxnSpPr>
        <p:spPr>
          <a:xfrm>
            <a:off x="7277100" y="7677147"/>
            <a:ext cx="33724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Freeform 38">
            <a:extLst>
              <a:ext uri="{FF2B5EF4-FFF2-40B4-BE49-F238E27FC236}">
                <a16:creationId xmlns:a16="http://schemas.microsoft.com/office/drawing/2014/main" id="{53FD4AAC-7285-452D-8814-71F45331E128}"/>
              </a:ext>
            </a:extLst>
          </p:cNvPr>
          <p:cNvSpPr/>
          <p:nvPr/>
        </p:nvSpPr>
        <p:spPr>
          <a:xfrm>
            <a:off x="9637242" y="1862322"/>
            <a:ext cx="2476500" cy="561975"/>
          </a:xfrm>
          <a:custGeom>
            <a:avLst/>
            <a:gdLst/>
            <a:ahLst/>
            <a:cxnLst/>
            <a:rect l="l" t="t" r="r" b="b"/>
            <a:pathLst>
              <a:path w="2476500" h="561975">
                <a:moveTo>
                  <a:pt x="0" y="0"/>
                </a:moveTo>
                <a:lnTo>
                  <a:pt x="2476500" y="0"/>
                </a:lnTo>
                <a:lnTo>
                  <a:pt x="2476500" y="561975"/>
                </a:lnTo>
                <a:lnTo>
                  <a:pt x="0" y="561975"/>
                </a:lnTo>
                <a:lnTo>
                  <a:pt x="0" y="0"/>
                </a:lnTo>
                <a:close/>
              </a:path>
            </a:pathLst>
          </a:custGeom>
          <a:blipFill>
            <a:blip r:embed="rId28"/>
            <a:stretch>
              <a:fillRect/>
            </a:stretch>
          </a:blipFill>
        </p:spPr>
      </p:sp>
      <p:sp>
        <p:nvSpPr>
          <p:cNvPr id="92" name="TextBox 39">
            <a:extLst>
              <a:ext uri="{FF2B5EF4-FFF2-40B4-BE49-F238E27FC236}">
                <a16:creationId xmlns:a16="http://schemas.microsoft.com/office/drawing/2014/main" id="{728F802A-EB57-8B1D-7528-6832F993AF2B}"/>
              </a:ext>
            </a:extLst>
          </p:cNvPr>
          <p:cNvSpPr txBox="1"/>
          <p:nvPr/>
        </p:nvSpPr>
        <p:spPr>
          <a:xfrm>
            <a:off x="9866721" y="2015462"/>
            <a:ext cx="2006651" cy="215302"/>
          </a:xfrm>
          <a:prstGeom prst="rect">
            <a:avLst/>
          </a:prstGeom>
        </p:spPr>
        <p:txBody>
          <a:bodyPr lIns="0" tIns="0" rIns="0" bIns="0" rtlCol="0" anchor="t">
            <a:spAutoFit/>
          </a:bodyPr>
          <a:lstStyle/>
          <a:p>
            <a:pPr algn="ctr">
              <a:lnSpc>
                <a:spcPts val="1782"/>
              </a:lnSpc>
            </a:pPr>
            <a:r>
              <a:rPr lang="en-US" sz="1400" b="1" dirty="0">
                <a:solidFill>
                  <a:srgbClr val="FFFFFF"/>
                </a:solidFill>
                <a:latin typeface="Nunito Ultra-Bold"/>
                <a:ea typeface="Nunito Ultra-Bold"/>
                <a:cs typeface="Nunito Ultra-Bold"/>
                <a:sym typeface="Nunito Ultra-Bold"/>
              </a:rPr>
              <a:t>4. Cloud Platform</a:t>
            </a:r>
          </a:p>
        </p:txBody>
      </p:sp>
      <p:pic>
        <p:nvPicPr>
          <p:cNvPr id="94" name="Picture 93">
            <a:extLst>
              <a:ext uri="{FF2B5EF4-FFF2-40B4-BE49-F238E27FC236}">
                <a16:creationId xmlns:a16="http://schemas.microsoft.com/office/drawing/2014/main" id="{4E69EA1A-D87B-369C-0CD5-9FAA92FB9F7C}"/>
              </a:ext>
            </a:extLst>
          </p:cNvPr>
          <p:cNvPicPr>
            <a:picLocks noChangeAspect="1"/>
          </p:cNvPicPr>
          <p:nvPr/>
        </p:nvPicPr>
        <p:blipFill>
          <a:blip r:embed="rId34" cstate="print">
            <a:extLst>
              <a:ext uri="{28A0092B-C50C-407E-A947-70E740481C1C}">
                <a14:useLocalDpi xmlns:a14="http://schemas.microsoft.com/office/drawing/2010/main" val="0"/>
              </a:ext>
            </a:extLst>
          </a:blip>
          <a:stretch>
            <a:fillRect/>
          </a:stretch>
        </p:blipFill>
        <p:spPr>
          <a:xfrm>
            <a:off x="9692974" y="2975678"/>
            <a:ext cx="2359837" cy="2359837"/>
          </a:xfrm>
          <a:prstGeom prst="rect">
            <a:avLst/>
          </a:prstGeom>
        </p:spPr>
      </p:pic>
      <p:sp>
        <p:nvSpPr>
          <p:cNvPr id="95" name="Freeform 38">
            <a:extLst>
              <a:ext uri="{FF2B5EF4-FFF2-40B4-BE49-F238E27FC236}">
                <a16:creationId xmlns:a16="http://schemas.microsoft.com/office/drawing/2014/main" id="{8DF92261-D575-488F-E395-04D30CEC1321}"/>
              </a:ext>
            </a:extLst>
          </p:cNvPr>
          <p:cNvSpPr/>
          <p:nvPr/>
        </p:nvSpPr>
        <p:spPr>
          <a:xfrm>
            <a:off x="12658330" y="1844259"/>
            <a:ext cx="2476500" cy="561975"/>
          </a:xfrm>
          <a:custGeom>
            <a:avLst/>
            <a:gdLst/>
            <a:ahLst/>
            <a:cxnLst/>
            <a:rect l="l" t="t" r="r" b="b"/>
            <a:pathLst>
              <a:path w="2476500" h="561975">
                <a:moveTo>
                  <a:pt x="0" y="0"/>
                </a:moveTo>
                <a:lnTo>
                  <a:pt x="2476500" y="0"/>
                </a:lnTo>
                <a:lnTo>
                  <a:pt x="2476500" y="561975"/>
                </a:lnTo>
                <a:lnTo>
                  <a:pt x="0" y="561975"/>
                </a:lnTo>
                <a:lnTo>
                  <a:pt x="0" y="0"/>
                </a:lnTo>
                <a:close/>
              </a:path>
            </a:pathLst>
          </a:custGeom>
          <a:blipFill>
            <a:blip r:embed="rId28"/>
            <a:stretch>
              <a:fillRect/>
            </a:stretch>
          </a:blipFill>
        </p:spPr>
      </p:sp>
      <p:sp>
        <p:nvSpPr>
          <p:cNvPr id="96" name="TextBox 39">
            <a:extLst>
              <a:ext uri="{FF2B5EF4-FFF2-40B4-BE49-F238E27FC236}">
                <a16:creationId xmlns:a16="http://schemas.microsoft.com/office/drawing/2014/main" id="{C6B02CE1-173D-11F5-34F6-79B92ED74E93}"/>
              </a:ext>
            </a:extLst>
          </p:cNvPr>
          <p:cNvSpPr txBox="1"/>
          <p:nvPr/>
        </p:nvSpPr>
        <p:spPr>
          <a:xfrm>
            <a:off x="12788417" y="1999081"/>
            <a:ext cx="2006651" cy="215302"/>
          </a:xfrm>
          <a:prstGeom prst="rect">
            <a:avLst/>
          </a:prstGeom>
        </p:spPr>
        <p:txBody>
          <a:bodyPr lIns="0" tIns="0" rIns="0" bIns="0" rtlCol="0" anchor="t">
            <a:spAutoFit/>
          </a:bodyPr>
          <a:lstStyle/>
          <a:p>
            <a:pPr algn="ctr">
              <a:lnSpc>
                <a:spcPts val="1782"/>
              </a:lnSpc>
            </a:pPr>
            <a:r>
              <a:rPr lang="en-US" sz="1400" b="1" dirty="0">
                <a:solidFill>
                  <a:srgbClr val="FFFFFF"/>
                </a:solidFill>
                <a:latin typeface="Nunito Ultra-Bold"/>
                <a:ea typeface="Nunito Ultra-Bold"/>
                <a:cs typeface="Nunito Ultra-Bold"/>
                <a:sym typeface="Nunito Ultra-Bold"/>
              </a:rPr>
              <a:t>5. Visualization </a:t>
            </a:r>
          </a:p>
        </p:txBody>
      </p:sp>
      <p:sp>
        <p:nvSpPr>
          <p:cNvPr id="50" name="TextBox 50"/>
          <p:cNvSpPr txBox="1"/>
          <p:nvPr/>
        </p:nvSpPr>
        <p:spPr>
          <a:xfrm>
            <a:off x="12931750" y="2416983"/>
            <a:ext cx="1688135" cy="610424"/>
          </a:xfrm>
          <a:prstGeom prst="rect">
            <a:avLst/>
          </a:prstGeom>
        </p:spPr>
        <p:txBody>
          <a:bodyPr lIns="0" tIns="0" rIns="0" bIns="0" rtlCol="0" anchor="t">
            <a:spAutoFit/>
          </a:bodyPr>
          <a:lstStyle/>
          <a:p>
            <a:pPr algn="ctr">
              <a:lnSpc>
                <a:spcPts val="1584"/>
              </a:lnSpc>
            </a:pPr>
            <a:r>
              <a:rPr lang="en-US" sz="1200" b="1" dirty="0">
                <a:solidFill>
                  <a:srgbClr val="002F5D"/>
                </a:solidFill>
                <a:latin typeface="Nunito Bold"/>
                <a:ea typeface="Nunito Bold"/>
                <a:cs typeface="Nunito Bold"/>
                <a:sym typeface="Nunito Bold"/>
              </a:rPr>
              <a:t>Real-time visualization &amp; alerting for </a:t>
            </a:r>
            <a:r>
              <a:rPr lang="en-US" sz="1200" b="1" dirty="0" err="1">
                <a:solidFill>
                  <a:srgbClr val="002F5D"/>
                </a:solidFill>
                <a:latin typeface="Nunito Bold"/>
                <a:ea typeface="Nunito Bold"/>
                <a:cs typeface="Nunito Bold"/>
                <a:sym typeface="Nunito Bold"/>
              </a:rPr>
              <a:t>careegivers</a:t>
            </a:r>
            <a:r>
              <a:rPr lang="en-US" sz="1200" b="1" dirty="0">
                <a:solidFill>
                  <a:srgbClr val="002F5D"/>
                </a:solidFill>
                <a:latin typeface="Nunito Bold"/>
                <a:ea typeface="Nunito Bold"/>
                <a:cs typeface="Nunito Bold"/>
                <a:sym typeface="Nunito Bold"/>
              </a:rPr>
              <a:t>.</a:t>
            </a:r>
          </a:p>
        </p:txBody>
      </p:sp>
      <p:pic>
        <p:nvPicPr>
          <p:cNvPr id="98" name="Picture 97">
            <a:extLst>
              <a:ext uri="{FF2B5EF4-FFF2-40B4-BE49-F238E27FC236}">
                <a16:creationId xmlns:a16="http://schemas.microsoft.com/office/drawing/2014/main" id="{7250D6D0-B8E8-483A-1E56-9F689502D273}"/>
              </a:ext>
            </a:extLst>
          </p:cNvPr>
          <p:cNvPicPr>
            <a:picLocks noChangeAspect="1"/>
          </p:cNvPicPr>
          <p:nvPr/>
        </p:nvPicPr>
        <p:blipFill>
          <a:blip r:embed="rId35" cstate="print">
            <a:extLst>
              <a:ext uri="{28A0092B-C50C-407E-A947-70E740481C1C}">
                <a14:useLocalDpi xmlns:a14="http://schemas.microsoft.com/office/drawing/2010/main" val="0"/>
              </a:ext>
            </a:extLst>
          </a:blip>
          <a:stretch>
            <a:fillRect/>
          </a:stretch>
        </p:blipFill>
        <p:spPr>
          <a:xfrm>
            <a:off x="12641584" y="2973435"/>
            <a:ext cx="2246265" cy="2246265"/>
          </a:xfrm>
          <a:prstGeom prst="rect">
            <a:avLst/>
          </a:prstGeom>
        </p:spPr>
      </p:pic>
      <p:sp>
        <p:nvSpPr>
          <p:cNvPr id="101" name="Freeform 4">
            <a:extLst>
              <a:ext uri="{FF2B5EF4-FFF2-40B4-BE49-F238E27FC236}">
                <a16:creationId xmlns:a16="http://schemas.microsoft.com/office/drawing/2014/main" id="{03FDDC66-69AF-072E-63A5-0272E8D4AB5E}"/>
              </a:ext>
            </a:extLst>
          </p:cNvPr>
          <p:cNvSpPr/>
          <p:nvPr/>
        </p:nvSpPr>
        <p:spPr>
          <a:xfrm>
            <a:off x="-8041" y="7096125"/>
            <a:ext cx="2085975" cy="1876425"/>
          </a:xfrm>
          <a:custGeom>
            <a:avLst/>
            <a:gdLst/>
            <a:ahLst/>
            <a:cxnLst/>
            <a:rect l="l" t="t" r="r" b="b"/>
            <a:pathLst>
              <a:path w="2085975" h="1876425">
                <a:moveTo>
                  <a:pt x="0" y="0"/>
                </a:moveTo>
                <a:lnTo>
                  <a:pt x="2085975" y="0"/>
                </a:lnTo>
                <a:lnTo>
                  <a:pt x="2085975" y="1876425"/>
                </a:lnTo>
                <a:lnTo>
                  <a:pt x="0" y="1876425"/>
                </a:lnTo>
                <a:lnTo>
                  <a:pt x="0" y="0"/>
                </a:lnTo>
                <a:close/>
              </a:path>
            </a:pathLst>
          </a:custGeom>
          <a:blipFill>
            <a:blip r:embed="rId36"/>
            <a:stretch>
              <a:fillRect/>
            </a:stretch>
          </a:blipFill>
        </p:spPr>
      </p:sp>
      <p:sp>
        <p:nvSpPr>
          <p:cNvPr id="102" name="Freeform 46">
            <a:extLst>
              <a:ext uri="{FF2B5EF4-FFF2-40B4-BE49-F238E27FC236}">
                <a16:creationId xmlns:a16="http://schemas.microsoft.com/office/drawing/2014/main" id="{76908BE8-C2AA-A009-8AEF-72CC4E1BD2C9}"/>
              </a:ext>
            </a:extLst>
          </p:cNvPr>
          <p:cNvSpPr/>
          <p:nvPr/>
        </p:nvSpPr>
        <p:spPr>
          <a:xfrm>
            <a:off x="12132414" y="3696642"/>
            <a:ext cx="581025" cy="561975"/>
          </a:xfrm>
          <a:custGeom>
            <a:avLst/>
            <a:gdLst/>
            <a:ahLst/>
            <a:cxnLst/>
            <a:rect l="l" t="t" r="r" b="b"/>
            <a:pathLst>
              <a:path w="581025" h="561975">
                <a:moveTo>
                  <a:pt x="0" y="0"/>
                </a:moveTo>
                <a:lnTo>
                  <a:pt x="581025" y="0"/>
                </a:lnTo>
                <a:lnTo>
                  <a:pt x="581025" y="561975"/>
                </a:lnTo>
                <a:lnTo>
                  <a:pt x="0" y="561975"/>
                </a:lnTo>
                <a:lnTo>
                  <a:pt x="0" y="0"/>
                </a:lnTo>
                <a:close/>
              </a:path>
            </a:pathLst>
          </a:custGeom>
          <a:blipFill>
            <a:blip r:embed="rId33"/>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5925800" cy="8963025"/>
          </a:xfrm>
          <a:custGeom>
            <a:avLst/>
            <a:gdLst/>
            <a:ahLst/>
            <a:cxnLst/>
            <a:rect l="l" t="t" r="r" b="b"/>
            <a:pathLst>
              <a:path w="15925800" h="8963025">
                <a:moveTo>
                  <a:pt x="0" y="0"/>
                </a:moveTo>
                <a:lnTo>
                  <a:pt x="15925800" y="0"/>
                </a:lnTo>
                <a:lnTo>
                  <a:pt x="15925800" y="8963025"/>
                </a:lnTo>
                <a:lnTo>
                  <a:pt x="0" y="8963025"/>
                </a:lnTo>
                <a:lnTo>
                  <a:pt x="0" y="0"/>
                </a:lnTo>
                <a:close/>
              </a:path>
            </a:pathLst>
          </a:custGeom>
          <a:blipFill>
            <a:blip r:embed="rId2"/>
            <a:stretch>
              <a:fillRect/>
            </a:stretch>
          </a:blipFill>
        </p:spPr>
        <p:txBody>
          <a:bodyPr/>
          <a:lstStyle/>
          <a:p>
            <a:endParaRPr lang="en-IN" sz="2400" dirty="0">
              <a:latin typeface="Aptos" panose="020B0004020202020204" pitchFamily="34" charset="0"/>
            </a:endParaRPr>
          </a:p>
        </p:txBody>
      </p:sp>
      <p:sp>
        <p:nvSpPr>
          <p:cNvPr id="3" name="Freeform 3"/>
          <p:cNvSpPr/>
          <p:nvPr/>
        </p:nvSpPr>
        <p:spPr>
          <a:xfrm>
            <a:off x="0" y="0"/>
            <a:ext cx="2657475" cy="2057400"/>
          </a:xfrm>
          <a:custGeom>
            <a:avLst/>
            <a:gdLst/>
            <a:ahLst/>
            <a:cxnLst/>
            <a:rect l="l" t="t" r="r" b="b"/>
            <a:pathLst>
              <a:path w="2657475" h="2057400">
                <a:moveTo>
                  <a:pt x="0" y="0"/>
                </a:moveTo>
                <a:lnTo>
                  <a:pt x="2657475" y="0"/>
                </a:lnTo>
                <a:lnTo>
                  <a:pt x="2657475" y="2057400"/>
                </a:lnTo>
                <a:lnTo>
                  <a:pt x="0" y="2057400"/>
                </a:lnTo>
                <a:lnTo>
                  <a:pt x="0" y="0"/>
                </a:lnTo>
                <a:close/>
              </a:path>
            </a:pathLst>
          </a:custGeom>
          <a:blipFill>
            <a:blip r:embed="rId3"/>
            <a:stretch>
              <a:fillRect/>
            </a:stretch>
          </a:blipFill>
        </p:spPr>
      </p:sp>
      <p:sp>
        <p:nvSpPr>
          <p:cNvPr id="4" name="Freeform 4"/>
          <p:cNvSpPr/>
          <p:nvPr/>
        </p:nvSpPr>
        <p:spPr>
          <a:xfrm>
            <a:off x="180975" y="180975"/>
            <a:ext cx="771525" cy="762000"/>
          </a:xfrm>
          <a:custGeom>
            <a:avLst/>
            <a:gdLst/>
            <a:ahLst/>
            <a:cxnLst/>
            <a:rect l="l" t="t" r="r" b="b"/>
            <a:pathLst>
              <a:path w="771525" h="762000">
                <a:moveTo>
                  <a:pt x="0" y="0"/>
                </a:moveTo>
                <a:lnTo>
                  <a:pt x="771525" y="0"/>
                </a:lnTo>
                <a:lnTo>
                  <a:pt x="771525" y="762000"/>
                </a:lnTo>
                <a:lnTo>
                  <a:pt x="0" y="762000"/>
                </a:lnTo>
                <a:lnTo>
                  <a:pt x="0" y="0"/>
                </a:lnTo>
                <a:close/>
              </a:path>
            </a:pathLst>
          </a:custGeom>
          <a:blipFill>
            <a:blip r:embed="rId4"/>
            <a:stretch>
              <a:fillRect/>
            </a:stretch>
          </a:blipFill>
        </p:spPr>
      </p:sp>
      <p:sp>
        <p:nvSpPr>
          <p:cNvPr id="5" name="Freeform 5"/>
          <p:cNvSpPr/>
          <p:nvPr/>
        </p:nvSpPr>
        <p:spPr>
          <a:xfrm>
            <a:off x="14020800" y="0"/>
            <a:ext cx="1905000" cy="1495425"/>
          </a:xfrm>
          <a:custGeom>
            <a:avLst/>
            <a:gdLst/>
            <a:ahLst/>
            <a:cxnLst/>
            <a:rect l="l" t="t" r="r" b="b"/>
            <a:pathLst>
              <a:path w="1905000" h="1495425">
                <a:moveTo>
                  <a:pt x="0" y="0"/>
                </a:moveTo>
                <a:lnTo>
                  <a:pt x="1905000" y="0"/>
                </a:lnTo>
                <a:lnTo>
                  <a:pt x="1905000" y="1495425"/>
                </a:lnTo>
                <a:lnTo>
                  <a:pt x="0" y="1495425"/>
                </a:lnTo>
                <a:lnTo>
                  <a:pt x="0" y="0"/>
                </a:lnTo>
                <a:close/>
              </a:path>
            </a:pathLst>
          </a:custGeom>
          <a:blipFill>
            <a:blip r:embed="rId5"/>
            <a:stretch>
              <a:fillRect/>
            </a:stretch>
          </a:blipFill>
        </p:spPr>
      </p:sp>
      <p:sp>
        <p:nvSpPr>
          <p:cNvPr id="6" name="TextBox 6"/>
          <p:cNvSpPr txBox="1"/>
          <p:nvPr/>
        </p:nvSpPr>
        <p:spPr>
          <a:xfrm>
            <a:off x="3447935" y="-41422"/>
            <a:ext cx="9985477" cy="1090042"/>
          </a:xfrm>
          <a:prstGeom prst="rect">
            <a:avLst/>
          </a:prstGeom>
        </p:spPr>
        <p:txBody>
          <a:bodyPr wrap="square" lIns="0" tIns="0" rIns="0" bIns="0" rtlCol="0" anchor="t">
            <a:spAutoFit/>
          </a:bodyPr>
          <a:lstStyle/>
          <a:p>
            <a:pPr algn="ctr">
              <a:lnSpc>
                <a:spcPts val="8482"/>
              </a:lnSpc>
            </a:pPr>
            <a:r>
              <a:rPr lang="en-US" sz="7200" b="1" dirty="0">
                <a:solidFill>
                  <a:srgbClr val="001C4B"/>
                </a:solidFill>
                <a:latin typeface="Aptos" panose="020B0004020202020204" pitchFamily="34" charset="0"/>
                <a:ea typeface="Montserrat Bold"/>
                <a:cs typeface="Montserrat Bold"/>
                <a:sym typeface="Montserrat Bold"/>
              </a:rPr>
              <a:t>IMPACTS &amp; </a:t>
            </a:r>
            <a:r>
              <a:rPr lang="en-US" sz="7200" b="1" dirty="0">
                <a:solidFill>
                  <a:srgbClr val="00805C"/>
                </a:solidFill>
                <a:latin typeface="Aptos" panose="020B0004020202020204" pitchFamily="34" charset="0"/>
                <a:ea typeface="Montserrat Bold"/>
                <a:cs typeface="Montserrat Bold"/>
                <a:sym typeface="Montserrat Bold"/>
              </a:rPr>
              <a:t>BENEFITS</a:t>
            </a:r>
            <a:r>
              <a:rPr lang="en-US" sz="7200" b="1" dirty="0">
                <a:solidFill>
                  <a:srgbClr val="001C4B"/>
                </a:solidFill>
                <a:latin typeface="Aptos" panose="020B0004020202020204" pitchFamily="34" charset="0"/>
                <a:ea typeface="Montserrat Bold"/>
                <a:cs typeface="Montserrat Bold"/>
                <a:sym typeface="Montserrat Bold"/>
              </a:rPr>
              <a:t> </a:t>
            </a:r>
          </a:p>
        </p:txBody>
      </p:sp>
      <p:sp>
        <p:nvSpPr>
          <p:cNvPr id="7" name="TextBox 7"/>
          <p:cNvSpPr txBox="1"/>
          <p:nvPr/>
        </p:nvSpPr>
        <p:spPr>
          <a:xfrm>
            <a:off x="5144033" y="974312"/>
            <a:ext cx="5637733" cy="615553"/>
          </a:xfrm>
          <a:prstGeom prst="rect">
            <a:avLst/>
          </a:prstGeom>
        </p:spPr>
        <p:txBody>
          <a:bodyPr lIns="0" tIns="0" rIns="0" bIns="0" rtlCol="0" anchor="t">
            <a:spAutoFit/>
          </a:bodyPr>
          <a:lstStyle/>
          <a:p>
            <a:pPr algn="ctr">
              <a:lnSpc>
                <a:spcPts val="2428"/>
              </a:lnSpc>
            </a:pPr>
            <a:r>
              <a:rPr lang="en-US" sz="2000" b="1">
                <a:solidFill>
                  <a:srgbClr val="001C4B"/>
                </a:solidFill>
                <a:latin typeface="Aptos" panose="020B0004020202020204" pitchFamily="34" charset="0"/>
                <a:ea typeface="Montserrat Medium"/>
                <a:cs typeface="Montserrat Medium"/>
                <a:sym typeface="Montserrat Medium"/>
              </a:rPr>
              <a:t>Transforming Patient Care with Real-time Insights</a:t>
            </a:r>
          </a:p>
        </p:txBody>
      </p:sp>
      <p:sp>
        <p:nvSpPr>
          <p:cNvPr id="8" name="Freeform 8"/>
          <p:cNvSpPr/>
          <p:nvPr/>
        </p:nvSpPr>
        <p:spPr>
          <a:xfrm>
            <a:off x="1133475" y="1485900"/>
            <a:ext cx="4562475" cy="390525"/>
          </a:xfrm>
          <a:custGeom>
            <a:avLst/>
            <a:gdLst/>
            <a:ahLst/>
            <a:cxnLst/>
            <a:rect l="l" t="t" r="r" b="b"/>
            <a:pathLst>
              <a:path w="4562475" h="390525">
                <a:moveTo>
                  <a:pt x="0" y="0"/>
                </a:moveTo>
                <a:lnTo>
                  <a:pt x="4562475" y="0"/>
                </a:lnTo>
                <a:lnTo>
                  <a:pt x="4562475" y="390525"/>
                </a:lnTo>
                <a:lnTo>
                  <a:pt x="0" y="390525"/>
                </a:lnTo>
                <a:lnTo>
                  <a:pt x="0" y="0"/>
                </a:lnTo>
                <a:close/>
              </a:path>
            </a:pathLst>
          </a:custGeom>
          <a:blipFill>
            <a:blip r:embed="rId6"/>
            <a:stretch>
              <a:fillRect/>
            </a:stretch>
          </a:blipFill>
        </p:spPr>
      </p:sp>
      <p:sp>
        <p:nvSpPr>
          <p:cNvPr id="9" name="Freeform 9"/>
          <p:cNvSpPr/>
          <p:nvPr/>
        </p:nvSpPr>
        <p:spPr>
          <a:xfrm>
            <a:off x="2076450" y="1304925"/>
            <a:ext cx="2095500" cy="571500"/>
          </a:xfrm>
          <a:custGeom>
            <a:avLst/>
            <a:gdLst/>
            <a:ahLst/>
            <a:cxnLst/>
            <a:rect l="l" t="t" r="r" b="b"/>
            <a:pathLst>
              <a:path w="2095500" h="571500">
                <a:moveTo>
                  <a:pt x="0" y="0"/>
                </a:moveTo>
                <a:lnTo>
                  <a:pt x="2095500" y="0"/>
                </a:lnTo>
                <a:lnTo>
                  <a:pt x="2095500" y="571500"/>
                </a:lnTo>
                <a:lnTo>
                  <a:pt x="0" y="571500"/>
                </a:lnTo>
                <a:lnTo>
                  <a:pt x="0" y="0"/>
                </a:lnTo>
                <a:close/>
              </a:path>
            </a:pathLst>
          </a:custGeom>
          <a:blipFill>
            <a:blip r:embed="rId7"/>
            <a:stretch>
              <a:fillRect/>
            </a:stretch>
          </a:blipFill>
        </p:spPr>
      </p:sp>
      <p:sp>
        <p:nvSpPr>
          <p:cNvPr id="10" name="TextBox 10"/>
          <p:cNvSpPr txBox="1"/>
          <p:nvPr/>
        </p:nvSpPr>
        <p:spPr>
          <a:xfrm>
            <a:off x="2149983" y="1477257"/>
            <a:ext cx="1799615" cy="346249"/>
          </a:xfrm>
          <a:prstGeom prst="rect">
            <a:avLst/>
          </a:prstGeom>
        </p:spPr>
        <p:txBody>
          <a:bodyPr lIns="0" tIns="0" rIns="0" bIns="0" rtlCol="0" anchor="t">
            <a:spAutoFit/>
          </a:bodyPr>
          <a:lstStyle/>
          <a:p>
            <a:pPr algn="ctr">
              <a:lnSpc>
                <a:spcPts val="2725"/>
              </a:lnSpc>
            </a:pPr>
            <a:r>
              <a:rPr lang="en-US" sz="2400" b="1">
                <a:solidFill>
                  <a:srgbClr val="FFFFFF"/>
                </a:solidFill>
                <a:latin typeface="Aptos" panose="020B0004020202020204" pitchFamily="34" charset="0"/>
                <a:ea typeface="Montserrat Bold"/>
                <a:cs typeface="Montserrat Bold"/>
                <a:sym typeface="Montserrat Bold"/>
              </a:rPr>
              <a:t>IMPACTS</a:t>
            </a:r>
          </a:p>
        </p:txBody>
      </p:sp>
      <p:sp>
        <p:nvSpPr>
          <p:cNvPr id="11" name="Freeform 11"/>
          <p:cNvSpPr/>
          <p:nvPr/>
        </p:nvSpPr>
        <p:spPr>
          <a:xfrm>
            <a:off x="5876925" y="1304925"/>
            <a:ext cx="4171950" cy="571500"/>
          </a:xfrm>
          <a:custGeom>
            <a:avLst/>
            <a:gdLst/>
            <a:ahLst/>
            <a:cxnLst/>
            <a:rect l="l" t="t" r="r" b="b"/>
            <a:pathLst>
              <a:path w="4171950" h="571500">
                <a:moveTo>
                  <a:pt x="0" y="0"/>
                </a:moveTo>
                <a:lnTo>
                  <a:pt x="4171950" y="0"/>
                </a:lnTo>
                <a:lnTo>
                  <a:pt x="4171950" y="571500"/>
                </a:lnTo>
                <a:lnTo>
                  <a:pt x="0" y="571500"/>
                </a:lnTo>
                <a:lnTo>
                  <a:pt x="0" y="0"/>
                </a:lnTo>
                <a:close/>
              </a:path>
            </a:pathLst>
          </a:custGeom>
          <a:blipFill>
            <a:blip r:embed="rId8"/>
            <a:stretch>
              <a:fillRect/>
            </a:stretch>
          </a:blipFill>
        </p:spPr>
      </p:sp>
      <p:sp>
        <p:nvSpPr>
          <p:cNvPr id="12" name="Freeform 12"/>
          <p:cNvSpPr/>
          <p:nvPr/>
        </p:nvSpPr>
        <p:spPr>
          <a:xfrm>
            <a:off x="10229850" y="1485900"/>
            <a:ext cx="4562475" cy="390525"/>
          </a:xfrm>
          <a:custGeom>
            <a:avLst/>
            <a:gdLst/>
            <a:ahLst/>
            <a:cxnLst/>
            <a:rect l="l" t="t" r="r" b="b"/>
            <a:pathLst>
              <a:path w="4562475" h="390525">
                <a:moveTo>
                  <a:pt x="0" y="0"/>
                </a:moveTo>
                <a:lnTo>
                  <a:pt x="4562475" y="0"/>
                </a:lnTo>
                <a:lnTo>
                  <a:pt x="4562475" y="390525"/>
                </a:lnTo>
                <a:lnTo>
                  <a:pt x="0" y="390525"/>
                </a:lnTo>
                <a:lnTo>
                  <a:pt x="0" y="0"/>
                </a:lnTo>
                <a:close/>
              </a:path>
            </a:pathLst>
          </a:custGeom>
          <a:blipFill>
            <a:blip r:embed="rId9"/>
            <a:stretch>
              <a:fillRect/>
            </a:stretch>
          </a:blipFill>
        </p:spPr>
      </p:sp>
      <p:sp>
        <p:nvSpPr>
          <p:cNvPr id="13" name="Freeform 13"/>
          <p:cNvSpPr/>
          <p:nvPr/>
        </p:nvSpPr>
        <p:spPr>
          <a:xfrm>
            <a:off x="11753850" y="1304925"/>
            <a:ext cx="2095500" cy="571500"/>
          </a:xfrm>
          <a:custGeom>
            <a:avLst/>
            <a:gdLst/>
            <a:ahLst/>
            <a:cxnLst/>
            <a:rect l="l" t="t" r="r" b="b"/>
            <a:pathLst>
              <a:path w="2095500" h="571500">
                <a:moveTo>
                  <a:pt x="0" y="0"/>
                </a:moveTo>
                <a:lnTo>
                  <a:pt x="2095500" y="0"/>
                </a:lnTo>
                <a:lnTo>
                  <a:pt x="2095500" y="571500"/>
                </a:lnTo>
                <a:lnTo>
                  <a:pt x="0" y="571500"/>
                </a:lnTo>
                <a:lnTo>
                  <a:pt x="0" y="0"/>
                </a:lnTo>
                <a:close/>
              </a:path>
            </a:pathLst>
          </a:custGeom>
          <a:blipFill>
            <a:blip r:embed="rId10"/>
            <a:stretch>
              <a:fillRect/>
            </a:stretch>
          </a:blipFill>
        </p:spPr>
      </p:sp>
      <p:sp>
        <p:nvSpPr>
          <p:cNvPr id="14" name="TextBox 14"/>
          <p:cNvSpPr txBox="1"/>
          <p:nvPr/>
        </p:nvSpPr>
        <p:spPr>
          <a:xfrm>
            <a:off x="11928424" y="1477257"/>
            <a:ext cx="1799615" cy="346249"/>
          </a:xfrm>
          <a:prstGeom prst="rect">
            <a:avLst/>
          </a:prstGeom>
        </p:spPr>
        <p:txBody>
          <a:bodyPr lIns="0" tIns="0" rIns="0" bIns="0" rtlCol="0" anchor="t">
            <a:spAutoFit/>
          </a:bodyPr>
          <a:lstStyle/>
          <a:p>
            <a:pPr algn="ctr">
              <a:lnSpc>
                <a:spcPts val="2725"/>
              </a:lnSpc>
            </a:pPr>
            <a:r>
              <a:rPr lang="en-US" sz="2400" b="1">
                <a:solidFill>
                  <a:srgbClr val="FFFFFF"/>
                </a:solidFill>
                <a:latin typeface="Aptos" panose="020B0004020202020204" pitchFamily="34" charset="0"/>
                <a:ea typeface="Montserrat Bold"/>
                <a:cs typeface="Montserrat Bold"/>
                <a:sym typeface="Montserrat Bold"/>
              </a:rPr>
              <a:t>BENEFITS</a:t>
            </a:r>
          </a:p>
        </p:txBody>
      </p:sp>
      <p:sp>
        <p:nvSpPr>
          <p:cNvPr id="15" name="Freeform 15"/>
          <p:cNvSpPr/>
          <p:nvPr/>
        </p:nvSpPr>
        <p:spPr>
          <a:xfrm>
            <a:off x="752475" y="1866900"/>
            <a:ext cx="4371975" cy="1314450"/>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11"/>
            <a:stretch>
              <a:fillRect/>
            </a:stretch>
          </a:blipFill>
        </p:spPr>
      </p:sp>
      <p:sp>
        <p:nvSpPr>
          <p:cNvPr id="16" name="Freeform 16"/>
          <p:cNvSpPr/>
          <p:nvPr/>
        </p:nvSpPr>
        <p:spPr>
          <a:xfrm>
            <a:off x="942975" y="2047875"/>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12"/>
            <a:stretch>
              <a:fillRect/>
            </a:stretch>
          </a:blipFill>
        </p:spPr>
      </p:sp>
      <p:sp>
        <p:nvSpPr>
          <p:cNvPr id="17" name="Freeform 17"/>
          <p:cNvSpPr/>
          <p:nvPr/>
        </p:nvSpPr>
        <p:spPr>
          <a:xfrm>
            <a:off x="942975" y="2047875"/>
            <a:ext cx="771525" cy="762000"/>
          </a:xfrm>
          <a:custGeom>
            <a:avLst/>
            <a:gdLst/>
            <a:ahLst/>
            <a:cxnLst/>
            <a:rect l="l" t="t" r="r" b="b"/>
            <a:pathLst>
              <a:path w="771525" h="762000">
                <a:moveTo>
                  <a:pt x="0" y="0"/>
                </a:moveTo>
                <a:lnTo>
                  <a:pt x="771525" y="0"/>
                </a:lnTo>
                <a:lnTo>
                  <a:pt x="771525" y="762000"/>
                </a:lnTo>
                <a:lnTo>
                  <a:pt x="0" y="762000"/>
                </a:lnTo>
                <a:lnTo>
                  <a:pt x="0" y="0"/>
                </a:lnTo>
                <a:close/>
              </a:path>
            </a:pathLst>
          </a:custGeom>
          <a:blipFill>
            <a:blip r:embed="rId13"/>
            <a:stretch>
              <a:fillRect/>
            </a:stretch>
          </a:blipFill>
        </p:spPr>
      </p:sp>
      <p:sp>
        <p:nvSpPr>
          <p:cNvPr id="18" name="TextBox 18"/>
          <p:cNvSpPr txBox="1"/>
          <p:nvPr/>
        </p:nvSpPr>
        <p:spPr>
          <a:xfrm>
            <a:off x="2022577" y="2452537"/>
            <a:ext cx="2420722" cy="492379"/>
          </a:xfrm>
          <a:prstGeom prst="rect">
            <a:avLst/>
          </a:prstGeom>
        </p:spPr>
        <p:txBody>
          <a:bodyPr lIns="0" tIns="0" rIns="0" bIns="0" rtlCol="0" anchor="t">
            <a:spAutoFit/>
          </a:bodyPr>
          <a:lstStyle/>
          <a:p>
            <a:pPr algn="l">
              <a:lnSpc>
                <a:spcPts val="1336"/>
              </a:lnSpc>
            </a:pPr>
            <a:r>
              <a:rPr lang="en-US" sz="1050" b="1" dirty="0">
                <a:solidFill>
                  <a:srgbClr val="000000"/>
                </a:solidFill>
                <a:latin typeface="Aptos" panose="020B0004020202020204" pitchFamily="34" charset="0"/>
                <a:ea typeface="Montserrat Semi-Bold"/>
                <a:cs typeface="Montserrat Semi-Bold"/>
                <a:sym typeface="Montserrat Semi-Bold"/>
              </a:rPr>
              <a:t>Real-time monitoring and alerts help identify abnormal conditions early, enabling timely medical intervention.</a:t>
            </a:r>
          </a:p>
        </p:txBody>
      </p:sp>
      <p:sp>
        <p:nvSpPr>
          <p:cNvPr id="19" name="Freeform 19"/>
          <p:cNvSpPr/>
          <p:nvPr/>
        </p:nvSpPr>
        <p:spPr>
          <a:xfrm>
            <a:off x="752475" y="2981325"/>
            <a:ext cx="4371975" cy="1314450"/>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14"/>
            <a:stretch>
              <a:fillRect/>
            </a:stretch>
          </a:blipFill>
        </p:spPr>
      </p:sp>
      <p:sp>
        <p:nvSpPr>
          <p:cNvPr id="21" name="Freeform 21"/>
          <p:cNvSpPr/>
          <p:nvPr/>
        </p:nvSpPr>
        <p:spPr>
          <a:xfrm>
            <a:off x="942975" y="3352800"/>
            <a:ext cx="962025" cy="571500"/>
          </a:xfrm>
          <a:custGeom>
            <a:avLst/>
            <a:gdLst/>
            <a:ahLst/>
            <a:cxnLst/>
            <a:rect l="l" t="t" r="r" b="b"/>
            <a:pathLst>
              <a:path w="962025" h="571500">
                <a:moveTo>
                  <a:pt x="0" y="0"/>
                </a:moveTo>
                <a:lnTo>
                  <a:pt x="962025" y="0"/>
                </a:lnTo>
                <a:lnTo>
                  <a:pt x="962025" y="571500"/>
                </a:lnTo>
                <a:lnTo>
                  <a:pt x="0" y="571500"/>
                </a:lnTo>
                <a:lnTo>
                  <a:pt x="0" y="0"/>
                </a:lnTo>
                <a:close/>
              </a:path>
            </a:pathLst>
          </a:custGeom>
          <a:blipFill>
            <a:blip r:embed="rId15"/>
            <a:stretch>
              <a:fillRect/>
            </a:stretch>
          </a:blipFill>
        </p:spPr>
      </p:sp>
      <p:sp>
        <p:nvSpPr>
          <p:cNvPr id="22" name="TextBox 22"/>
          <p:cNvSpPr txBox="1"/>
          <p:nvPr/>
        </p:nvSpPr>
        <p:spPr>
          <a:xfrm>
            <a:off x="2022577" y="3585103"/>
            <a:ext cx="2325167" cy="566630"/>
          </a:xfrm>
          <a:prstGeom prst="rect">
            <a:avLst/>
          </a:prstGeom>
        </p:spPr>
        <p:txBody>
          <a:bodyPr lIns="0" tIns="0" rIns="0" bIns="0" rtlCol="0" anchor="t">
            <a:spAutoFit/>
          </a:bodyPr>
          <a:lstStyle/>
          <a:p>
            <a:pPr algn="l">
              <a:lnSpc>
                <a:spcPts val="1485"/>
              </a:lnSpc>
            </a:pPr>
            <a:r>
              <a:rPr lang="en-US" sz="1200" b="1" dirty="0">
                <a:solidFill>
                  <a:srgbClr val="000000"/>
                </a:solidFill>
                <a:latin typeface="Aptos" panose="020B0004020202020204" pitchFamily="34" charset="0"/>
                <a:ea typeface="Montserrat Semi-Bold"/>
                <a:cs typeface="Montserrat Semi-Bold"/>
                <a:sym typeface="Montserrat Semi-Bold"/>
              </a:rPr>
              <a:t>Continuous tracking of vital signs reduces risks and enhances overall patient well-being.</a:t>
            </a:r>
          </a:p>
        </p:txBody>
      </p:sp>
      <p:sp>
        <p:nvSpPr>
          <p:cNvPr id="23" name="Freeform 23"/>
          <p:cNvSpPr/>
          <p:nvPr/>
        </p:nvSpPr>
        <p:spPr>
          <a:xfrm>
            <a:off x="752475" y="4105275"/>
            <a:ext cx="4371975" cy="1314450"/>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16"/>
            <a:stretch>
              <a:fillRect/>
            </a:stretch>
          </a:blipFill>
        </p:spPr>
      </p:sp>
      <p:sp>
        <p:nvSpPr>
          <p:cNvPr id="24" name="Freeform 24"/>
          <p:cNvSpPr/>
          <p:nvPr/>
        </p:nvSpPr>
        <p:spPr>
          <a:xfrm>
            <a:off x="942975" y="4286250"/>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17"/>
            <a:stretch>
              <a:fillRect/>
            </a:stretch>
          </a:blipFill>
        </p:spPr>
      </p:sp>
      <p:sp>
        <p:nvSpPr>
          <p:cNvPr id="25" name="Freeform 25"/>
          <p:cNvSpPr/>
          <p:nvPr/>
        </p:nvSpPr>
        <p:spPr>
          <a:xfrm>
            <a:off x="942975" y="4476750"/>
            <a:ext cx="771525" cy="571500"/>
          </a:xfrm>
          <a:custGeom>
            <a:avLst/>
            <a:gdLst/>
            <a:ahLst/>
            <a:cxnLst/>
            <a:rect l="l" t="t" r="r" b="b"/>
            <a:pathLst>
              <a:path w="771525" h="571500">
                <a:moveTo>
                  <a:pt x="0" y="0"/>
                </a:moveTo>
                <a:lnTo>
                  <a:pt x="771525" y="0"/>
                </a:lnTo>
                <a:lnTo>
                  <a:pt x="771525" y="571500"/>
                </a:lnTo>
                <a:lnTo>
                  <a:pt x="0" y="571500"/>
                </a:lnTo>
                <a:lnTo>
                  <a:pt x="0" y="0"/>
                </a:lnTo>
                <a:close/>
              </a:path>
            </a:pathLst>
          </a:custGeom>
          <a:blipFill>
            <a:blip r:embed="rId18"/>
            <a:stretch>
              <a:fillRect/>
            </a:stretch>
          </a:blipFill>
        </p:spPr>
      </p:sp>
      <p:sp>
        <p:nvSpPr>
          <p:cNvPr id="26" name="TextBox 26"/>
          <p:cNvSpPr txBox="1"/>
          <p:nvPr/>
        </p:nvSpPr>
        <p:spPr>
          <a:xfrm>
            <a:off x="2022577" y="4688454"/>
            <a:ext cx="2579980" cy="566630"/>
          </a:xfrm>
          <a:prstGeom prst="rect">
            <a:avLst/>
          </a:prstGeom>
        </p:spPr>
        <p:txBody>
          <a:bodyPr lIns="0" tIns="0" rIns="0" bIns="0" rtlCol="0" anchor="t">
            <a:spAutoFit/>
          </a:bodyPr>
          <a:lstStyle/>
          <a:p>
            <a:pPr algn="l">
              <a:lnSpc>
                <a:spcPts val="1485"/>
              </a:lnSpc>
            </a:pPr>
            <a:r>
              <a:rPr lang="en-US" sz="1200" b="1" dirty="0">
                <a:solidFill>
                  <a:srgbClr val="000000"/>
                </a:solidFill>
                <a:latin typeface="Aptos" panose="020B0004020202020204" pitchFamily="34" charset="0"/>
                <a:ea typeface="Montserrat Semi-Bold"/>
                <a:cs typeface="Montserrat Semi-Bold"/>
                <a:sym typeface="Montserrat Semi-Bold"/>
              </a:rPr>
              <a:t>Remote monitoring minimizes the need for frequent hospital visits and allows care at home.</a:t>
            </a:r>
          </a:p>
        </p:txBody>
      </p:sp>
      <p:sp>
        <p:nvSpPr>
          <p:cNvPr id="27" name="Freeform 27"/>
          <p:cNvSpPr/>
          <p:nvPr/>
        </p:nvSpPr>
        <p:spPr>
          <a:xfrm>
            <a:off x="752475" y="5219700"/>
            <a:ext cx="4371975" cy="1323975"/>
          </a:xfrm>
          <a:custGeom>
            <a:avLst/>
            <a:gdLst/>
            <a:ahLst/>
            <a:cxnLst/>
            <a:rect l="l" t="t" r="r" b="b"/>
            <a:pathLst>
              <a:path w="4371975" h="1323975">
                <a:moveTo>
                  <a:pt x="0" y="0"/>
                </a:moveTo>
                <a:lnTo>
                  <a:pt x="4371975" y="0"/>
                </a:lnTo>
                <a:lnTo>
                  <a:pt x="4371975" y="1323975"/>
                </a:lnTo>
                <a:lnTo>
                  <a:pt x="0" y="1323975"/>
                </a:lnTo>
                <a:lnTo>
                  <a:pt x="0" y="0"/>
                </a:lnTo>
                <a:close/>
              </a:path>
            </a:pathLst>
          </a:custGeom>
          <a:blipFill>
            <a:blip r:embed="rId19"/>
            <a:stretch>
              <a:fillRect/>
            </a:stretch>
          </a:blipFill>
        </p:spPr>
      </p:sp>
      <p:sp>
        <p:nvSpPr>
          <p:cNvPr id="28" name="Freeform 28"/>
          <p:cNvSpPr/>
          <p:nvPr/>
        </p:nvSpPr>
        <p:spPr>
          <a:xfrm>
            <a:off x="942975" y="5219700"/>
            <a:ext cx="962025" cy="1133475"/>
          </a:xfrm>
          <a:custGeom>
            <a:avLst/>
            <a:gdLst/>
            <a:ahLst/>
            <a:cxnLst/>
            <a:rect l="l" t="t" r="r" b="b"/>
            <a:pathLst>
              <a:path w="962025" h="1133475">
                <a:moveTo>
                  <a:pt x="0" y="0"/>
                </a:moveTo>
                <a:lnTo>
                  <a:pt x="962025" y="0"/>
                </a:lnTo>
                <a:lnTo>
                  <a:pt x="962025" y="1133475"/>
                </a:lnTo>
                <a:lnTo>
                  <a:pt x="0" y="1133475"/>
                </a:lnTo>
                <a:lnTo>
                  <a:pt x="0" y="0"/>
                </a:lnTo>
                <a:close/>
              </a:path>
            </a:pathLst>
          </a:custGeom>
          <a:blipFill>
            <a:blip r:embed="rId20"/>
            <a:stretch>
              <a:fillRect/>
            </a:stretch>
          </a:blipFill>
        </p:spPr>
      </p:sp>
      <p:sp>
        <p:nvSpPr>
          <p:cNvPr id="29" name="Freeform 29"/>
          <p:cNvSpPr/>
          <p:nvPr/>
        </p:nvSpPr>
        <p:spPr>
          <a:xfrm>
            <a:off x="1133475" y="5410200"/>
            <a:ext cx="581025" cy="752475"/>
          </a:xfrm>
          <a:custGeom>
            <a:avLst/>
            <a:gdLst/>
            <a:ahLst/>
            <a:cxnLst/>
            <a:rect l="l" t="t" r="r" b="b"/>
            <a:pathLst>
              <a:path w="581025" h="752475">
                <a:moveTo>
                  <a:pt x="0" y="0"/>
                </a:moveTo>
                <a:lnTo>
                  <a:pt x="581025" y="0"/>
                </a:lnTo>
                <a:lnTo>
                  <a:pt x="581025" y="752475"/>
                </a:lnTo>
                <a:lnTo>
                  <a:pt x="0" y="752475"/>
                </a:lnTo>
                <a:lnTo>
                  <a:pt x="0" y="0"/>
                </a:lnTo>
                <a:close/>
              </a:path>
            </a:pathLst>
          </a:custGeom>
          <a:blipFill>
            <a:blip r:embed="rId21"/>
            <a:stretch>
              <a:fillRect/>
            </a:stretch>
          </a:blipFill>
        </p:spPr>
      </p:sp>
      <p:sp>
        <p:nvSpPr>
          <p:cNvPr id="30" name="TextBox 30"/>
          <p:cNvSpPr txBox="1"/>
          <p:nvPr/>
        </p:nvSpPr>
        <p:spPr>
          <a:xfrm>
            <a:off x="2022576" y="5425385"/>
            <a:ext cx="2206523" cy="205184"/>
          </a:xfrm>
          <a:prstGeom prst="rect">
            <a:avLst/>
          </a:prstGeom>
        </p:spPr>
        <p:txBody>
          <a:bodyPr wrap="square" lIns="0" tIns="0" rIns="0" bIns="0" rtlCol="0" anchor="t">
            <a:spAutoFit/>
          </a:bodyPr>
          <a:lstStyle/>
          <a:p>
            <a:pPr algn="l">
              <a:lnSpc>
                <a:spcPts val="1634"/>
              </a:lnSpc>
            </a:pPr>
            <a:r>
              <a:rPr lang="en-US" sz="1400" b="1" dirty="0">
                <a:solidFill>
                  <a:srgbClr val="004AAD"/>
                </a:solidFill>
                <a:latin typeface="Aptos" panose="020B0004020202020204" pitchFamily="34" charset="0"/>
                <a:ea typeface="Montserrat Bold"/>
                <a:cs typeface="Montserrat Bold"/>
                <a:sym typeface="Montserrat Bold"/>
              </a:rPr>
              <a:t>FASTER RESPONSE TIME</a:t>
            </a:r>
          </a:p>
        </p:txBody>
      </p:sp>
      <p:sp>
        <p:nvSpPr>
          <p:cNvPr id="31" name="TextBox 31"/>
          <p:cNvSpPr txBox="1"/>
          <p:nvPr/>
        </p:nvSpPr>
        <p:spPr>
          <a:xfrm>
            <a:off x="2022577" y="5779550"/>
            <a:ext cx="2579980" cy="530145"/>
          </a:xfrm>
          <a:prstGeom prst="rect">
            <a:avLst/>
          </a:prstGeom>
        </p:spPr>
        <p:txBody>
          <a:bodyPr wrap="square" lIns="0" tIns="0" rIns="0" bIns="0" rtlCol="0" anchor="t">
            <a:spAutoFit/>
          </a:bodyPr>
          <a:lstStyle/>
          <a:p>
            <a:pPr algn="l">
              <a:lnSpc>
                <a:spcPts val="1435"/>
              </a:lnSpc>
            </a:pPr>
            <a:r>
              <a:rPr lang="en-US" sz="1100" b="1" dirty="0">
                <a:solidFill>
                  <a:srgbClr val="000000"/>
                </a:solidFill>
                <a:latin typeface="Aptos" panose="020B0004020202020204" pitchFamily="34" charset="0"/>
                <a:ea typeface="Montserrat Semi-Bold"/>
                <a:cs typeface="Montserrat Semi-Bold"/>
                <a:sym typeface="Montserrat Semi-Bold"/>
              </a:rPr>
              <a:t>Instant alerts and remote access enable quicker decision-making during critical situations.</a:t>
            </a:r>
          </a:p>
        </p:txBody>
      </p:sp>
      <p:sp>
        <p:nvSpPr>
          <p:cNvPr id="32" name="Freeform 32"/>
          <p:cNvSpPr/>
          <p:nvPr/>
        </p:nvSpPr>
        <p:spPr>
          <a:xfrm>
            <a:off x="752475" y="6343650"/>
            <a:ext cx="4371975" cy="1133475"/>
          </a:xfrm>
          <a:custGeom>
            <a:avLst/>
            <a:gdLst/>
            <a:ahLst/>
            <a:cxnLst/>
            <a:rect l="l" t="t" r="r" b="b"/>
            <a:pathLst>
              <a:path w="4371975" h="1133475">
                <a:moveTo>
                  <a:pt x="0" y="0"/>
                </a:moveTo>
                <a:lnTo>
                  <a:pt x="4371975" y="0"/>
                </a:lnTo>
                <a:lnTo>
                  <a:pt x="4371975" y="1133475"/>
                </a:lnTo>
                <a:lnTo>
                  <a:pt x="0" y="1133475"/>
                </a:lnTo>
                <a:lnTo>
                  <a:pt x="0" y="0"/>
                </a:lnTo>
                <a:close/>
              </a:path>
            </a:pathLst>
          </a:custGeom>
          <a:blipFill>
            <a:blip r:embed="rId22"/>
            <a:stretch>
              <a:fillRect/>
            </a:stretch>
          </a:blipFill>
        </p:spPr>
      </p:sp>
      <p:sp>
        <p:nvSpPr>
          <p:cNvPr id="33" name="Freeform 33"/>
          <p:cNvSpPr/>
          <p:nvPr/>
        </p:nvSpPr>
        <p:spPr>
          <a:xfrm>
            <a:off x="942975" y="6343650"/>
            <a:ext cx="962025" cy="1133475"/>
          </a:xfrm>
          <a:custGeom>
            <a:avLst/>
            <a:gdLst/>
            <a:ahLst/>
            <a:cxnLst/>
            <a:rect l="l" t="t" r="r" b="b"/>
            <a:pathLst>
              <a:path w="962025" h="1133475">
                <a:moveTo>
                  <a:pt x="0" y="0"/>
                </a:moveTo>
                <a:lnTo>
                  <a:pt x="962025" y="0"/>
                </a:lnTo>
                <a:lnTo>
                  <a:pt x="962025" y="1133475"/>
                </a:lnTo>
                <a:lnTo>
                  <a:pt x="0" y="1133475"/>
                </a:lnTo>
                <a:lnTo>
                  <a:pt x="0" y="0"/>
                </a:lnTo>
                <a:close/>
              </a:path>
            </a:pathLst>
          </a:custGeom>
          <a:blipFill>
            <a:blip r:embed="rId23"/>
            <a:stretch>
              <a:fillRect/>
            </a:stretch>
          </a:blipFill>
        </p:spPr>
      </p:sp>
      <p:sp>
        <p:nvSpPr>
          <p:cNvPr id="34" name="Freeform 34"/>
          <p:cNvSpPr/>
          <p:nvPr/>
        </p:nvSpPr>
        <p:spPr>
          <a:xfrm>
            <a:off x="1133475" y="6534150"/>
            <a:ext cx="581025" cy="752475"/>
          </a:xfrm>
          <a:custGeom>
            <a:avLst/>
            <a:gdLst/>
            <a:ahLst/>
            <a:cxnLst/>
            <a:rect l="l" t="t" r="r" b="b"/>
            <a:pathLst>
              <a:path w="581025" h="752475">
                <a:moveTo>
                  <a:pt x="0" y="0"/>
                </a:moveTo>
                <a:lnTo>
                  <a:pt x="581025" y="0"/>
                </a:lnTo>
                <a:lnTo>
                  <a:pt x="581025" y="752475"/>
                </a:lnTo>
                <a:lnTo>
                  <a:pt x="0" y="752475"/>
                </a:lnTo>
                <a:lnTo>
                  <a:pt x="0" y="0"/>
                </a:lnTo>
                <a:close/>
              </a:path>
            </a:pathLst>
          </a:custGeom>
          <a:blipFill>
            <a:blip r:embed="rId24"/>
            <a:stretch>
              <a:fillRect/>
            </a:stretch>
          </a:blipFill>
        </p:spPr>
      </p:sp>
      <p:sp>
        <p:nvSpPr>
          <p:cNvPr id="35" name="TextBox 35"/>
          <p:cNvSpPr txBox="1"/>
          <p:nvPr/>
        </p:nvSpPr>
        <p:spPr>
          <a:xfrm>
            <a:off x="2022577" y="6563239"/>
            <a:ext cx="2579980" cy="205184"/>
          </a:xfrm>
          <a:prstGeom prst="rect">
            <a:avLst/>
          </a:prstGeom>
        </p:spPr>
        <p:txBody>
          <a:bodyPr wrap="square" lIns="0" tIns="0" rIns="0" bIns="0" rtlCol="0" anchor="t">
            <a:spAutoFit/>
          </a:bodyPr>
          <a:lstStyle/>
          <a:p>
            <a:pPr algn="l">
              <a:lnSpc>
                <a:spcPts val="1584"/>
              </a:lnSpc>
            </a:pPr>
            <a:r>
              <a:rPr lang="en-US" sz="1400" b="1" dirty="0">
                <a:solidFill>
                  <a:srgbClr val="004AAD"/>
                </a:solidFill>
                <a:latin typeface="Aptos" panose="020B0004020202020204" pitchFamily="34" charset="0"/>
                <a:ea typeface="Montserrat Bold"/>
                <a:cs typeface="Montserrat Bold"/>
                <a:sym typeface="Montserrat Bold"/>
              </a:rPr>
              <a:t>LOWER HEALTHCARE COSTS</a:t>
            </a:r>
          </a:p>
        </p:txBody>
      </p:sp>
      <p:sp>
        <p:nvSpPr>
          <p:cNvPr id="36" name="TextBox 36"/>
          <p:cNvSpPr txBox="1"/>
          <p:nvPr/>
        </p:nvSpPr>
        <p:spPr>
          <a:xfrm>
            <a:off x="2022577" y="6844083"/>
            <a:ext cx="2532202" cy="566630"/>
          </a:xfrm>
          <a:prstGeom prst="rect">
            <a:avLst/>
          </a:prstGeom>
        </p:spPr>
        <p:txBody>
          <a:bodyPr lIns="0" tIns="0" rIns="0" bIns="0" rtlCol="0" anchor="t">
            <a:spAutoFit/>
          </a:bodyPr>
          <a:lstStyle/>
          <a:p>
            <a:pPr algn="l">
              <a:lnSpc>
                <a:spcPts val="1485"/>
              </a:lnSpc>
            </a:pPr>
            <a:r>
              <a:rPr lang="en-US" sz="1200" b="1">
                <a:solidFill>
                  <a:srgbClr val="000000"/>
                </a:solidFill>
                <a:latin typeface="Aptos" panose="020B0004020202020204" pitchFamily="34" charset="0"/>
                <a:ea typeface="Montserrat Semi-Bold"/>
                <a:cs typeface="Montserrat Semi-Bold"/>
                <a:sym typeface="Montserrat Semi-Bold"/>
              </a:rPr>
              <a:t>Early detection and continuous care help reduce complications and lower overall healthcare expenses.</a:t>
            </a:r>
          </a:p>
        </p:txBody>
      </p:sp>
      <p:sp>
        <p:nvSpPr>
          <p:cNvPr id="37" name="Freeform 37"/>
          <p:cNvSpPr/>
          <p:nvPr/>
        </p:nvSpPr>
        <p:spPr>
          <a:xfrm>
            <a:off x="5686425" y="2238375"/>
            <a:ext cx="4552950" cy="4676775"/>
          </a:xfrm>
          <a:custGeom>
            <a:avLst/>
            <a:gdLst/>
            <a:ahLst/>
            <a:cxnLst/>
            <a:rect l="l" t="t" r="r" b="b"/>
            <a:pathLst>
              <a:path w="4552950" h="4676775">
                <a:moveTo>
                  <a:pt x="0" y="0"/>
                </a:moveTo>
                <a:lnTo>
                  <a:pt x="4552950" y="0"/>
                </a:lnTo>
                <a:lnTo>
                  <a:pt x="4552950" y="4676775"/>
                </a:lnTo>
                <a:lnTo>
                  <a:pt x="0" y="4676775"/>
                </a:lnTo>
                <a:lnTo>
                  <a:pt x="0" y="0"/>
                </a:lnTo>
                <a:close/>
              </a:path>
            </a:pathLst>
          </a:custGeom>
          <a:blipFill>
            <a:blip r:embed="rId25"/>
            <a:stretch>
              <a:fillRect/>
            </a:stretch>
          </a:blipFill>
        </p:spPr>
      </p:sp>
      <p:sp>
        <p:nvSpPr>
          <p:cNvPr id="38" name="Freeform 38"/>
          <p:cNvSpPr/>
          <p:nvPr/>
        </p:nvSpPr>
        <p:spPr>
          <a:xfrm>
            <a:off x="6057900" y="2609850"/>
            <a:ext cx="3619500" cy="3552825"/>
          </a:xfrm>
          <a:custGeom>
            <a:avLst/>
            <a:gdLst/>
            <a:ahLst/>
            <a:cxnLst/>
            <a:rect l="l" t="t" r="r" b="b"/>
            <a:pathLst>
              <a:path w="3619500" h="3552825">
                <a:moveTo>
                  <a:pt x="0" y="0"/>
                </a:moveTo>
                <a:lnTo>
                  <a:pt x="3619500" y="0"/>
                </a:lnTo>
                <a:lnTo>
                  <a:pt x="3619500" y="3552825"/>
                </a:lnTo>
                <a:lnTo>
                  <a:pt x="0" y="3552825"/>
                </a:lnTo>
                <a:lnTo>
                  <a:pt x="0" y="0"/>
                </a:lnTo>
                <a:close/>
              </a:path>
            </a:pathLst>
          </a:custGeom>
          <a:blipFill>
            <a:blip r:embed="rId26"/>
            <a:stretch>
              <a:fillRect/>
            </a:stretch>
          </a:blipFill>
        </p:spPr>
      </p:sp>
      <p:sp>
        <p:nvSpPr>
          <p:cNvPr id="39" name="Freeform 39"/>
          <p:cNvSpPr/>
          <p:nvPr/>
        </p:nvSpPr>
        <p:spPr>
          <a:xfrm>
            <a:off x="6057900" y="2981325"/>
            <a:ext cx="3619500" cy="1695450"/>
          </a:xfrm>
          <a:custGeom>
            <a:avLst/>
            <a:gdLst/>
            <a:ahLst/>
            <a:cxnLst/>
            <a:rect l="l" t="t" r="r" b="b"/>
            <a:pathLst>
              <a:path w="3619500" h="1695450">
                <a:moveTo>
                  <a:pt x="0" y="0"/>
                </a:moveTo>
                <a:lnTo>
                  <a:pt x="3619500" y="0"/>
                </a:lnTo>
                <a:lnTo>
                  <a:pt x="3619500" y="1695450"/>
                </a:lnTo>
                <a:lnTo>
                  <a:pt x="0" y="1695450"/>
                </a:lnTo>
                <a:lnTo>
                  <a:pt x="0" y="0"/>
                </a:lnTo>
                <a:close/>
              </a:path>
            </a:pathLst>
          </a:custGeom>
          <a:blipFill>
            <a:blip r:embed="rId27"/>
            <a:stretch>
              <a:fillRect/>
            </a:stretch>
          </a:blipFill>
        </p:spPr>
      </p:sp>
      <p:sp>
        <p:nvSpPr>
          <p:cNvPr id="40" name="Freeform 40"/>
          <p:cNvSpPr/>
          <p:nvPr/>
        </p:nvSpPr>
        <p:spPr>
          <a:xfrm>
            <a:off x="6438900" y="3733800"/>
            <a:ext cx="1343025" cy="1876425"/>
          </a:xfrm>
          <a:custGeom>
            <a:avLst/>
            <a:gdLst/>
            <a:ahLst/>
            <a:cxnLst/>
            <a:rect l="l" t="t" r="r" b="b"/>
            <a:pathLst>
              <a:path w="1343025" h="1876425">
                <a:moveTo>
                  <a:pt x="0" y="0"/>
                </a:moveTo>
                <a:lnTo>
                  <a:pt x="1343025" y="0"/>
                </a:lnTo>
                <a:lnTo>
                  <a:pt x="1343025" y="1876425"/>
                </a:lnTo>
                <a:lnTo>
                  <a:pt x="0" y="1876425"/>
                </a:lnTo>
                <a:lnTo>
                  <a:pt x="0" y="0"/>
                </a:lnTo>
                <a:close/>
              </a:path>
            </a:pathLst>
          </a:custGeom>
          <a:blipFill>
            <a:blip r:embed="rId28"/>
            <a:stretch>
              <a:fillRect/>
            </a:stretch>
          </a:blipFill>
        </p:spPr>
      </p:sp>
      <p:sp>
        <p:nvSpPr>
          <p:cNvPr id="41" name="Freeform 41"/>
          <p:cNvSpPr/>
          <p:nvPr/>
        </p:nvSpPr>
        <p:spPr>
          <a:xfrm>
            <a:off x="7581900" y="2981325"/>
            <a:ext cx="1524000" cy="2628900"/>
          </a:xfrm>
          <a:custGeom>
            <a:avLst/>
            <a:gdLst/>
            <a:ahLst/>
            <a:cxnLst/>
            <a:rect l="l" t="t" r="r" b="b"/>
            <a:pathLst>
              <a:path w="1524000" h="2628900">
                <a:moveTo>
                  <a:pt x="0" y="0"/>
                </a:moveTo>
                <a:lnTo>
                  <a:pt x="1524000" y="0"/>
                </a:lnTo>
                <a:lnTo>
                  <a:pt x="1524000" y="2628900"/>
                </a:lnTo>
                <a:lnTo>
                  <a:pt x="0" y="2628900"/>
                </a:lnTo>
                <a:lnTo>
                  <a:pt x="0" y="0"/>
                </a:lnTo>
                <a:close/>
              </a:path>
            </a:pathLst>
          </a:custGeom>
          <a:blipFill>
            <a:blip r:embed="rId29"/>
            <a:stretch>
              <a:fillRect/>
            </a:stretch>
          </a:blipFill>
        </p:spPr>
      </p:sp>
      <p:sp>
        <p:nvSpPr>
          <p:cNvPr id="42" name="Freeform 42"/>
          <p:cNvSpPr/>
          <p:nvPr/>
        </p:nvSpPr>
        <p:spPr>
          <a:xfrm>
            <a:off x="7550048" y="6153150"/>
            <a:ext cx="762000" cy="571500"/>
          </a:xfrm>
          <a:custGeom>
            <a:avLst/>
            <a:gdLst/>
            <a:ahLst/>
            <a:cxnLst/>
            <a:rect l="l" t="t" r="r" b="b"/>
            <a:pathLst>
              <a:path w="762000" h="571500">
                <a:moveTo>
                  <a:pt x="0" y="0"/>
                </a:moveTo>
                <a:lnTo>
                  <a:pt x="762000" y="0"/>
                </a:lnTo>
                <a:lnTo>
                  <a:pt x="762000" y="571500"/>
                </a:lnTo>
                <a:lnTo>
                  <a:pt x="0" y="571500"/>
                </a:lnTo>
                <a:lnTo>
                  <a:pt x="0" y="0"/>
                </a:lnTo>
                <a:close/>
              </a:path>
            </a:pathLst>
          </a:custGeom>
          <a:blipFill>
            <a:blip r:embed="rId30"/>
            <a:stretch>
              <a:fillRect/>
            </a:stretch>
          </a:blipFill>
        </p:spPr>
      </p:sp>
      <p:sp>
        <p:nvSpPr>
          <p:cNvPr id="43" name="TextBox 43"/>
          <p:cNvSpPr txBox="1"/>
          <p:nvPr/>
        </p:nvSpPr>
        <p:spPr>
          <a:xfrm>
            <a:off x="6816242" y="5599087"/>
            <a:ext cx="2293315" cy="512961"/>
          </a:xfrm>
          <a:prstGeom prst="rect">
            <a:avLst/>
          </a:prstGeom>
        </p:spPr>
        <p:txBody>
          <a:bodyPr lIns="0" tIns="0" rIns="0" bIns="0" rtlCol="0" anchor="t">
            <a:spAutoFit/>
          </a:bodyPr>
          <a:lstStyle/>
          <a:p>
            <a:pPr algn="ctr">
              <a:lnSpc>
                <a:spcPts val="1981"/>
              </a:lnSpc>
            </a:pPr>
            <a:r>
              <a:rPr lang="en-US" b="1">
                <a:solidFill>
                  <a:srgbClr val="000000"/>
                </a:solidFill>
                <a:latin typeface="Aptos" panose="020B0004020202020204" pitchFamily="34" charset="0"/>
                <a:ea typeface="Montserrat Bold"/>
                <a:cs typeface="Montserrat Bold"/>
                <a:sym typeface="Montserrat Bold"/>
              </a:rPr>
              <a:t>IOT-BASED HEALTH MONITORING SYSTEM</a:t>
            </a:r>
          </a:p>
        </p:txBody>
      </p:sp>
      <p:sp>
        <p:nvSpPr>
          <p:cNvPr id="44" name="Freeform 44"/>
          <p:cNvSpPr/>
          <p:nvPr/>
        </p:nvSpPr>
        <p:spPr>
          <a:xfrm>
            <a:off x="10814534" y="1878366"/>
            <a:ext cx="4511234" cy="1314450"/>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31"/>
            <a:stretch>
              <a:fillRect/>
            </a:stretch>
          </a:blipFill>
        </p:spPr>
      </p:sp>
      <p:sp>
        <p:nvSpPr>
          <p:cNvPr id="47" name="TextBox 47"/>
          <p:cNvSpPr txBox="1"/>
          <p:nvPr/>
        </p:nvSpPr>
        <p:spPr>
          <a:xfrm>
            <a:off x="2022577" y="2139817"/>
            <a:ext cx="2771089" cy="186846"/>
          </a:xfrm>
          <a:prstGeom prst="rect">
            <a:avLst/>
          </a:prstGeom>
        </p:spPr>
        <p:txBody>
          <a:bodyPr lIns="0" tIns="0" rIns="0" bIns="0" rtlCol="0" anchor="t">
            <a:spAutoFit/>
          </a:bodyPr>
          <a:lstStyle/>
          <a:p>
            <a:pPr algn="l">
              <a:lnSpc>
                <a:spcPts val="1534"/>
              </a:lnSpc>
            </a:pPr>
            <a:r>
              <a:rPr lang="en-US" sz="1200" b="1">
                <a:solidFill>
                  <a:srgbClr val="004AAD"/>
                </a:solidFill>
                <a:latin typeface="Aptos" panose="020B0004020202020204" pitchFamily="34" charset="0"/>
                <a:ea typeface="Montserrat Bold"/>
                <a:cs typeface="Montserrat Bold"/>
                <a:sym typeface="Montserrat Bold"/>
              </a:rPr>
              <a:t>EARLY DETECTION OF EMERGENCIES</a:t>
            </a:r>
          </a:p>
        </p:txBody>
      </p:sp>
      <p:sp>
        <p:nvSpPr>
          <p:cNvPr id="48" name="TextBox 48"/>
          <p:cNvSpPr txBox="1"/>
          <p:nvPr/>
        </p:nvSpPr>
        <p:spPr>
          <a:xfrm>
            <a:off x="2022577" y="3247370"/>
            <a:ext cx="2696642" cy="205184"/>
          </a:xfrm>
          <a:prstGeom prst="rect">
            <a:avLst/>
          </a:prstGeom>
        </p:spPr>
        <p:txBody>
          <a:bodyPr wrap="square" lIns="0" tIns="0" rIns="0" bIns="0" rtlCol="0" anchor="t">
            <a:spAutoFit/>
          </a:bodyPr>
          <a:lstStyle/>
          <a:p>
            <a:pPr algn="l">
              <a:lnSpc>
                <a:spcPts val="1634"/>
              </a:lnSpc>
            </a:pPr>
            <a:r>
              <a:rPr lang="en-US" sz="1400" b="1" dirty="0">
                <a:solidFill>
                  <a:srgbClr val="004AAD"/>
                </a:solidFill>
                <a:latin typeface="Aptos" panose="020B0004020202020204" pitchFamily="34" charset="0"/>
                <a:ea typeface="Montserrat Bold"/>
                <a:cs typeface="Montserrat Bold"/>
                <a:sym typeface="Montserrat Bold"/>
              </a:rPr>
              <a:t>IMPROVED PATIENT SAFETY</a:t>
            </a:r>
          </a:p>
        </p:txBody>
      </p:sp>
      <p:sp>
        <p:nvSpPr>
          <p:cNvPr id="49" name="TextBox 49"/>
          <p:cNvSpPr txBox="1"/>
          <p:nvPr/>
        </p:nvSpPr>
        <p:spPr>
          <a:xfrm>
            <a:off x="2022577" y="4358785"/>
            <a:ext cx="2339873" cy="205184"/>
          </a:xfrm>
          <a:prstGeom prst="rect">
            <a:avLst/>
          </a:prstGeom>
        </p:spPr>
        <p:txBody>
          <a:bodyPr wrap="square" lIns="0" tIns="0" rIns="0" bIns="0" rtlCol="0" anchor="t">
            <a:spAutoFit/>
          </a:bodyPr>
          <a:lstStyle/>
          <a:p>
            <a:pPr algn="l">
              <a:lnSpc>
                <a:spcPts val="1634"/>
              </a:lnSpc>
            </a:pPr>
            <a:r>
              <a:rPr lang="en-US" sz="1400" b="1" dirty="0">
                <a:solidFill>
                  <a:srgbClr val="004AAD"/>
                </a:solidFill>
                <a:latin typeface="Aptos" panose="020B0004020202020204" pitchFamily="34" charset="0"/>
                <a:ea typeface="Montserrat Bold"/>
                <a:cs typeface="Montserrat Bold"/>
                <a:sym typeface="Montserrat Bold"/>
              </a:rPr>
              <a:t>REDUCED HOSPITAL VISITS</a:t>
            </a:r>
          </a:p>
        </p:txBody>
      </p:sp>
      <p:sp>
        <p:nvSpPr>
          <p:cNvPr id="50" name="TextBox 50"/>
          <p:cNvSpPr txBox="1"/>
          <p:nvPr/>
        </p:nvSpPr>
        <p:spPr>
          <a:xfrm>
            <a:off x="12055831" y="2135955"/>
            <a:ext cx="2726968" cy="205184"/>
          </a:xfrm>
          <a:prstGeom prst="rect">
            <a:avLst/>
          </a:prstGeom>
        </p:spPr>
        <p:txBody>
          <a:bodyPr wrap="square" lIns="0" tIns="0" rIns="0" bIns="0" rtlCol="0" anchor="t">
            <a:spAutoFit/>
          </a:bodyPr>
          <a:lstStyle/>
          <a:p>
            <a:pPr algn="l">
              <a:lnSpc>
                <a:spcPts val="1634"/>
              </a:lnSpc>
            </a:pPr>
            <a:r>
              <a:rPr lang="en-US" sz="1400" b="1" dirty="0">
                <a:solidFill>
                  <a:srgbClr val="00805C"/>
                </a:solidFill>
                <a:latin typeface="Aptos" panose="020B0004020202020204" pitchFamily="34" charset="0"/>
                <a:ea typeface="Montserrat Bold"/>
                <a:cs typeface="Montserrat Bold"/>
                <a:sym typeface="Montserrat Bold"/>
              </a:rPr>
              <a:t>BETTER PATIENT OUTCOMES</a:t>
            </a:r>
          </a:p>
        </p:txBody>
      </p:sp>
      <p:sp>
        <p:nvSpPr>
          <p:cNvPr id="60" name="TextBox 60"/>
          <p:cNvSpPr txBox="1"/>
          <p:nvPr/>
        </p:nvSpPr>
        <p:spPr>
          <a:xfrm>
            <a:off x="2309241" y="8049043"/>
            <a:ext cx="1242212" cy="538609"/>
          </a:xfrm>
          <a:prstGeom prst="rect">
            <a:avLst/>
          </a:prstGeom>
        </p:spPr>
        <p:txBody>
          <a:bodyPr lIns="0" tIns="0" rIns="0" bIns="0" rtlCol="0" anchor="t">
            <a:spAutoFit/>
          </a:bodyPr>
          <a:lstStyle/>
          <a:p>
            <a:pPr algn="l">
              <a:lnSpc>
                <a:spcPts val="2130"/>
              </a:lnSpc>
            </a:pPr>
            <a:r>
              <a:rPr lang="en-US" b="1" dirty="0">
                <a:solidFill>
                  <a:srgbClr val="000000"/>
                </a:solidFill>
                <a:latin typeface="Aptos" panose="020B0004020202020204" pitchFamily="34" charset="0"/>
                <a:ea typeface="Montserrat Bold"/>
                <a:cs typeface="Montserrat Bold"/>
                <a:sym typeface="Montserrat Bold"/>
              </a:rPr>
              <a:t>OUR VISION</a:t>
            </a:r>
          </a:p>
        </p:txBody>
      </p:sp>
      <p:sp>
        <p:nvSpPr>
          <p:cNvPr id="61" name="TextBox 61"/>
          <p:cNvSpPr txBox="1"/>
          <p:nvPr/>
        </p:nvSpPr>
        <p:spPr>
          <a:xfrm>
            <a:off x="6672911" y="8083560"/>
            <a:ext cx="1442389" cy="348622"/>
          </a:xfrm>
          <a:prstGeom prst="rect">
            <a:avLst/>
          </a:prstGeom>
        </p:spPr>
        <p:txBody>
          <a:bodyPr wrap="square" lIns="0" tIns="0" rIns="0" bIns="0" rtlCol="0" anchor="t">
            <a:spAutoFit/>
          </a:bodyPr>
          <a:lstStyle/>
          <a:p>
            <a:pPr algn="ctr">
              <a:lnSpc>
                <a:spcPts val="1336"/>
              </a:lnSpc>
            </a:pPr>
            <a:r>
              <a:rPr lang="en-US" b="1" dirty="0">
                <a:solidFill>
                  <a:srgbClr val="000000"/>
                </a:solidFill>
                <a:latin typeface="Aptos" panose="020B0004020202020204" pitchFamily="34" charset="0"/>
                <a:ea typeface="Montserrat Semi-Bold"/>
                <a:cs typeface="Montserrat Semi-Bold"/>
                <a:sym typeface="Montserrat Semi-Bold"/>
              </a:rPr>
              <a:t>Healthier</a:t>
            </a:r>
            <a:r>
              <a:rPr lang="en-US" sz="1600" b="1" dirty="0">
                <a:solidFill>
                  <a:srgbClr val="000000"/>
                </a:solidFill>
                <a:latin typeface="Aptos" panose="020B0004020202020204" pitchFamily="34" charset="0"/>
                <a:ea typeface="Montserrat Semi-Bold"/>
                <a:cs typeface="Montserrat Semi-Bold"/>
                <a:sym typeface="Montserrat Semi-Bold"/>
              </a:rPr>
              <a:t> Patients</a:t>
            </a:r>
          </a:p>
        </p:txBody>
      </p:sp>
      <p:sp>
        <p:nvSpPr>
          <p:cNvPr id="62" name="TextBox 62"/>
          <p:cNvSpPr txBox="1"/>
          <p:nvPr/>
        </p:nvSpPr>
        <p:spPr>
          <a:xfrm>
            <a:off x="8440674" y="8089424"/>
            <a:ext cx="891845" cy="378117"/>
          </a:xfrm>
          <a:prstGeom prst="rect">
            <a:avLst/>
          </a:prstGeom>
        </p:spPr>
        <p:txBody>
          <a:bodyPr lIns="0" tIns="0" rIns="0" bIns="0" rtlCol="0" anchor="t">
            <a:spAutoFit/>
          </a:bodyPr>
          <a:lstStyle/>
          <a:p>
            <a:pPr algn="ctr">
              <a:lnSpc>
                <a:spcPts val="1435"/>
              </a:lnSpc>
            </a:pPr>
            <a:r>
              <a:rPr lang="en-US" b="1" dirty="0">
                <a:solidFill>
                  <a:srgbClr val="000000"/>
                </a:solidFill>
                <a:latin typeface="Aptos" panose="020B0004020202020204" pitchFamily="34" charset="0"/>
                <a:ea typeface="Montserrat Semi-Bold"/>
                <a:cs typeface="Montserrat Semi-Bold"/>
                <a:sym typeface="Montserrat Semi-Bold"/>
              </a:rPr>
              <a:t>Smarter Care</a:t>
            </a:r>
          </a:p>
        </p:txBody>
      </p:sp>
      <p:sp>
        <p:nvSpPr>
          <p:cNvPr id="63" name="TextBox 63"/>
          <p:cNvSpPr txBox="1"/>
          <p:nvPr/>
        </p:nvSpPr>
        <p:spPr>
          <a:xfrm>
            <a:off x="9969551" y="8042488"/>
            <a:ext cx="1098880" cy="348622"/>
          </a:xfrm>
          <a:prstGeom prst="rect">
            <a:avLst/>
          </a:prstGeom>
        </p:spPr>
        <p:txBody>
          <a:bodyPr lIns="0" tIns="0" rIns="0" bIns="0" rtlCol="0" anchor="t">
            <a:spAutoFit/>
          </a:bodyPr>
          <a:lstStyle/>
          <a:p>
            <a:pPr algn="ctr">
              <a:lnSpc>
                <a:spcPts val="1336"/>
              </a:lnSpc>
            </a:pPr>
            <a:r>
              <a:rPr lang="en-US" sz="1600" b="1" dirty="0">
                <a:solidFill>
                  <a:srgbClr val="000000"/>
                </a:solidFill>
                <a:latin typeface="Aptos" panose="020B0004020202020204" pitchFamily="34" charset="0"/>
                <a:ea typeface="Montserrat Semi-Bold"/>
                <a:cs typeface="Montserrat Semi-Bold"/>
                <a:sym typeface="Montserrat Semi-Bold"/>
              </a:rPr>
              <a:t>Better Outcomes</a:t>
            </a:r>
          </a:p>
        </p:txBody>
      </p:sp>
      <p:sp>
        <p:nvSpPr>
          <p:cNvPr id="64" name="TextBox 64"/>
          <p:cNvSpPr txBox="1"/>
          <p:nvPr/>
        </p:nvSpPr>
        <p:spPr>
          <a:xfrm>
            <a:off x="11639623" y="8002580"/>
            <a:ext cx="1528877" cy="371064"/>
          </a:xfrm>
          <a:prstGeom prst="rect">
            <a:avLst/>
          </a:prstGeom>
        </p:spPr>
        <p:txBody>
          <a:bodyPr lIns="0" tIns="0" rIns="0" bIns="0" rtlCol="0" anchor="t">
            <a:spAutoFit/>
          </a:bodyPr>
          <a:lstStyle/>
          <a:p>
            <a:pPr algn="ctr">
              <a:lnSpc>
                <a:spcPts val="1385"/>
              </a:lnSpc>
            </a:pPr>
            <a:r>
              <a:rPr lang="en-US" sz="1600" b="1" dirty="0">
                <a:solidFill>
                  <a:srgbClr val="000000"/>
                </a:solidFill>
                <a:latin typeface="Aptos" panose="020B0004020202020204" pitchFamily="34" charset="0"/>
                <a:ea typeface="Montserrat Semi-Bold"/>
                <a:cs typeface="Montserrat Semi-Bold"/>
                <a:sym typeface="Montserrat Semi-Bold"/>
              </a:rPr>
              <a:t>Sustainable Healthcare</a:t>
            </a:r>
          </a:p>
        </p:txBody>
      </p:sp>
      <p:sp>
        <p:nvSpPr>
          <p:cNvPr id="65" name="TextBox 65"/>
          <p:cNvSpPr txBox="1"/>
          <p:nvPr/>
        </p:nvSpPr>
        <p:spPr>
          <a:xfrm>
            <a:off x="4013302" y="7873877"/>
            <a:ext cx="2197760" cy="572229"/>
          </a:xfrm>
          <a:prstGeom prst="rect">
            <a:avLst/>
          </a:prstGeom>
        </p:spPr>
        <p:txBody>
          <a:bodyPr lIns="0" tIns="0" rIns="0" bIns="0" rtlCol="0" anchor="t">
            <a:spAutoFit/>
          </a:bodyPr>
          <a:lstStyle/>
          <a:p>
            <a:pPr algn="l">
              <a:lnSpc>
                <a:spcPts val="1534"/>
              </a:lnSpc>
            </a:pPr>
            <a:r>
              <a:rPr lang="en-US" sz="1200" b="1" dirty="0">
                <a:solidFill>
                  <a:srgbClr val="000000"/>
                </a:solidFill>
                <a:latin typeface="Aptos" panose="020B0004020202020204" pitchFamily="34" charset="0"/>
                <a:ea typeface="Montserrat Semi-Bold"/>
                <a:cs typeface="Montserrat Semi-Bold"/>
                <a:sym typeface="Montserrat Semi-Bold"/>
              </a:rPr>
              <a:t>Building a smarter, healthier tomorrow through connected care and real-time monitoring.</a:t>
            </a:r>
          </a:p>
        </p:txBody>
      </p:sp>
      <p:sp>
        <p:nvSpPr>
          <p:cNvPr id="67" name="Freeform 44">
            <a:extLst>
              <a:ext uri="{FF2B5EF4-FFF2-40B4-BE49-F238E27FC236}">
                <a16:creationId xmlns:a16="http://schemas.microsoft.com/office/drawing/2014/main" id="{B45B90EC-3922-CD90-42FC-9DFA789A2D30}"/>
              </a:ext>
            </a:extLst>
          </p:cNvPr>
          <p:cNvSpPr/>
          <p:nvPr/>
        </p:nvSpPr>
        <p:spPr>
          <a:xfrm>
            <a:off x="10761687" y="4242834"/>
            <a:ext cx="4371975" cy="1102452"/>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31"/>
            <a:stretch>
              <a:fillRect/>
            </a:stretch>
          </a:blipFill>
        </p:spPr>
        <p:txBody>
          <a:bodyPr/>
          <a:lstStyle/>
          <a:p>
            <a:endParaRPr lang="en-IN" sz="2400" dirty="0">
              <a:latin typeface="Aptos" panose="020B0004020202020204" pitchFamily="34" charset="0"/>
            </a:endParaRPr>
          </a:p>
        </p:txBody>
      </p:sp>
      <p:sp>
        <p:nvSpPr>
          <p:cNvPr id="51" name="TextBox 51"/>
          <p:cNvSpPr txBox="1"/>
          <p:nvPr/>
        </p:nvSpPr>
        <p:spPr>
          <a:xfrm>
            <a:off x="12055831" y="2489286"/>
            <a:ext cx="2325167" cy="461665"/>
          </a:xfrm>
          <a:prstGeom prst="rect">
            <a:avLst/>
          </a:prstGeom>
        </p:spPr>
        <p:txBody>
          <a:bodyPr lIns="0" tIns="0" rIns="0" bIns="0" rtlCol="0" anchor="t">
            <a:spAutoFit/>
          </a:bodyPr>
          <a:lstStyle/>
          <a:p>
            <a:pPr algn="l">
              <a:lnSpc>
                <a:spcPts val="1187"/>
              </a:lnSpc>
            </a:pPr>
            <a:r>
              <a:rPr lang="en-US" sz="1100" b="1" dirty="0">
                <a:solidFill>
                  <a:srgbClr val="000000"/>
                </a:solidFill>
                <a:latin typeface="Aptos" panose="020B0004020202020204" pitchFamily="34" charset="0"/>
                <a:ea typeface="Montserrat Semi-Bold"/>
                <a:cs typeface="Montserrat Semi-Bold"/>
                <a:sym typeface="Montserrat Semi-Bold"/>
              </a:rPr>
              <a:t>Continuous care and timely alerts lead to improved recovery and better long-term outcomes.</a:t>
            </a:r>
          </a:p>
        </p:txBody>
      </p:sp>
      <p:sp>
        <p:nvSpPr>
          <p:cNvPr id="66" name="Freeform 44">
            <a:extLst>
              <a:ext uri="{FF2B5EF4-FFF2-40B4-BE49-F238E27FC236}">
                <a16:creationId xmlns:a16="http://schemas.microsoft.com/office/drawing/2014/main" id="{F63C13BD-EA2D-F67F-9C41-B09ED321C40E}"/>
              </a:ext>
            </a:extLst>
          </p:cNvPr>
          <p:cNvSpPr/>
          <p:nvPr/>
        </p:nvSpPr>
        <p:spPr>
          <a:xfrm>
            <a:off x="10761688" y="3037057"/>
            <a:ext cx="4371975" cy="1314450"/>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31"/>
            <a:stretch>
              <a:fillRect/>
            </a:stretch>
          </a:blipFill>
        </p:spPr>
      </p:sp>
      <p:sp>
        <p:nvSpPr>
          <p:cNvPr id="53" name="TextBox 53"/>
          <p:cNvSpPr txBox="1"/>
          <p:nvPr/>
        </p:nvSpPr>
        <p:spPr>
          <a:xfrm>
            <a:off x="12055831" y="3526752"/>
            <a:ext cx="2325167" cy="545455"/>
          </a:xfrm>
          <a:prstGeom prst="rect">
            <a:avLst/>
          </a:prstGeom>
        </p:spPr>
        <p:txBody>
          <a:bodyPr lIns="0" tIns="0" rIns="0" bIns="0" rtlCol="0" anchor="t">
            <a:spAutoFit/>
          </a:bodyPr>
          <a:lstStyle/>
          <a:p>
            <a:pPr algn="l">
              <a:lnSpc>
                <a:spcPts val="1435"/>
              </a:lnSpc>
            </a:pPr>
            <a:r>
              <a:rPr lang="en-US" sz="1100" b="1" dirty="0">
                <a:solidFill>
                  <a:srgbClr val="000000"/>
                </a:solidFill>
                <a:latin typeface="Aptos" panose="020B0004020202020204" pitchFamily="34" charset="0"/>
                <a:ea typeface="Montserrat Semi-Bold"/>
                <a:cs typeface="Montserrat Semi-Bold"/>
                <a:sym typeface="Montserrat Semi-Bold"/>
              </a:rPr>
              <a:t>Caregivers can monitor patients remotely from anywhere, anytime with complete peace of mind.</a:t>
            </a:r>
          </a:p>
        </p:txBody>
      </p:sp>
      <p:sp>
        <p:nvSpPr>
          <p:cNvPr id="52" name="TextBox 52"/>
          <p:cNvSpPr txBox="1"/>
          <p:nvPr/>
        </p:nvSpPr>
        <p:spPr>
          <a:xfrm>
            <a:off x="12055831" y="3247370"/>
            <a:ext cx="2726968" cy="205184"/>
          </a:xfrm>
          <a:prstGeom prst="rect">
            <a:avLst/>
          </a:prstGeom>
        </p:spPr>
        <p:txBody>
          <a:bodyPr wrap="square" lIns="0" tIns="0" rIns="0" bIns="0" rtlCol="0" anchor="t">
            <a:spAutoFit/>
          </a:bodyPr>
          <a:lstStyle/>
          <a:p>
            <a:pPr algn="l">
              <a:lnSpc>
                <a:spcPts val="1634"/>
              </a:lnSpc>
            </a:pPr>
            <a:r>
              <a:rPr lang="en-US" sz="1400" b="1" dirty="0">
                <a:solidFill>
                  <a:srgbClr val="00805C"/>
                </a:solidFill>
                <a:latin typeface="Aptos" panose="020B0004020202020204" pitchFamily="34" charset="0"/>
                <a:ea typeface="Montserrat Bold"/>
                <a:cs typeface="Montserrat Bold"/>
                <a:sym typeface="Montserrat Bold"/>
              </a:rPr>
              <a:t>EMPOWERED CAREGIVERS</a:t>
            </a:r>
          </a:p>
        </p:txBody>
      </p:sp>
      <p:sp>
        <p:nvSpPr>
          <p:cNvPr id="54" name="TextBox 54"/>
          <p:cNvSpPr txBox="1"/>
          <p:nvPr/>
        </p:nvSpPr>
        <p:spPr>
          <a:xfrm>
            <a:off x="12055830" y="4358785"/>
            <a:ext cx="2612669" cy="205184"/>
          </a:xfrm>
          <a:prstGeom prst="rect">
            <a:avLst/>
          </a:prstGeom>
        </p:spPr>
        <p:txBody>
          <a:bodyPr wrap="square" lIns="0" tIns="0" rIns="0" bIns="0" rtlCol="0" anchor="t">
            <a:spAutoFit/>
          </a:bodyPr>
          <a:lstStyle/>
          <a:p>
            <a:pPr algn="l">
              <a:lnSpc>
                <a:spcPts val="1634"/>
              </a:lnSpc>
            </a:pPr>
            <a:r>
              <a:rPr lang="en-US" sz="1400" b="1" dirty="0">
                <a:solidFill>
                  <a:srgbClr val="00805C"/>
                </a:solidFill>
                <a:latin typeface="Aptos" panose="020B0004020202020204" pitchFamily="34" charset="0"/>
                <a:ea typeface="Montserrat Bold"/>
                <a:cs typeface="Montserrat Bold"/>
                <a:sym typeface="Montserrat Bold"/>
              </a:rPr>
              <a:t>DATA-DRIVEN INSIGHTS</a:t>
            </a:r>
          </a:p>
        </p:txBody>
      </p:sp>
      <p:sp>
        <p:nvSpPr>
          <p:cNvPr id="55" name="TextBox 55"/>
          <p:cNvSpPr txBox="1"/>
          <p:nvPr/>
        </p:nvSpPr>
        <p:spPr>
          <a:xfrm>
            <a:off x="12046306" y="4688454"/>
            <a:ext cx="2926994" cy="566630"/>
          </a:xfrm>
          <a:prstGeom prst="rect">
            <a:avLst/>
          </a:prstGeom>
        </p:spPr>
        <p:txBody>
          <a:bodyPr wrap="square" lIns="0" tIns="0" rIns="0" bIns="0" rtlCol="0" anchor="t">
            <a:spAutoFit/>
          </a:bodyPr>
          <a:lstStyle/>
          <a:p>
            <a:pPr algn="l">
              <a:lnSpc>
                <a:spcPts val="1485"/>
              </a:lnSpc>
            </a:pPr>
            <a:r>
              <a:rPr lang="en-US" sz="1200" b="1" dirty="0">
                <a:solidFill>
                  <a:srgbClr val="000000"/>
                </a:solidFill>
                <a:latin typeface="Aptos" panose="020B0004020202020204" pitchFamily="34" charset="0"/>
                <a:ea typeface="Montserrat Semi-Bold"/>
                <a:cs typeface="Montserrat Semi-Bold"/>
                <a:sym typeface="Montserrat Semi-Bold"/>
              </a:rPr>
              <a:t>Historical data and analytics help identify trends and support better clinical decisions.</a:t>
            </a:r>
          </a:p>
        </p:txBody>
      </p:sp>
      <p:sp>
        <p:nvSpPr>
          <p:cNvPr id="68" name="Freeform 44">
            <a:extLst>
              <a:ext uri="{FF2B5EF4-FFF2-40B4-BE49-F238E27FC236}">
                <a16:creationId xmlns:a16="http://schemas.microsoft.com/office/drawing/2014/main" id="{A6F8A2FB-C58B-814A-267B-8FB566FD9077}"/>
              </a:ext>
            </a:extLst>
          </p:cNvPr>
          <p:cNvSpPr/>
          <p:nvPr/>
        </p:nvSpPr>
        <p:spPr>
          <a:xfrm>
            <a:off x="10761686" y="5266952"/>
            <a:ext cx="4371975" cy="1206334"/>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31"/>
            <a:stretch>
              <a:fillRect/>
            </a:stretch>
          </a:blipFill>
        </p:spPr>
        <p:txBody>
          <a:bodyPr/>
          <a:lstStyle/>
          <a:p>
            <a:endParaRPr lang="en-IN" sz="2400" dirty="0">
              <a:latin typeface="Aptos" panose="020B0004020202020204" pitchFamily="34" charset="0"/>
            </a:endParaRPr>
          </a:p>
        </p:txBody>
      </p:sp>
      <p:sp>
        <p:nvSpPr>
          <p:cNvPr id="56" name="TextBox 56"/>
          <p:cNvSpPr txBox="1"/>
          <p:nvPr/>
        </p:nvSpPr>
        <p:spPr>
          <a:xfrm>
            <a:off x="12055830" y="5461237"/>
            <a:ext cx="2293315" cy="205184"/>
          </a:xfrm>
          <a:prstGeom prst="rect">
            <a:avLst/>
          </a:prstGeom>
        </p:spPr>
        <p:txBody>
          <a:bodyPr wrap="square" lIns="0" tIns="0" rIns="0" bIns="0" rtlCol="0" anchor="t">
            <a:spAutoFit/>
          </a:bodyPr>
          <a:lstStyle/>
          <a:p>
            <a:pPr algn="l">
              <a:lnSpc>
                <a:spcPts val="1634"/>
              </a:lnSpc>
            </a:pPr>
            <a:r>
              <a:rPr lang="en-US" sz="1400" b="1" dirty="0">
                <a:solidFill>
                  <a:srgbClr val="00805C"/>
                </a:solidFill>
                <a:latin typeface="Aptos" panose="020B0004020202020204" pitchFamily="34" charset="0"/>
                <a:ea typeface="Montserrat Bold"/>
                <a:cs typeface="Montserrat Bold"/>
                <a:sym typeface="Montserrat Bold"/>
              </a:rPr>
              <a:t>SCALABLE &amp; FLEXIBLE</a:t>
            </a:r>
          </a:p>
        </p:txBody>
      </p:sp>
      <p:sp>
        <p:nvSpPr>
          <p:cNvPr id="57" name="TextBox 57"/>
          <p:cNvSpPr txBox="1"/>
          <p:nvPr/>
        </p:nvSpPr>
        <p:spPr>
          <a:xfrm>
            <a:off x="12046306" y="5846370"/>
            <a:ext cx="2736494" cy="566630"/>
          </a:xfrm>
          <a:prstGeom prst="rect">
            <a:avLst/>
          </a:prstGeom>
        </p:spPr>
        <p:txBody>
          <a:bodyPr wrap="square" lIns="0" tIns="0" rIns="0" bIns="0" rtlCol="0" anchor="t">
            <a:spAutoFit/>
          </a:bodyPr>
          <a:lstStyle/>
          <a:p>
            <a:pPr algn="l">
              <a:lnSpc>
                <a:spcPts val="1485"/>
              </a:lnSpc>
            </a:pPr>
            <a:r>
              <a:rPr lang="en-US" sz="1200" b="1" dirty="0">
                <a:solidFill>
                  <a:srgbClr val="000000"/>
                </a:solidFill>
                <a:latin typeface="Aptos" panose="020B0004020202020204" pitchFamily="34" charset="0"/>
                <a:ea typeface="Montserrat Semi-Bold"/>
                <a:cs typeface="Montserrat Semi-Bold"/>
                <a:sym typeface="Montserrat Semi-Bold"/>
              </a:rPr>
              <a:t>The system can be easily scaled to monitor multiple patients simultaneously.</a:t>
            </a:r>
          </a:p>
        </p:txBody>
      </p:sp>
      <p:sp>
        <p:nvSpPr>
          <p:cNvPr id="69" name="Freeform 44">
            <a:extLst>
              <a:ext uri="{FF2B5EF4-FFF2-40B4-BE49-F238E27FC236}">
                <a16:creationId xmlns:a16="http://schemas.microsoft.com/office/drawing/2014/main" id="{1D92E569-D807-FD06-358B-D740236A5A4A}"/>
              </a:ext>
            </a:extLst>
          </p:cNvPr>
          <p:cNvSpPr/>
          <p:nvPr/>
        </p:nvSpPr>
        <p:spPr>
          <a:xfrm>
            <a:off x="10761685" y="6378734"/>
            <a:ext cx="4371975" cy="1206334"/>
          </a:xfrm>
          <a:custGeom>
            <a:avLst/>
            <a:gdLst/>
            <a:ahLst/>
            <a:cxnLst/>
            <a:rect l="l" t="t" r="r" b="b"/>
            <a:pathLst>
              <a:path w="4371975" h="1314450">
                <a:moveTo>
                  <a:pt x="0" y="0"/>
                </a:moveTo>
                <a:lnTo>
                  <a:pt x="4371975" y="0"/>
                </a:lnTo>
                <a:lnTo>
                  <a:pt x="4371975" y="1314450"/>
                </a:lnTo>
                <a:lnTo>
                  <a:pt x="0" y="1314450"/>
                </a:lnTo>
                <a:lnTo>
                  <a:pt x="0" y="0"/>
                </a:lnTo>
                <a:close/>
              </a:path>
            </a:pathLst>
          </a:custGeom>
          <a:blipFill>
            <a:blip r:embed="rId31"/>
            <a:stretch>
              <a:fillRect/>
            </a:stretch>
          </a:blipFill>
        </p:spPr>
        <p:txBody>
          <a:bodyPr/>
          <a:lstStyle/>
          <a:p>
            <a:endParaRPr lang="en-IN" sz="2400" dirty="0">
              <a:latin typeface="Aptos" panose="020B0004020202020204" pitchFamily="34" charset="0"/>
            </a:endParaRPr>
          </a:p>
        </p:txBody>
      </p:sp>
      <p:sp>
        <p:nvSpPr>
          <p:cNvPr id="58" name="TextBox 58"/>
          <p:cNvSpPr txBox="1"/>
          <p:nvPr/>
        </p:nvSpPr>
        <p:spPr>
          <a:xfrm>
            <a:off x="12055830" y="6563689"/>
            <a:ext cx="1964969" cy="205184"/>
          </a:xfrm>
          <a:prstGeom prst="rect">
            <a:avLst/>
          </a:prstGeom>
        </p:spPr>
        <p:txBody>
          <a:bodyPr wrap="square" lIns="0" tIns="0" rIns="0" bIns="0" rtlCol="0" anchor="t">
            <a:spAutoFit/>
          </a:bodyPr>
          <a:lstStyle/>
          <a:p>
            <a:pPr algn="l">
              <a:lnSpc>
                <a:spcPts val="1634"/>
              </a:lnSpc>
            </a:pPr>
            <a:r>
              <a:rPr lang="en-US" sz="1400" b="1" dirty="0">
                <a:solidFill>
                  <a:srgbClr val="00805C"/>
                </a:solidFill>
                <a:latin typeface="Aptos" panose="020B0004020202020204" pitchFamily="34" charset="0"/>
                <a:ea typeface="Montserrat Bold"/>
                <a:cs typeface="Montserrat Bold"/>
                <a:sym typeface="Montserrat Bold"/>
              </a:rPr>
              <a:t>SECURE &amp; RELIABLE</a:t>
            </a:r>
          </a:p>
        </p:txBody>
      </p:sp>
      <p:sp>
        <p:nvSpPr>
          <p:cNvPr id="59" name="TextBox 59"/>
          <p:cNvSpPr txBox="1"/>
          <p:nvPr/>
        </p:nvSpPr>
        <p:spPr>
          <a:xfrm>
            <a:off x="12055830" y="6844083"/>
            <a:ext cx="2726969" cy="566630"/>
          </a:xfrm>
          <a:prstGeom prst="rect">
            <a:avLst/>
          </a:prstGeom>
        </p:spPr>
        <p:txBody>
          <a:bodyPr wrap="square" lIns="0" tIns="0" rIns="0" bIns="0" rtlCol="0" anchor="t">
            <a:spAutoFit/>
          </a:bodyPr>
          <a:lstStyle/>
          <a:p>
            <a:pPr algn="l">
              <a:lnSpc>
                <a:spcPts val="1485"/>
              </a:lnSpc>
            </a:pPr>
            <a:r>
              <a:rPr lang="en-US" sz="1200" b="1" dirty="0">
                <a:solidFill>
                  <a:srgbClr val="000000"/>
                </a:solidFill>
                <a:latin typeface="Aptos" panose="020B0004020202020204" pitchFamily="34" charset="0"/>
                <a:ea typeface="Montserrat Semi-Bold"/>
                <a:cs typeface="Montserrat Semi-Bold"/>
                <a:sym typeface="Montserrat Semi-Bold"/>
              </a:rPr>
              <a:t>Encrypted data transmission and secure cloud storage ensure privacy, reliability, and data protection.</a:t>
            </a:r>
          </a:p>
        </p:txBody>
      </p:sp>
      <p:sp>
        <p:nvSpPr>
          <p:cNvPr id="71" name="Freeform 4">
            <a:extLst>
              <a:ext uri="{FF2B5EF4-FFF2-40B4-BE49-F238E27FC236}">
                <a16:creationId xmlns:a16="http://schemas.microsoft.com/office/drawing/2014/main" id="{34A95BE3-7FBE-F5D8-71FF-451509080F0F}"/>
              </a:ext>
            </a:extLst>
          </p:cNvPr>
          <p:cNvSpPr/>
          <p:nvPr/>
        </p:nvSpPr>
        <p:spPr>
          <a:xfrm>
            <a:off x="-8041" y="7096125"/>
            <a:ext cx="2085975" cy="1876425"/>
          </a:xfrm>
          <a:custGeom>
            <a:avLst/>
            <a:gdLst/>
            <a:ahLst/>
            <a:cxnLst/>
            <a:rect l="l" t="t" r="r" b="b"/>
            <a:pathLst>
              <a:path w="2085975" h="1876425">
                <a:moveTo>
                  <a:pt x="0" y="0"/>
                </a:moveTo>
                <a:lnTo>
                  <a:pt x="2085975" y="0"/>
                </a:lnTo>
                <a:lnTo>
                  <a:pt x="2085975" y="1876425"/>
                </a:lnTo>
                <a:lnTo>
                  <a:pt x="0" y="1876425"/>
                </a:lnTo>
                <a:lnTo>
                  <a:pt x="0" y="0"/>
                </a:lnTo>
                <a:close/>
              </a:path>
            </a:pathLst>
          </a:custGeom>
          <a:blipFill>
            <a:blip r:embed="rId3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7498F-F4B2-905F-B101-F34608D1A2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625402B-E8CF-02E9-00B9-5D289538D8E9}"/>
              </a:ext>
            </a:extLst>
          </p:cNvPr>
          <p:cNvSpPr/>
          <p:nvPr/>
        </p:nvSpPr>
        <p:spPr>
          <a:xfrm>
            <a:off x="60119" y="29173"/>
            <a:ext cx="15925800" cy="8963025"/>
          </a:xfrm>
          <a:custGeom>
            <a:avLst/>
            <a:gdLst/>
            <a:ahLst/>
            <a:cxnLst/>
            <a:rect l="l" t="t" r="r" b="b"/>
            <a:pathLst>
              <a:path w="15925800" h="8963025">
                <a:moveTo>
                  <a:pt x="0" y="0"/>
                </a:moveTo>
                <a:lnTo>
                  <a:pt x="15925800" y="0"/>
                </a:lnTo>
                <a:lnTo>
                  <a:pt x="15925800" y="8963025"/>
                </a:lnTo>
                <a:lnTo>
                  <a:pt x="0" y="8963025"/>
                </a:lnTo>
                <a:lnTo>
                  <a:pt x="0" y="0"/>
                </a:lnTo>
                <a:close/>
              </a:path>
            </a:pathLst>
          </a:custGeom>
          <a:blipFill>
            <a:blip r:embed="rId2"/>
            <a:stretch>
              <a:fillRect/>
            </a:stretch>
          </a:blipFill>
        </p:spPr>
      </p:sp>
      <p:sp>
        <p:nvSpPr>
          <p:cNvPr id="3" name="Freeform 3">
            <a:extLst>
              <a:ext uri="{FF2B5EF4-FFF2-40B4-BE49-F238E27FC236}">
                <a16:creationId xmlns:a16="http://schemas.microsoft.com/office/drawing/2014/main" id="{6F624688-5569-B9E2-B1E3-BC230D10A664}"/>
              </a:ext>
            </a:extLst>
          </p:cNvPr>
          <p:cNvSpPr/>
          <p:nvPr/>
        </p:nvSpPr>
        <p:spPr>
          <a:xfrm>
            <a:off x="0" y="0"/>
            <a:ext cx="2085975" cy="1876425"/>
          </a:xfrm>
          <a:custGeom>
            <a:avLst/>
            <a:gdLst/>
            <a:ahLst/>
            <a:cxnLst/>
            <a:rect l="l" t="t" r="r" b="b"/>
            <a:pathLst>
              <a:path w="2085975" h="1876425">
                <a:moveTo>
                  <a:pt x="0" y="0"/>
                </a:moveTo>
                <a:lnTo>
                  <a:pt x="2085975" y="0"/>
                </a:lnTo>
                <a:lnTo>
                  <a:pt x="2085975" y="1876425"/>
                </a:lnTo>
                <a:lnTo>
                  <a:pt x="0" y="1876425"/>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5B35EDEA-1C2E-CCE4-1726-1E53A74AC53E}"/>
              </a:ext>
            </a:extLst>
          </p:cNvPr>
          <p:cNvSpPr/>
          <p:nvPr/>
        </p:nvSpPr>
        <p:spPr>
          <a:xfrm>
            <a:off x="180975" y="180975"/>
            <a:ext cx="771525" cy="762000"/>
          </a:xfrm>
          <a:custGeom>
            <a:avLst/>
            <a:gdLst/>
            <a:ahLst/>
            <a:cxnLst/>
            <a:rect l="l" t="t" r="r" b="b"/>
            <a:pathLst>
              <a:path w="771525" h="762000">
                <a:moveTo>
                  <a:pt x="0" y="0"/>
                </a:moveTo>
                <a:lnTo>
                  <a:pt x="771525" y="0"/>
                </a:lnTo>
                <a:lnTo>
                  <a:pt x="771525" y="762000"/>
                </a:lnTo>
                <a:lnTo>
                  <a:pt x="0" y="762000"/>
                </a:lnTo>
                <a:lnTo>
                  <a:pt x="0" y="0"/>
                </a:lnTo>
                <a:close/>
              </a:path>
            </a:pathLst>
          </a:custGeom>
          <a:blipFill>
            <a:blip r:embed="rId4"/>
            <a:stretch>
              <a:fillRect/>
            </a:stretch>
          </a:blipFill>
        </p:spPr>
      </p:sp>
      <p:sp>
        <p:nvSpPr>
          <p:cNvPr id="5" name="TextBox 5">
            <a:extLst>
              <a:ext uri="{FF2B5EF4-FFF2-40B4-BE49-F238E27FC236}">
                <a16:creationId xmlns:a16="http://schemas.microsoft.com/office/drawing/2014/main" id="{B51598B0-3DFE-2A7D-FBDF-D6444F104C20}"/>
              </a:ext>
            </a:extLst>
          </p:cNvPr>
          <p:cNvSpPr txBox="1"/>
          <p:nvPr/>
        </p:nvSpPr>
        <p:spPr>
          <a:xfrm>
            <a:off x="3201086" y="250159"/>
            <a:ext cx="4921072" cy="756617"/>
          </a:xfrm>
          <a:prstGeom prst="rect">
            <a:avLst/>
          </a:prstGeom>
        </p:spPr>
        <p:txBody>
          <a:bodyPr lIns="0" tIns="0" rIns="0" bIns="0" rtlCol="0" anchor="t">
            <a:spAutoFit/>
          </a:bodyPr>
          <a:lstStyle/>
          <a:p>
            <a:pPr algn="ctr">
              <a:lnSpc>
                <a:spcPts val="5881"/>
              </a:lnSpc>
            </a:pPr>
            <a:r>
              <a:rPr lang="en-US" sz="6000" b="1">
                <a:solidFill>
                  <a:srgbClr val="001C58"/>
                </a:solidFill>
                <a:latin typeface="Arial Narrow" panose="020B0606020202030204" pitchFamily="34" charset="0"/>
                <a:ea typeface="Roboto Bold"/>
                <a:cs typeface="Roboto Bold"/>
                <a:sym typeface="Roboto Bold"/>
              </a:rPr>
              <a:t>FEASIBILITY &amp;</a:t>
            </a:r>
          </a:p>
        </p:txBody>
      </p:sp>
      <p:sp>
        <p:nvSpPr>
          <p:cNvPr id="6" name="TextBox 6">
            <a:extLst>
              <a:ext uri="{FF2B5EF4-FFF2-40B4-BE49-F238E27FC236}">
                <a16:creationId xmlns:a16="http://schemas.microsoft.com/office/drawing/2014/main" id="{92E78BED-EBCE-38B0-8F8F-913E80AE1AFD}"/>
              </a:ext>
            </a:extLst>
          </p:cNvPr>
          <p:cNvSpPr txBox="1"/>
          <p:nvPr/>
        </p:nvSpPr>
        <p:spPr>
          <a:xfrm>
            <a:off x="8281416" y="257623"/>
            <a:ext cx="4650334" cy="735201"/>
          </a:xfrm>
          <a:prstGeom prst="rect">
            <a:avLst/>
          </a:prstGeom>
        </p:spPr>
        <p:txBody>
          <a:bodyPr lIns="0" tIns="0" rIns="0" bIns="0" rtlCol="0" anchor="t">
            <a:spAutoFit/>
          </a:bodyPr>
          <a:lstStyle/>
          <a:p>
            <a:pPr algn="ctr">
              <a:lnSpc>
                <a:spcPts val="5669"/>
              </a:lnSpc>
            </a:pPr>
            <a:r>
              <a:rPr lang="en-US" sz="6000" b="1">
                <a:solidFill>
                  <a:srgbClr val="1A8F6F"/>
                </a:solidFill>
                <a:latin typeface="Arial Narrow" panose="020B0606020202030204" pitchFamily="34" charset="0"/>
                <a:ea typeface="Roboto Bold"/>
                <a:cs typeface="Roboto Bold"/>
                <a:sym typeface="Roboto Bold"/>
              </a:rPr>
              <a:t>AVAILABILITY</a:t>
            </a:r>
          </a:p>
        </p:txBody>
      </p:sp>
      <p:sp>
        <p:nvSpPr>
          <p:cNvPr id="7" name="Freeform 7">
            <a:extLst>
              <a:ext uri="{FF2B5EF4-FFF2-40B4-BE49-F238E27FC236}">
                <a16:creationId xmlns:a16="http://schemas.microsoft.com/office/drawing/2014/main" id="{D4B904C0-CA1A-0C18-691C-3C67E06277C5}"/>
              </a:ext>
            </a:extLst>
          </p:cNvPr>
          <p:cNvSpPr/>
          <p:nvPr/>
        </p:nvSpPr>
        <p:spPr>
          <a:xfrm>
            <a:off x="3219450" y="933450"/>
            <a:ext cx="3038475" cy="561975"/>
          </a:xfrm>
          <a:custGeom>
            <a:avLst/>
            <a:gdLst/>
            <a:ahLst/>
            <a:cxnLst/>
            <a:rect l="l" t="t" r="r" b="b"/>
            <a:pathLst>
              <a:path w="3038475" h="561975">
                <a:moveTo>
                  <a:pt x="0" y="0"/>
                </a:moveTo>
                <a:lnTo>
                  <a:pt x="3038475" y="0"/>
                </a:lnTo>
                <a:lnTo>
                  <a:pt x="3038475" y="561975"/>
                </a:lnTo>
                <a:lnTo>
                  <a:pt x="0" y="561975"/>
                </a:lnTo>
                <a:lnTo>
                  <a:pt x="0" y="0"/>
                </a:lnTo>
                <a:close/>
              </a:path>
            </a:pathLst>
          </a:custGeom>
          <a:blipFill>
            <a:blip r:embed="rId5"/>
            <a:stretch>
              <a:fillRect/>
            </a:stretch>
          </a:blipFill>
        </p:spPr>
      </p:sp>
      <p:sp>
        <p:nvSpPr>
          <p:cNvPr id="8" name="Freeform 8">
            <a:extLst>
              <a:ext uri="{FF2B5EF4-FFF2-40B4-BE49-F238E27FC236}">
                <a16:creationId xmlns:a16="http://schemas.microsoft.com/office/drawing/2014/main" id="{AB12422D-3D94-E409-9A85-1E98ADDC2AB8}"/>
              </a:ext>
            </a:extLst>
          </p:cNvPr>
          <p:cNvSpPr/>
          <p:nvPr/>
        </p:nvSpPr>
        <p:spPr>
          <a:xfrm>
            <a:off x="9858375" y="933450"/>
            <a:ext cx="3228975" cy="561975"/>
          </a:xfrm>
          <a:custGeom>
            <a:avLst/>
            <a:gdLst/>
            <a:ahLst/>
            <a:cxnLst/>
            <a:rect l="l" t="t" r="r" b="b"/>
            <a:pathLst>
              <a:path w="3228975" h="561975">
                <a:moveTo>
                  <a:pt x="0" y="0"/>
                </a:moveTo>
                <a:lnTo>
                  <a:pt x="3228975" y="0"/>
                </a:lnTo>
                <a:lnTo>
                  <a:pt x="3228975" y="561975"/>
                </a:lnTo>
                <a:lnTo>
                  <a:pt x="0" y="561975"/>
                </a:lnTo>
                <a:lnTo>
                  <a:pt x="0" y="0"/>
                </a:lnTo>
                <a:close/>
              </a:path>
            </a:pathLst>
          </a:custGeom>
          <a:blipFill>
            <a:blip r:embed="rId6"/>
            <a:stretch>
              <a:fillRect/>
            </a:stretch>
          </a:blipFill>
        </p:spPr>
      </p:sp>
      <p:sp>
        <p:nvSpPr>
          <p:cNvPr id="9" name="Freeform 9">
            <a:extLst>
              <a:ext uri="{FF2B5EF4-FFF2-40B4-BE49-F238E27FC236}">
                <a16:creationId xmlns:a16="http://schemas.microsoft.com/office/drawing/2014/main" id="{0C5AB480-2667-B0BF-9EBB-E6A3034D373B}"/>
              </a:ext>
            </a:extLst>
          </p:cNvPr>
          <p:cNvSpPr/>
          <p:nvPr/>
        </p:nvSpPr>
        <p:spPr>
          <a:xfrm>
            <a:off x="561975" y="1485900"/>
            <a:ext cx="6267450" cy="571500"/>
          </a:xfrm>
          <a:custGeom>
            <a:avLst/>
            <a:gdLst/>
            <a:ahLst/>
            <a:cxnLst/>
            <a:rect l="l" t="t" r="r" b="b"/>
            <a:pathLst>
              <a:path w="6267450" h="571500">
                <a:moveTo>
                  <a:pt x="0" y="0"/>
                </a:moveTo>
                <a:lnTo>
                  <a:pt x="6267450" y="0"/>
                </a:lnTo>
                <a:lnTo>
                  <a:pt x="6267450" y="571500"/>
                </a:lnTo>
                <a:lnTo>
                  <a:pt x="0" y="571500"/>
                </a:lnTo>
                <a:lnTo>
                  <a:pt x="0" y="0"/>
                </a:lnTo>
                <a:close/>
              </a:path>
            </a:pathLst>
          </a:custGeom>
          <a:blipFill>
            <a:blip r:embed="rId7"/>
            <a:stretch>
              <a:fillRect/>
            </a:stretch>
          </a:blipFill>
        </p:spPr>
      </p:sp>
      <p:sp>
        <p:nvSpPr>
          <p:cNvPr id="10" name="Freeform 10">
            <a:extLst>
              <a:ext uri="{FF2B5EF4-FFF2-40B4-BE49-F238E27FC236}">
                <a16:creationId xmlns:a16="http://schemas.microsoft.com/office/drawing/2014/main" id="{4F5CDBA8-A066-68BE-D9F7-44E8817160FE}"/>
              </a:ext>
            </a:extLst>
          </p:cNvPr>
          <p:cNvSpPr/>
          <p:nvPr/>
        </p:nvSpPr>
        <p:spPr>
          <a:xfrm>
            <a:off x="1323975" y="1304925"/>
            <a:ext cx="762000" cy="942975"/>
          </a:xfrm>
          <a:custGeom>
            <a:avLst/>
            <a:gdLst/>
            <a:ahLst/>
            <a:cxnLst/>
            <a:rect l="l" t="t" r="r" b="b"/>
            <a:pathLst>
              <a:path w="762000" h="942975">
                <a:moveTo>
                  <a:pt x="0" y="0"/>
                </a:moveTo>
                <a:lnTo>
                  <a:pt x="762000" y="0"/>
                </a:lnTo>
                <a:lnTo>
                  <a:pt x="762000" y="942975"/>
                </a:lnTo>
                <a:lnTo>
                  <a:pt x="0" y="942975"/>
                </a:lnTo>
                <a:lnTo>
                  <a:pt x="0" y="0"/>
                </a:lnTo>
                <a:close/>
              </a:path>
            </a:pathLst>
          </a:custGeom>
          <a:blipFill>
            <a:blip r:embed="rId8"/>
            <a:stretch>
              <a:fillRect/>
            </a:stretch>
          </a:blipFill>
        </p:spPr>
      </p:sp>
      <p:sp>
        <p:nvSpPr>
          <p:cNvPr id="11" name="Freeform 11">
            <a:extLst>
              <a:ext uri="{FF2B5EF4-FFF2-40B4-BE49-F238E27FC236}">
                <a16:creationId xmlns:a16="http://schemas.microsoft.com/office/drawing/2014/main" id="{294556B7-5257-3999-6075-9AA611DC6944}"/>
              </a:ext>
            </a:extLst>
          </p:cNvPr>
          <p:cNvSpPr/>
          <p:nvPr/>
        </p:nvSpPr>
        <p:spPr>
          <a:xfrm>
            <a:off x="1323975" y="1485900"/>
            <a:ext cx="581025" cy="571500"/>
          </a:xfrm>
          <a:custGeom>
            <a:avLst/>
            <a:gdLst/>
            <a:ahLst/>
            <a:cxnLst/>
            <a:rect l="l" t="t" r="r" b="b"/>
            <a:pathLst>
              <a:path w="581025" h="571500">
                <a:moveTo>
                  <a:pt x="0" y="0"/>
                </a:moveTo>
                <a:lnTo>
                  <a:pt x="581025" y="0"/>
                </a:lnTo>
                <a:lnTo>
                  <a:pt x="581025" y="571500"/>
                </a:lnTo>
                <a:lnTo>
                  <a:pt x="0" y="571500"/>
                </a:lnTo>
                <a:lnTo>
                  <a:pt x="0" y="0"/>
                </a:lnTo>
                <a:close/>
              </a:path>
            </a:pathLst>
          </a:custGeom>
          <a:blipFill>
            <a:blip r:embed="rId9"/>
            <a:stretch>
              <a:fillRect/>
            </a:stretch>
          </a:blipFill>
        </p:spPr>
      </p:sp>
      <p:sp>
        <p:nvSpPr>
          <p:cNvPr id="12" name="TextBox 12">
            <a:extLst>
              <a:ext uri="{FF2B5EF4-FFF2-40B4-BE49-F238E27FC236}">
                <a16:creationId xmlns:a16="http://schemas.microsoft.com/office/drawing/2014/main" id="{4D2C0B33-0D95-C284-F3ED-30ED50A6062F}"/>
              </a:ext>
            </a:extLst>
          </p:cNvPr>
          <p:cNvSpPr txBox="1"/>
          <p:nvPr/>
        </p:nvSpPr>
        <p:spPr>
          <a:xfrm>
            <a:off x="2197760" y="1675646"/>
            <a:ext cx="1592580" cy="260328"/>
          </a:xfrm>
          <a:prstGeom prst="rect">
            <a:avLst/>
          </a:prstGeom>
        </p:spPr>
        <p:txBody>
          <a:bodyPr lIns="0" tIns="0" rIns="0" bIns="0" rtlCol="0" anchor="t">
            <a:spAutoFit/>
          </a:bodyPr>
          <a:lstStyle/>
          <a:p>
            <a:pPr algn="l">
              <a:lnSpc>
                <a:spcPts val="2017"/>
              </a:lnSpc>
            </a:pPr>
            <a:r>
              <a:rPr lang="en-US" sz="2400" b="1">
                <a:solidFill>
                  <a:srgbClr val="FFFFFF"/>
                </a:solidFill>
                <a:latin typeface="Arial Narrow" panose="020B0606020202030204" pitchFamily="34" charset="0"/>
                <a:ea typeface="Roboto Bold"/>
                <a:cs typeface="Roboto Bold"/>
                <a:sym typeface="Roboto Bold"/>
              </a:rPr>
              <a:t>FEASIBILITY</a:t>
            </a:r>
          </a:p>
        </p:txBody>
      </p:sp>
      <p:sp>
        <p:nvSpPr>
          <p:cNvPr id="13" name="TextBox 13">
            <a:extLst>
              <a:ext uri="{FF2B5EF4-FFF2-40B4-BE49-F238E27FC236}">
                <a16:creationId xmlns:a16="http://schemas.microsoft.com/office/drawing/2014/main" id="{C40EEC63-C3F3-A41A-5D1F-DF13B73E394D}"/>
              </a:ext>
            </a:extLst>
          </p:cNvPr>
          <p:cNvSpPr txBox="1"/>
          <p:nvPr/>
        </p:nvSpPr>
        <p:spPr>
          <a:xfrm>
            <a:off x="1560728" y="2180220"/>
            <a:ext cx="4618482" cy="410369"/>
          </a:xfrm>
          <a:prstGeom prst="rect">
            <a:avLst/>
          </a:prstGeom>
        </p:spPr>
        <p:txBody>
          <a:bodyPr lIns="0" tIns="0" rIns="0" bIns="0" rtlCol="0" anchor="t">
            <a:spAutoFit/>
          </a:bodyPr>
          <a:lstStyle/>
          <a:p>
            <a:pPr algn="ctr">
              <a:lnSpc>
                <a:spcPts val="1570"/>
              </a:lnSpc>
            </a:pPr>
            <a:r>
              <a:rPr lang="en-US" sz="1400" b="1">
                <a:solidFill>
                  <a:srgbClr val="001C58"/>
                </a:solidFill>
                <a:latin typeface="Arial Narrow" panose="020B0606020202030204" pitchFamily="34" charset="0"/>
                <a:ea typeface="Roboto"/>
                <a:cs typeface="Roboto"/>
                <a:sym typeface="Roboto"/>
              </a:rPr>
              <a:t>The system is technically, operationally and economically feasible using readily available technologies and resources.</a:t>
            </a:r>
          </a:p>
        </p:txBody>
      </p:sp>
      <p:sp>
        <p:nvSpPr>
          <p:cNvPr id="14" name="Freeform 14">
            <a:extLst>
              <a:ext uri="{FF2B5EF4-FFF2-40B4-BE49-F238E27FC236}">
                <a16:creationId xmlns:a16="http://schemas.microsoft.com/office/drawing/2014/main" id="{9278C81D-2A7D-E765-F8B6-00C97CF2B516}"/>
              </a:ext>
            </a:extLst>
          </p:cNvPr>
          <p:cNvSpPr/>
          <p:nvPr/>
        </p:nvSpPr>
        <p:spPr>
          <a:xfrm>
            <a:off x="561975" y="2609850"/>
            <a:ext cx="6267450" cy="1314450"/>
          </a:xfrm>
          <a:custGeom>
            <a:avLst/>
            <a:gdLst/>
            <a:ahLst/>
            <a:cxnLst/>
            <a:rect l="l" t="t" r="r" b="b"/>
            <a:pathLst>
              <a:path w="6267450" h="1314450">
                <a:moveTo>
                  <a:pt x="0" y="0"/>
                </a:moveTo>
                <a:lnTo>
                  <a:pt x="6267450" y="0"/>
                </a:lnTo>
                <a:lnTo>
                  <a:pt x="6267450" y="1314450"/>
                </a:lnTo>
                <a:lnTo>
                  <a:pt x="0" y="1314450"/>
                </a:lnTo>
                <a:lnTo>
                  <a:pt x="0" y="0"/>
                </a:lnTo>
                <a:close/>
              </a:path>
            </a:pathLst>
          </a:custGeom>
          <a:blipFill>
            <a:blip r:embed="rId10"/>
            <a:stretch>
              <a:fillRect/>
            </a:stretch>
          </a:blipFill>
        </p:spPr>
      </p:sp>
      <p:sp>
        <p:nvSpPr>
          <p:cNvPr id="15" name="Freeform 15">
            <a:extLst>
              <a:ext uri="{FF2B5EF4-FFF2-40B4-BE49-F238E27FC236}">
                <a16:creationId xmlns:a16="http://schemas.microsoft.com/office/drawing/2014/main" id="{B3C3F4C0-5359-7D1D-FB04-5B14301FABF5}"/>
              </a:ext>
            </a:extLst>
          </p:cNvPr>
          <p:cNvSpPr/>
          <p:nvPr/>
        </p:nvSpPr>
        <p:spPr>
          <a:xfrm>
            <a:off x="752475" y="2800350"/>
            <a:ext cx="771525" cy="752475"/>
          </a:xfrm>
          <a:custGeom>
            <a:avLst/>
            <a:gdLst/>
            <a:ahLst/>
            <a:cxnLst/>
            <a:rect l="l" t="t" r="r" b="b"/>
            <a:pathLst>
              <a:path w="771525" h="752475">
                <a:moveTo>
                  <a:pt x="0" y="0"/>
                </a:moveTo>
                <a:lnTo>
                  <a:pt x="771525" y="0"/>
                </a:lnTo>
                <a:lnTo>
                  <a:pt x="771525" y="752475"/>
                </a:lnTo>
                <a:lnTo>
                  <a:pt x="0" y="752475"/>
                </a:lnTo>
                <a:lnTo>
                  <a:pt x="0" y="0"/>
                </a:lnTo>
                <a:close/>
              </a:path>
            </a:pathLst>
          </a:custGeom>
          <a:blipFill>
            <a:blip r:embed="rId11"/>
            <a:stretch>
              <a:fillRect/>
            </a:stretch>
          </a:blipFill>
        </p:spPr>
      </p:sp>
      <p:sp>
        <p:nvSpPr>
          <p:cNvPr id="16" name="TextBox 16">
            <a:extLst>
              <a:ext uri="{FF2B5EF4-FFF2-40B4-BE49-F238E27FC236}">
                <a16:creationId xmlns:a16="http://schemas.microsoft.com/office/drawing/2014/main" id="{10903986-A63D-48B3-7D92-3D869198CA76}"/>
              </a:ext>
            </a:extLst>
          </p:cNvPr>
          <p:cNvSpPr txBox="1"/>
          <p:nvPr/>
        </p:nvSpPr>
        <p:spPr>
          <a:xfrm>
            <a:off x="1783690" y="3119720"/>
            <a:ext cx="2962199" cy="500137"/>
          </a:xfrm>
          <a:prstGeom prst="rect">
            <a:avLst/>
          </a:prstGeom>
        </p:spPr>
        <p:txBody>
          <a:bodyPr lIns="0" tIns="0" rIns="0" bIns="0" rtlCol="0" anchor="t">
            <a:spAutoFit/>
          </a:bodyPr>
          <a:lstStyle/>
          <a:p>
            <a:pPr algn="l">
              <a:lnSpc>
                <a:spcPts val="1336"/>
              </a:lnSpc>
            </a:pPr>
            <a:r>
              <a:rPr lang="en-US" sz="1200" b="1" dirty="0">
                <a:solidFill>
                  <a:srgbClr val="001C58"/>
                </a:solidFill>
                <a:latin typeface="Arial Narrow" panose="020B0606020202030204" pitchFamily="34" charset="0"/>
                <a:ea typeface="Roboto"/>
                <a:cs typeface="Roboto"/>
                <a:sym typeface="Roboto"/>
              </a:rPr>
              <a:t>Built using proven, low-power hardware (ESP32), MAx3000, 0D18B20 and reliable communication (Wi-Fi / Bluetooth).</a:t>
            </a:r>
          </a:p>
        </p:txBody>
      </p:sp>
      <p:sp>
        <p:nvSpPr>
          <p:cNvPr id="17" name="Freeform 17">
            <a:extLst>
              <a:ext uri="{FF2B5EF4-FFF2-40B4-BE49-F238E27FC236}">
                <a16:creationId xmlns:a16="http://schemas.microsoft.com/office/drawing/2014/main" id="{7318D4FA-4CB3-C59B-CB2B-F8078D9A436D}"/>
              </a:ext>
            </a:extLst>
          </p:cNvPr>
          <p:cNvSpPr/>
          <p:nvPr/>
        </p:nvSpPr>
        <p:spPr>
          <a:xfrm>
            <a:off x="5114925" y="2800350"/>
            <a:ext cx="200025" cy="942975"/>
          </a:xfrm>
          <a:custGeom>
            <a:avLst/>
            <a:gdLst/>
            <a:ahLst/>
            <a:cxnLst/>
            <a:rect l="l" t="t" r="r" b="b"/>
            <a:pathLst>
              <a:path w="200025" h="942975">
                <a:moveTo>
                  <a:pt x="0" y="0"/>
                </a:moveTo>
                <a:lnTo>
                  <a:pt x="200025" y="0"/>
                </a:lnTo>
                <a:lnTo>
                  <a:pt x="200025" y="942975"/>
                </a:lnTo>
                <a:lnTo>
                  <a:pt x="0" y="942975"/>
                </a:lnTo>
                <a:lnTo>
                  <a:pt x="0" y="0"/>
                </a:lnTo>
                <a:close/>
              </a:path>
            </a:pathLst>
          </a:custGeom>
          <a:blipFill>
            <a:blip r:embed="rId12"/>
            <a:stretch>
              <a:fillRect/>
            </a:stretch>
          </a:blipFill>
        </p:spPr>
      </p:sp>
      <p:sp>
        <p:nvSpPr>
          <p:cNvPr id="18" name="Freeform 18">
            <a:extLst>
              <a:ext uri="{FF2B5EF4-FFF2-40B4-BE49-F238E27FC236}">
                <a16:creationId xmlns:a16="http://schemas.microsoft.com/office/drawing/2014/main" id="{3C2ECCD1-10F4-0462-8290-803F08DF173D}"/>
              </a:ext>
            </a:extLst>
          </p:cNvPr>
          <p:cNvSpPr/>
          <p:nvPr/>
        </p:nvSpPr>
        <p:spPr>
          <a:xfrm>
            <a:off x="5686425" y="2800350"/>
            <a:ext cx="571500" cy="752475"/>
          </a:xfrm>
          <a:custGeom>
            <a:avLst/>
            <a:gdLst/>
            <a:ahLst/>
            <a:cxnLst/>
            <a:rect l="l" t="t" r="r" b="b"/>
            <a:pathLst>
              <a:path w="571500" h="752475">
                <a:moveTo>
                  <a:pt x="0" y="0"/>
                </a:moveTo>
                <a:lnTo>
                  <a:pt x="571500" y="0"/>
                </a:lnTo>
                <a:lnTo>
                  <a:pt x="571500" y="752475"/>
                </a:lnTo>
                <a:lnTo>
                  <a:pt x="0" y="752475"/>
                </a:lnTo>
                <a:lnTo>
                  <a:pt x="0" y="0"/>
                </a:lnTo>
                <a:close/>
              </a:path>
            </a:pathLst>
          </a:custGeom>
          <a:blipFill>
            <a:blip r:embed="rId13"/>
            <a:stretch>
              <a:fillRect/>
            </a:stretch>
          </a:blipFill>
        </p:spPr>
      </p:sp>
      <p:sp>
        <p:nvSpPr>
          <p:cNvPr id="19" name="TextBox 19">
            <a:extLst>
              <a:ext uri="{FF2B5EF4-FFF2-40B4-BE49-F238E27FC236}">
                <a16:creationId xmlns:a16="http://schemas.microsoft.com/office/drawing/2014/main" id="{B013DCBD-5817-5AF9-3970-80D4528AF304}"/>
              </a:ext>
            </a:extLst>
          </p:cNvPr>
          <p:cNvSpPr txBox="1"/>
          <p:nvPr/>
        </p:nvSpPr>
        <p:spPr>
          <a:xfrm>
            <a:off x="5685511" y="3401439"/>
            <a:ext cx="637032" cy="282129"/>
          </a:xfrm>
          <a:prstGeom prst="rect">
            <a:avLst/>
          </a:prstGeom>
        </p:spPr>
        <p:txBody>
          <a:bodyPr lIns="0" tIns="0" rIns="0" bIns="0" rtlCol="0" anchor="t">
            <a:spAutoFit/>
          </a:bodyPr>
          <a:lstStyle/>
          <a:p>
            <a:pPr algn="ctr">
              <a:lnSpc>
                <a:spcPts val="1145"/>
              </a:lnSpc>
            </a:pPr>
            <a:r>
              <a:rPr lang="en-US" sz="1000" b="1">
                <a:solidFill>
                  <a:srgbClr val="001C58"/>
                </a:solidFill>
                <a:latin typeface="Arial Narrow" panose="020B0606020202030204" pitchFamily="34" charset="0"/>
                <a:ea typeface="Roboto"/>
                <a:cs typeface="Roboto"/>
                <a:sym typeface="Roboto"/>
              </a:rPr>
              <a:t>Proven Technology</a:t>
            </a:r>
          </a:p>
        </p:txBody>
      </p:sp>
      <p:sp>
        <p:nvSpPr>
          <p:cNvPr id="20" name="Freeform 20">
            <a:extLst>
              <a:ext uri="{FF2B5EF4-FFF2-40B4-BE49-F238E27FC236}">
                <a16:creationId xmlns:a16="http://schemas.microsoft.com/office/drawing/2014/main" id="{CD02C2BB-51F0-2CEE-F2A4-4B0682DF4513}"/>
              </a:ext>
            </a:extLst>
          </p:cNvPr>
          <p:cNvSpPr/>
          <p:nvPr/>
        </p:nvSpPr>
        <p:spPr>
          <a:xfrm>
            <a:off x="561975" y="3733800"/>
            <a:ext cx="6267450" cy="1123950"/>
          </a:xfrm>
          <a:custGeom>
            <a:avLst/>
            <a:gdLst/>
            <a:ahLst/>
            <a:cxnLst/>
            <a:rect l="l" t="t" r="r" b="b"/>
            <a:pathLst>
              <a:path w="6267450" h="1123950">
                <a:moveTo>
                  <a:pt x="0" y="0"/>
                </a:moveTo>
                <a:lnTo>
                  <a:pt x="6267450" y="0"/>
                </a:lnTo>
                <a:lnTo>
                  <a:pt x="6267450" y="1123950"/>
                </a:lnTo>
                <a:lnTo>
                  <a:pt x="0" y="1123950"/>
                </a:lnTo>
                <a:lnTo>
                  <a:pt x="0" y="0"/>
                </a:lnTo>
                <a:close/>
              </a:path>
            </a:pathLst>
          </a:custGeom>
          <a:blipFill>
            <a:blip r:embed="rId14"/>
            <a:stretch>
              <a:fillRect/>
            </a:stretch>
          </a:blipFill>
        </p:spPr>
      </p:sp>
      <p:sp>
        <p:nvSpPr>
          <p:cNvPr id="21" name="Freeform 21">
            <a:extLst>
              <a:ext uri="{FF2B5EF4-FFF2-40B4-BE49-F238E27FC236}">
                <a16:creationId xmlns:a16="http://schemas.microsoft.com/office/drawing/2014/main" id="{35D75E1C-A6F4-DDF1-8AFC-2F4BBD460C98}"/>
              </a:ext>
            </a:extLst>
          </p:cNvPr>
          <p:cNvSpPr/>
          <p:nvPr/>
        </p:nvSpPr>
        <p:spPr>
          <a:xfrm>
            <a:off x="752475" y="3733800"/>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15"/>
            <a:stretch>
              <a:fillRect/>
            </a:stretch>
          </a:blipFill>
        </p:spPr>
      </p:sp>
      <p:sp>
        <p:nvSpPr>
          <p:cNvPr id="22" name="TextBox 22">
            <a:extLst>
              <a:ext uri="{FF2B5EF4-FFF2-40B4-BE49-F238E27FC236}">
                <a16:creationId xmlns:a16="http://schemas.microsoft.com/office/drawing/2014/main" id="{F2FF1337-AEEB-FB21-B685-DB441CA0F365}"/>
              </a:ext>
            </a:extLst>
          </p:cNvPr>
          <p:cNvSpPr txBox="1"/>
          <p:nvPr/>
        </p:nvSpPr>
        <p:spPr>
          <a:xfrm>
            <a:off x="1783690" y="4231207"/>
            <a:ext cx="2643683" cy="538609"/>
          </a:xfrm>
          <a:prstGeom prst="rect">
            <a:avLst/>
          </a:prstGeom>
        </p:spPr>
        <p:txBody>
          <a:bodyPr lIns="0" tIns="0" rIns="0" bIns="0" rtlCol="0" anchor="t">
            <a:spAutoFit/>
          </a:bodyPr>
          <a:lstStyle/>
          <a:p>
            <a:pPr algn="l">
              <a:lnSpc>
                <a:spcPts val="1435"/>
              </a:lnSpc>
            </a:pPr>
            <a:r>
              <a:rPr lang="en-US" sz="1200" b="1" dirty="0">
                <a:solidFill>
                  <a:srgbClr val="001C58"/>
                </a:solidFill>
                <a:latin typeface="Arial Narrow" panose="020B0606020202030204" pitchFamily="34" charset="0"/>
                <a:ea typeface="Roboto"/>
                <a:cs typeface="Roboto"/>
                <a:sym typeface="Roboto"/>
              </a:rPr>
              <a:t>Simple to use and maintain. Minimal training required for caregivers and healthcare staff.</a:t>
            </a:r>
          </a:p>
        </p:txBody>
      </p:sp>
      <p:sp>
        <p:nvSpPr>
          <p:cNvPr id="23" name="Freeform 23">
            <a:extLst>
              <a:ext uri="{FF2B5EF4-FFF2-40B4-BE49-F238E27FC236}">
                <a16:creationId xmlns:a16="http://schemas.microsoft.com/office/drawing/2014/main" id="{8058A162-F92F-9F61-BD64-0C567BC9F991}"/>
              </a:ext>
            </a:extLst>
          </p:cNvPr>
          <p:cNvSpPr/>
          <p:nvPr/>
        </p:nvSpPr>
        <p:spPr>
          <a:xfrm>
            <a:off x="5114925" y="3914775"/>
            <a:ext cx="200025" cy="762000"/>
          </a:xfrm>
          <a:custGeom>
            <a:avLst/>
            <a:gdLst/>
            <a:ahLst/>
            <a:cxnLst/>
            <a:rect l="l" t="t" r="r" b="b"/>
            <a:pathLst>
              <a:path w="200025" h="762000">
                <a:moveTo>
                  <a:pt x="0" y="0"/>
                </a:moveTo>
                <a:lnTo>
                  <a:pt x="200025" y="0"/>
                </a:lnTo>
                <a:lnTo>
                  <a:pt x="200025" y="762000"/>
                </a:lnTo>
                <a:lnTo>
                  <a:pt x="0" y="762000"/>
                </a:lnTo>
                <a:lnTo>
                  <a:pt x="0" y="0"/>
                </a:lnTo>
                <a:close/>
              </a:path>
            </a:pathLst>
          </a:custGeom>
          <a:blipFill>
            <a:blip r:embed="rId16"/>
            <a:stretch>
              <a:fillRect/>
            </a:stretch>
          </a:blipFill>
        </p:spPr>
      </p:sp>
      <p:sp>
        <p:nvSpPr>
          <p:cNvPr id="24" name="Freeform 24">
            <a:extLst>
              <a:ext uri="{FF2B5EF4-FFF2-40B4-BE49-F238E27FC236}">
                <a16:creationId xmlns:a16="http://schemas.microsoft.com/office/drawing/2014/main" id="{88336914-2A9D-5BF3-1E49-C772A2BE8654}"/>
              </a:ext>
            </a:extLst>
          </p:cNvPr>
          <p:cNvSpPr/>
          <p:nvPr/>
        </p:nvSpPr>
        <p:spPr>
          <a:xfrm>
            <a:off x="5686425" y="391477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17"/>
            <a:stretch>
              <a:fillRect/>
            </a:stretch>
          </a:blipFill>
        </p:spPr>
      </p:sp>
      <p:sp>
        <p:nvSpPr>
          <p:cNvPr id="25" name="Freeform 25">
            <a:extLst>
              <a:ext uri="{FF2B5EF4-FFF2-40B4-BE49-F238E27FC236}">
                <a16:creationId xmlns:a16="http://schemas.microsoft.com/office/drawing/2014/main" id="{E989FA17-D2B1-9C37-CB5C-43789B858655}"/>
              </a:ext>
            </a:extLst>
          </p:cNvPr>
          <p:cNvSpPr/>
          <p:nvPr/>
        </p:nvSpPr>
        <p:spPr>
          <a:xfrm>
            <a:off x="561975" y="4667250"/>
            <a:ext cx="6267450" cy="1314450"/>
          </a:xfrm>
          <a:custGeom>
            <a:avLst/>
            <a:gdLst/>
            <a:ahLst/>
            <a:cxnLst/>
            <a:rect l="l" t="t" r="r" b="b"/>
            <a:pathLst>
              <a:path w="6267450" h="1314450">
                <a:moveTo>
                  <a:pt x="0" y="0"/>
                </a:moveTo>
                <a:lnTo>
                  <a:pt x="6267450" y="0"/>
                </a:lnTo>
                <a:lnTo>
                  <a:pt x="6267450" y="1314450"/>
                </a:lnTo>
                <a:lnTo>
                  <a:pt x="0" y="1314450"/>
                </a:lnTo>
                <a:lnTo>
                  <a:pt x="0" y="0"/>
                </a:lnTo>
                <a:close/>
              </a:path>
            </a:pathLst>
          </a:custGeom>
          <a:blipFill>
            <a:blip r:embed="rId18"/>
            <a:stretch>
              <a:fillRect/>
            </a:stretch>
          </a:blipFill>
        </p:spPr>
      </p:sp>
      <p:sp>
        <p:nvSpPr>
          <p:cNvPr id="26" name="Freeform 26">
            <a:extLst>
              <a:ext uri="{FF2B5EF4-FFF2-40B4-BE49-F238E27FC236}">
                <a16:creationId xmlns:a16="http://schemas.microsoft.com/office/drawing/2014/main" id="{FEC311A6-F3D5-5973-5958-AD546C6F5F29}"/>
              </a:ext>
            </a:extLst>
          </p:cNvPr>
          <p:cNvSpPr/>
          <p:nvPr/>
        </p:nvSpPr>
        <p:spPr>
          <a:xfrm>
            <a:off x="752475" y="4848225"/>
            <a:ext cx="771525" cy="762000"/>
          </a:xfrm>
          <a:custGeom>
            <a:avLst/>
            <a:gdLst/>
            <a:ahLst/>
            <a:cxnLst/>
            <a:rect l="l" t="t" r="r" b="b"/>
            <a:pathLst>
              <a:path w="771525" h="762000">
                <a:moveTo>
                  <a:pt x="0" y="0"/>
                </a:moveTo>
                <a:lnTo>
                  <a:pt x="771525" y="0"/>
                </a:lnTo>
                <a:lnTo>
                  <a:pt x="771525" y="762000"/>
                </a:lnTo>
                <a:lnTo>
                  <a:pt x="0" y="762000"/>
                </a:lnTo>
                <a:lnTo>
                  <a:pt x="0" y="0"/>
                </a:lnTo>
                <a:close/>
              </a:path>
            </a:pathLst>
          </a:custGeom>
          <a:blipFill>
            <a:blip r:embed="rId19"/>
            <a:stretch>
              <a:fillRect/>
            </a:stretch>
          </a:blipFill>
        </p:spPr>
      </p:sp>
      <p:sp>
        <p:nvSpPr>
          <p:cNvPr id="27" name="TextBox 27">
            <a:extLst>
              <a:ext uri="{FF2B5EF4-FFF2-40B4-BE49-F238E27FC236}">
                <a16:creationId xmlns:a16="http://schemas.microsoft.com/office/drawing/2014/main" id="{C8C3B03F-9008-62C9-8A5D-2949485ED286}"/>
              </a:ext>
            </a:extLst>
          </p:cNvPr>
          <p:cNvSpPr txBox="1"/>
          <p:nvPr/>
        </p:nvSpPr>
        <p:spPr>
          <a:xfrm>
            <a:off x="1783689" y="5062970"/>
            <a:ext cx="3101263" cy="205184"/>
          </a:xfrm>
          <a:prstGeom prst="rect">
            <a:avLst/>
          </a:prstGeom>
        </p:spPr>
        <p:txBody>
          <a:bodyPr wrap="square" lIns="0" tIns="0" rIns="0" bIns="0" rtlCol="0" anchor="t">
            <a:spAutoFit/>
          </a:bodyPr>
          <a:lstStyle/>
          <a:p>
            <a:pPr algn="l">
              <a:lnSpc>
                <a:spcPts val="1570"/>
              </a:lnSpc>
            </a:pPr>
            <a:r>
              <a:rPr lang="en-US" sz="1400" b="1" dirty="0">
                <a:solidFill>
                  <a:srgbClr val="004AAD"/>
                </a:solidFill>
                <a:latin typeface="Arial Narrow" panose="020B0606020202030204" pitchFamily="34" charset="0"/>
                <a:ea typeface="Roboto Bold"/>
                <a:cs typeface="Roboto Bold"/>
                <a:sym typeface="Roboto Bold"/>
              </a:rPr>
              <a:t>ECONOMIC FEASIBILITY</a:t>
            </a:r>
          </a:p>
        </p:txBody>
      </p:sp>
      <p:sp>
        <p:nvSpPr>
          <p:cNvPr id="28" name="TextBox 28">
            <a:extLst>
              <a:ext uri="{FF2B5EF4-FFF2-40B4-BE49-F238E27FC236}">
                <a16:creationId xmlns:a16="http://schemas.microsoft.com/office/drawing/2014/main" id="{4B7C41AB-157E-38E7-65F6-91AA2BAE88E7}"/>
              </a:ext>
            </a:extLst>
          </p:cNvPr>
          <p:cNvSpPr txBox="1"/>
          <p:nvPr/>
        </p:nvSpPr>
        <p:spPr>
          <a:xfrm>
            <a:off x="1783690" y="5244029"/>
            <a:ext cx="2962199" cy="538609"/>
          </a:xfrm>
          <a:prstGeom prst="rect">
            <a:avLst/>
          </a:prstGeom>
        </p:spPr>
        <p:txBody>
          <a:bodyPr lIns="0" tIns="0" rIns="0" bIns="0" rtlCol="0" anchor="t">
            <a:spAutoFit/>
          </a:bodyPr>
          <a:lstStyle/>
          <a:p>
            <a:pPr algn="l">
              <a:lnSpc>
                <a:spcPts val="1435"/>
              </a:lnSpc>
            </a:pPr>
            <a:r>
              <a:rPr lang="en-US" sz="1200" b="1" dirty="0">
                <a:solidFill>
                  <a:srgbClr val="001C58"/>
                </a:solidFill>
                <a:latin typeface="Arial Narrow" panose="020B0606020202030204" pitchFamily="34" charset="0"/>
                <a:ea typeface="Roboto"/>
                <a:cs typeface="Roboto"/>
                <a:sym typeface="Roboto"/>
              </a:rPr>
              <a:t>Low-cost components and open-source platforms make the system affordable and cost-effective.</a:t>
            </a:r>
          </a:p>
        </p:txBody>
      </p:sp>
      <p:sp>
        <p:nvSpPr>
          <p:cNvPr id="29" name="Freeform 29">
            <a:extLst>
              <a:ext uri="{FF2B5EF4-FFF2-40B4-BE49-F238E27FC236}">
                <a16:creationId xmlns:a16="http://schemas.microsoft.com/office/drawing/2014/main" id="{7C3C10EE-4D3C-81E5-D0AC-1C5AF66DB14C}"/>
              </a:ext>
            </a:extLst>
          </p:cNvPr>
          <p:cNvSpPr/>
          <p:nvPr/>
        </p:nvSpPr>
        <p:spPr>
          <a:xfrm>
            <a:off x="5114925" y="4848225"/>
            <a:ext cx="200025" cy="942975"/>
          </a:xfrm>
          <a:custGeom>
            <a:avLst/>
            <a:gdLst/>
            <a:ahLst/>
            <a:cxnLst/>
            <a:rect l="l" t="t" r="r" b="b"/>
            <a:pathLst>
              <a:path w="200025" h="942975">
                <a:moveTo>
                  <a:pt x="0" y="0"/>
                </a:moveTo>
                <a:lnTo>
                  <a:pt x="200025" y="0"/>
                </a:lnTo>
                <a:lnTo>
                  <a:pt x="200025" y="942975"/>
                </a:lnTo>
                <a:lnTo>
                  <a:pt x="0" y="942975"/>
                </a:lnTo>
                <a:lnTo>
                  <a:pt x="0" y="0"/>
                </a:lnTo>
                <a:close/>
              </a:path>
            </a:pathLst>
          </a:custGeom>
          <a:blipFill>
            <a:blip r:embed="rId20"/>
            <a:stretch>
              <a:fillRect/>
            </a:stretch>
          </a:blipFill>
        </p:spPr>
      </p:sp>
      <p:sp>
        <p:nvSpPr>
          <p:cNvPr id="30" name="Freeform 30">
            <a:extLst>
              <a:ext uri="{FF2B5EF4-FFF2-40B4-BE49-F238E27FC236}">
                <a16:creationId xmlns:a16="http://schemas.microsoft.com/office/drawing/2014/main" id="{FFDA93AF-05A4-013A-065D-819C7EF74063}"/>
              </a:ext>
            </a:extLst>
          </p:cNvPr>
          <p:cNvSpPr/>
          <p:nvPr/>
        </p:nvSpPr>
        <p:spPr>
          <a:xfrm>
            <a:off x="5686425" y="484822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21"/>
            <a:stretch>
              <a:fillRect/>
            </a:stretch>
          </a:blipFill>
        </p:spPr>
      </p:sp>
      <p:sp>
        <p:nvSpPr>
          <p:cNvPr id="31" name="TextBox 31">
            <a:extLst>
              <a:ext uri="{FF2B5EF4-FFF2-40B4-BE49-F238E27FC236}">
                <a16:creationId xmlns:a16="http://schemas.microsoft.com/office/drawing/2014/main" id="{B774D89C-DADD-2C21-1197-3866C349FE79}"/>
              </a:ext>
            </a:extLst>
          </p:cNvPr>
          <p:cNvSpPr txBox="1"/>
          <p:nvPr/>
        </p:nvSpPr>
        <p:spPr>
          <a:xfrm>
            <a:off x="5605882" y="5472460"/>
            <a:ext cx="812216" cy="307777"/>
          </a:xfrm>
          <a:prstGeom prst="rect">
            <a:avLst/>
          </a:prstGeom>
        </p:spPr>
        <p:txBody>
          <a:bodyPr lIns="0" tIns="0" rIns="0" bIns="0" rtlCol="0" anchor="t">
            <a:spAutoFit/>
          </a:bodyPr>
          <a:lstStyle/>
          <a:p>
            <a:pPr algn="ctr">
              <a:lnSpc>
                <a:spcPts val="1187"/>
              </a:lnSpc>
            </a:pPr>
            <a:r>
              <a:rPr lang="en-US" sz="1000" b="1">
                <a:solidFill>
                  <a:srgbClr val="001C58"/>
                </a:solidFill>
                <a:latin typeface="Arial Narrow" panose="020B0606020202030204" pitchFamily="34" charset="0"/>
                <a:ea typeface="Roboto"/>
                <a:cs typeface="Roboto"/>
                <a:sym typeface="Roboto"/>
              </a:rPr>
              <a:t>Affordable &amp; Cost-Effective</a:t>
            </a:r>
          </a:p>
        </p:txBody>
      </p:sp>
      <p:sp>
        <p:nvSpPr>
          <p:cNvPr id="32" name="Freeform 32">
            <a:extLst>
              <a:ext uri="{FF2B5EF4-FFF2-40B4-BE49-F238E27FC236}">
                <a16:creationId xmlns:a16="http://schemas.microsoft.com/office/drawing/2014/main" id="{20B300EA-55E0-408C-D308-BDDB60D13DE4}"/>
              </a:ext>
            </a:extLst>
          </p:cNvPr>
          <p:cNvSpPr/>
          <p:nvPr/>
        </p:nvSpPr>
        <p:spPr>
          <a:xfrm>
            <a:off x="561975" y="5781675"/>
            <a:ext cx="6267450" cy="1133475"/>
          </a:xfrm>
          <a:custGeom>
            <a:avLst/>
            <a:gdLst/>
            <a:ahLst/>
            <a:cxnLst/>
            <a:rect l="l" t="t" r="r" b="b"/>
            <a:pathLst>
              <a:path w="6267450" h="1133475">
                <a:moveTo>
                  <a:pt x="0" y="0"/>
                </a:moveTo>
                <a:lnTo>
                  <a:pt x="6267450" y="0"/>
                </a:lnTo>
                <a:lnTo>
                  <a:pt x="6267450" y="1133475"/>
                </a:lnTo>
                <a:lnTo>
                  <a:pt x="0" y="1133475"/>
                </a:lnTo>
                <a:lnTo>
                  <a:pt x="0" y="0"/>
                </a:lnTo>
                <a:close/>
              </a:path>
            </a:pathLst>
          </a:custGeom>
          <a:blipFill>
            <a:blip r:embed="rId22"/>
            <a:stretch>
              <a:fillRect/>
            </a:stretch>
          </a:blipFill>
        </p:spPr>
      </p:sp>
      <p:sp>
        <p:nvSpPr>
          <p:cNvPr id="33" name="Freeform 33">
            <a:extLst>
              <a:ext uri="{FF2B5EF4-FFF2-40B4-BE49-F238E27FC236}">
                <a16:creationId xmlns:a16="http://schemas.microsoft.com/office/drawing/2014/main" id="{C586B6D8-A08A-C21E-9497-D779FC1BB8D2}"/>
              </a:ext>
            </a:extLst>
          </p:cNvPr>
          <p:cNvSpPr/>
          <p:nvPr/>
        </p:nvSpPr>
        <p:spPr>
          <a:xfrm>
            <a:off x="752475" y="578167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23"/>
            <a:stretch>
              <a:fillRect/>
            </a:stretch>
          </a:blipFill>
        </p:spPr>
      </p:sp>
      <p:sp>
        <p:nvSpPr>
          <p:cNvPr id="34" name="TextBox 34">
            <a:extLst>
              <a:ext uri="{FF2B5EF4-FFF2-40B4-BE49-F238E27FC236}">
                <a16:creationId xmlns:a16="http://schemas.microsoft.com/office/drawing/2014/main" id="{20159179-E000-E3C1-8390-79F632F28F63}"/>
              </a:ext>
            </a:extLst>
          </p:cNvPr>
          <p:cNvSpPr txBox="1"/>
          <p:nvPr/>
        </p:nvSpPr>
        <p:spPr>
          <a:xfrm>
            <a:off x="1783690" y="6265814"/>
            <a:ext cx="2834792" cy="538609"/>
          </a:xfrm>
          <a:prstGeom prst="rect">
            <a:avLst/>
          </a:prstGeom>
        </p:spPr>
        <p:txBody>
          <a:bodyPr lIns="0" tIns="0" rIns="0" bIns="0" rtlCol="0" anchor="t">
            <a:spAutoFit/>
          </a:bodyPr>
          <a:lstStyle/>
          <a:p>
            <a:pPr algn="l">
              <a:lnSpc>
                <a:spcPts val="1435"/>
              </a:lnSpc>
            </a:pPr>
            <a:r>
              <a:rPr lang="en-US" sz="1200" b="1" dirty="0">
                <a:solidFill>
                  <a:srgbClr val="001C58"/>
                </a:solidFill>
                <a:latin typeface="Arial Narrow" panose="020B0606020202030204" pitchFamily="34" charset="0"/>
                <a:ea typeface="Roboto"/>
                <a:cs typeface="Roboto"/>
                <a:sym typeface="Roboto"/>
              </a:rPr>
              <a:t>Complies with data privacy best practices. Secure transmission and storage of patient data.</a:t>
            </a:r>
          </a:p>
        </p:txBody>
      </p:sp>
      <p:sp>
        <p:nvSpPr>
          <p:cNvPr id="35" name="Freeform 35">
            <a:extLst>
              <a:ext uri="{FF2B5EF4-FFF2-40B4-BE49-F238E27FC236}">
                <a16:creationId xmlns:a16="http://schemas.microsoft.com/office/drawing/2014/main" id="{311B4060-B9F3-973B-F9E5-BD8AE3B4DF90}"/>
              </a:ext>
            </a:extLst>
          </p:cNvPr>
          <p:cNvSpPr/>
          <p:nvPr/>
        </p:nvSpPr>
        <p:spPr>
          <a:xfrm>
            <a:off x="5114925" y="5972175"/>
            <a:ext cx="200025" cy="752475"/>
          </a:xfrm>
          <a:custGeom>
            <a:avLst/>
            <a:gdLst/>
            <a:ahLst/>
            <a:cxnLst/>
            <a:rect l="l" t="t" r="r" b="b"/>
            <a:pathLst>
              <a:path w="200025" h="752475">
                <a:moveTo>
                  <a:pt x="0" y="0"/>
                </a:moveTo>
                <a:lnTo>
                  <a:pt x="200025" y="0"/>
                </a:lnTo>
                <a:lnTo>
                  <a:pt x="200025" y="752475"/>
                </a:lnTo>
                <a:lnTo>
                  <a:pt x="0" y="752475"/>
                </a:lnTo>
                <a:lnTo>
                  <a:pt x="0" y="0"/>
                </a:lnTo>
                <a:close/>
              </a:path>
            </a:pathLst>
          </a:custGeom>
          <a:blipFill>
            <a:blip r:embed="rId24"/>
            <a:stretch>
              <a:fillRect/>
            </a:stretch>
          </a:blipFill>
        </p:spPr>
      </p:sp>
      <p:sp>
        <p:nvSpPr>
          <p:cNvPr id="36" name="Freeform 36">
            <a:extLst>
              <a:ext uri="{FF2B5EF4-FFF2-40B4-BE49-F238E27FC236}">
                <a16:creationId xmlns:a16="http://schemas.microsoft.com/office/drawing/2014/main" id="{DE19FCFF-83F3-2855-F567-E66BA3C5B4B1}"/>
              </a:ext>
            </a:extLst>
          </p:cNvPr>
          <p:cNvSpPr/>
          <p:nvPr/>
        </p:nvSpPr>
        <p:spPr>
          <a:xfrm>
            <a:off x="5686425" y="5972175"/>
            <a:ext cx="571500" cy="571500"/>
          </a:xfrm>
          <a:custGeom>
            <a:avLst/>
            <a:gdLst/>
            <a:ahLst/>
            <a:cxnLst/>
            <a:rect l="l" t="t" r="r" b="b"/>
            <a:pathLst>
              <a:path w="571500" h="571500">
                <a:moveTo>
                  <a:pt x="0" y="0"/>
                </a:moveTo>
                <a:lnTo>
                  <a:pt x="571500" y="0"/>
                </a:lnTo>
                <a:lnTo>
                  <a:pt x="571500" y="571500"/>
                </a:lnTo>
                <a:lnTo>
                  <a:pt x="0" y="571500"/>
                </a:lnTo>
                <a:lnTo>
                  <a:pt x="0" y="0"/>
                </a:lnTo>
                <a:close/>
              </a:path>
            </a:pathLst>
          </a:custGeom>
          <a:blipFill>
            <a:blip r:embed="rId25"/>
            <a:stretch>
              <a:fillRect/>
            </a:stretch>
          </a:blipFill>
        </p:spPr>
      </p:sp>
      <p:sp>
        <p:nvSpPr>
          <p:cNvPr id="37" name="Freeform 37">
            <a:extLst>
              <a:ext uri="{FF2B5EF4-FFF2-40B4-BE49-F238E27FC236}">
                <a16:creationId xmlns:a16="http://schemas.microsoft.com/office/drawing/2014/main" id="{EB0C4652-B696-5695-7ED5-EB5CC226556E}"/>
              </a:ext>
            </a:extLst>
          </p:cNvPr>
          <p:cNvSpPr/>
          <p:nvPr/>
        </p:nvSpPr>
        <p:spPr>
          <a:xfrm>
            <a:off x="561975" y="6715125"/>
            <a:ext cx="6267450" cy="1133475"/>
          </a:xfrm>
          <a:custGeom>
            <a:avLst/>
            <a:gdLst/>
            <a:ahLst/>
            <a:cxnLst/>
            <a:rect l="l" t="t" r="r" b="b"/>
            <a:pathLst>
              <a:path w="6267450" h="1133475">
                <a:moveTo>
                  <a:pt x="0" y="0"/>
                </a:moveTo>
                <a:lnTo>
                  <a:pt x="6267450" y="0"/>
                </a:lnTo>
                <a:lnTo>
                  <a:pt x="6267450" y="1133475"/>
                </a:lnTo>
                <a:lnTo>
                  <a:pt x="0" y="1133475"/>
                </a:lnTo>
                <a:lnTo>
                  <a:pt x="0" y="0"/>
                </a:lnTo>
                <a:close/>
              </a:path>
            </a:pathLst>
          </a:custGeom>
          <a:blipFill>
            <a:blip r:embed="rId26"/>
            <a:stretch>
              <a:fillRect/>
            </a:stretch>
          </a:blipFill>
        </p:spPr>
      </p:sp>
      <p:sp>
        <p:nvSpPr>
          <p:cNvPr id="38" name="Freeform 38">
            <a:extLst>
              <a:ext uri="{FF2B5EF4-FFF2-40B4-BE49-F238E27FC236}">
                <a16:creationId xmlns:a16="http://schemas.microsoft.com/office/drawing/2014/main" id="{2C9D731B-B632-6849-E655-A9CA21650B0F}"/>
              </a:ext>
            </a:extLst>
          </p:cNvPr>
          <p:cNvSpPr/>
          <p:nvPr/>
        </p:nvSpPr>
        <p:spPr>
          <a:xfrm>
            <a:off x="752475" y="671512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27"/>
            <a:stretch>
              <a:fillRect/>
            </a:stretch>
          </a:blipFill>
        </p:spPr>
      </p:sp>
      <p:sp>
        <p:nvSpPr>
          <p:cNvPr id="39" name="TextBox 39">
            <a:extLst>
              <a:ext uri="{FF2B5EF4-FFF2-40B4-BE49-F238E27FC236}">
                <a16:creationId xmlns:a16="http://schemas.microsoft.com/office/drawing/2014/main" id="{A4147351-7EDC-37BC-2E4E-6811981757B5}"/>
              </a:ext>
            </a:extLst>
          </p:cNvPr>
          <p:cNvSpPr txBox="1"/>
          <p:nvPr/>
        </p:nvSpPr>
        <p:spPr>
          <a:xfrm>
            <a:off x="1783690" y="7225307"/>
            <a:ext cx="2866644" cy="370935"/>
          </a:xfrm>
          <a:prstGeom prst="rect">
            <a:avLst/>
          </a:prstGeom>
        </p:spPr>
        <p:txBody>
          <a:bodyPr lIns="0" tIns="0" rIns="0" bIns="0" rtlCol="0" anchor="t">
            <a:spAutoFit/>
          </a:bodyPr>
          <a:lstStyle/>
          <a:p>
            <a:pPr algn="l">
              <a:lnSpc>
                <a:spcPts val="1485"/>
              </a:lnSpc>
            </a:pPr>
            <a:r>
              <a:rPr lang="en-US" sz="1200" b="1" dirty="0">
                <a:solidFill>
                  <a:srgbClr val="001C58"/>
                </a:solidFill>
                <a:latin typeface="Arial Narrow" panose="020B0606020202030204" pitchFamily="34" charset="0"/>
                <a:ea typeface="Roboto"/>
                <a:cs typeface="Roboto"/>
                <a:sym typeface="Roboto"/>
              </a:rPr>
              <a:t>Cloud-based architecture allows easy scaling to monitor multiple patients simultaneously.</a:t>
            </a:r>
          </a:p>
        </p:txBody>
      </p:sp>
      <p:sp>
        <p:nvSpPr>
          <p:cNvPr id="40" name="Freeform 40">
            <a:extLst>
              <a:ext uri="{FF2B5EF4-FFF2-40B4-BE49-F238E27FC236}">
                <a16:creationId xmlns:a16="http://schemas.microsoft.com/office/drawing/2014/main" id="{4B23E76A-174B-6BE7-F43B-3CAAA9B6F87C}"/>
              </a:ext>
            </a:extLst>
          </p:cNvPr>
          <p:cNvSpPr/>
          <p:nvPr/>
        </p:nvSpPr>
        <p:spPr>
          <a:xfrm>
            <a:off x="5114925" y="6905625"/>
            <a:ext cx="200025" cy="752475"/>
          </a:xfrm>
          <a:custGeom>
            <a:avLst/>
            <a:gdLst/>
            <a:ahLst/>
            <a:cxnLst/>
            <a:rect l="l" t="t" r="r" b="b"/>
            <a:pathLst>
              <a:path w="200025" h="752475">
                <a:moveTo>
                  <a:pt x="0" y="0"/>
                </a:moveTo>
                <a:lnTo>
                  <a:pt x="200025" y="0"/>
                </a:lnTo>
                <a:lnTo>
                  <a:pt x="200025" y="752475"/>
                </a:lnTo>
                <a:lnTo>
                  <a:pt x="0" y="752475"/>
                </a:lnTo>
                <a:lnTo>
                  <a:pt x="0" y="0"/>
                </a:lnTo>
                <a:close/>
              </a:path>
            </a:pathLst>
          </a:custGeom>
          <a:blipFill>
            <a:blip r:embed="rId28"/>
            <a:stretch>
              <a:fillRect/>
            </a:stretch>
          </a:blipFill>
        </p:spPr>
      </p:sp>
      <p:sp>
        <p:nvSpPr>
          <p:cNvPr id="41" name="Freeform 41">
            <a:extLst>
              <a:ext uri="{FF2B5EF4-FFF2-40B4-BE49-F238E27FC236}">
                <a16:creationId xmlns:a16="http://schemas.microsoft.com/office/drawing/2014/main" id="{804CAA10-00FF-8A8C-D3D5-98906240CF52}"/>
              </a:ext>
            </a:extLst>
          </p:cNvPr>
          <p:cNvSpPr/>
          <p:nvPr/>
        </p:nvSpPr>
        <p:spPr>
          <a:xfrm>
            <a:off x="5686425" y="6905625"/>
            <a:ext cx="762000" cy="571500"/>
          </a:xfrm>
          <a:custGeom>
            <a:avLst/>
            <a:gdLst/>
            <a:ahLst/>
            <a:cxnLst/>
            <a:rect l="l" t="t" r="r" b="b"/>
            <a:pathLst>
              <a:path w="762000" h="571500">
                <a:moveTo>
                  <a:pt x="0" y="0"/>
                </a:moveTo>
                <a:lnTo>
                  <a:pt x="762000" y="0"/>
                </a:lnTo>
                <a:lnTo>
                  <a:pt x="762000" y="571500"/>
                </a:lnTo>
                <a:lnTo>
                  <a:pt x="0" y="571500"/>
                </a:lnTo>
                <a:lnTo>
                  <a:pt x="0" y="0"/>
                </a:lnTo>
                <a:close/>
              </a:path>
            </a:pathLst>
          </a:custGeom>
          <a:blipFill>
            <a:blip r:embed="rId29"/>
            <a:stretch>
              <a:fillRect/>
            </a:stretch>
          </a:blipFill>
        </p:spPr>
      </p:sp>
      <p:sp>
        <p:nvSpPr>
          <p:cNvPr id="42" name="Freeform 42">
            <a:extLst>
              <a:ext uri="{FF2B5EF4-FFF2-40B4-BE49-F238E27FC236}">
                <a16:creationId xmlns:a16="http://schemas.microsoft.com/office/drawing/2014/main" id="{E74DA9F3-584E-C5BB-44E4-CC62E9D5BB82}"/>
              </a:ext>
            </a:extLst>
          </p:cNvPr>
          <p:cNvSpPr/>
          <p:nvPr/>
        </p:nvSpPr>
        <p:spPr>
          <a:xfrm>
            <a:off x="7391400" y="1676400"/>
            <a:ext cx="200025" cy="5800725"/>
          </a:xfrm>
          <a:custGeom>
            <a:avLst/>
            <a:gdLst/>
            <a:ahLst/>
            <a:cxnLst/>
            <a:rect l="l" t="t" r="r" b="b"/>
            <a:pathLst>
              <a:path w="200025" h="5800725">
                <a:moveTo>
                  <a:pt x="0" y="0"/>
                </a:moveTo>
                <a:lnTo>
                  <a:pt x="200025" y="0"/>
                </a:lnTo>
                <a:lnTo>
                  <a:pt x="200025" y="5800725"/>
                </a:lnTo>
                <a:lnTo>
                  <a:pt x="0" y="5800725"/>
                </a:lnTo>
                <a:lnTo>
                  <a:pt x="0" y="0"/>
                </a:lnTo>
                <a:close/>
              </a:path>
            </a:pathLst>
          </a:custGeom>
          <a:blipFill>
            <a:blip r:embed="rId30"/>
            <a:stretch>
              <a:fillRect/>
            </a:stretch>
          </a:blipFill>
        </p:spPr>
      </p:sp>
      <p:sp>
        <p:nvSpPr>
          <p:cNvPr id="43" name="TextBox 43">
            <a:extLst>
              <a:ext uri="{FF2B5EF4-FFF2-40B4-BE49-F238E27FC236}">
                <a16:creationId xmlns:a16="http://schemas.microsoft.com/office/drawing/2014/main" id="{8F2701AC-F557-F4D6-3519-4121FC11C11C}"/>
              </a:ext>
            </a:extLst>
          </p:cNvPr>
          <p:cNvSpPr txBox="1"/>
          <p:nvPr/>
        </p:nvSpPr>
        <p:spPr>
          <a:xfrm>
            <a:off x="6274765" y="1100175"/>
            <a:ext cx="3376270" cy="243656"/>
          </a:xfrm>
          <a:prstGeom prst="rect">
            <a:avLst/>
          </a:prstGeom>
        </p:spPr>
        <p:txBody>
          <a:bodyPr lIns="0" tIns="0" rIns="0" bIns="0" rtlCol="0" anchor="t">
            <a:spAutoFit/>
          </a:bodyPr>
          <a:lstStyle/>
          <a:p>
            <a:pPr algn="ctr">
              <a:lnSpc>
                <a:spcPts val="1876"/>
              </a:lnSpc>
            </a:pPr>
            <a:r>
              <a:rPr lang="en-US" sz="2000" b="1">
                <a:solidFill>
                  <a:srgbClr val="001C58"/>
                </a:solidFill>
                <a:latin typeface="Arial Narrow" panose="020B0606020202030204" pitchFamily="34" charset="0"/>
                <a:ea typeface="Roboto Bold"/>
                <a:cs typeface="Roboto Bold"/>
                <a:sym typeface="Roboto Bold"/>
              </a:rPr>
              <a:t>Practical. Accessible. Scalable.</a:t>
            </a:r>
          </a:p>
        </p:txBody>
      </p:sp>
      <p:sp>
        <p:nvSpPr>
          <p:cNvPr id="44" name="TextBox 44">
            <a:extLst>
              <a:ext uri="{FF2B5EF4-FFF2-40B4-BE49-F238E27FC236}">
                <a16:creationId xmlns:a16="http://schemas.microsoft.com/office/drawing/2014/main" id="{250D59C6-3179-1C4B-64FF-B9B2A9213EC3}"/>
              </a:ext>
            </a:extLst>
          </p:cNvPr>
          <p:cNvSpPr txBox="1"/>
          <p:nvPr/>
        </p:nvSpPr>
        <p:spPr>
          <a:xfrm>
            <a:off x="1783690" y="2866468"/>
            <a:ext cx="1879244" cy="192360"/>
          </a:xfrm>
          <a:prstGeom prst="rect">
            <a:avLst/>
          </a:prstGeom>
        </p:spPr>
        <p:txBody>
          <a:bodyPr lIns="0" tIns="0" rIns="0" bIns="0" rtlCol="0" anchor="t">
            <a:spAutoFit/>
          </a:bodyPr>
          <a:lstStyle/>
          <a:p>
            <a:pPr algn="l">
              <a:lnSpc>
                <a:spcPts val="1528"/>
              </a:lnSpc>
            </a:pPr>
            <a:r>
              <a:rPr lang="en-US" sz="1400" b="1" dirty="0">
                <a:solidFill>
                  <a:srgbClr val="004AAD"/>
                </a:solidFill>
                <a:latin typeface="Arial Narrow" panose="020B0606020202030204" pitchFamily="34" charset="0"/>
                <a:ea typeface="Roboto Bold"/>
                <a:cs typeface="Roboto Bold"/>
                <a:sym typeface="Roboto Bold"/>
              </a:rPr>
              <a:t>TECHNICAL FEASIBILITY</a:t>
            </a:r>
          </a:p>
        </p:txBody>
      </p:sp>
      <p:sp>
        <p:nvSpPr>
          <p:cNvPr id="45" name="TextBox 45">
            <a:extLst>
              <a:ext uri="{FF2B5EF4-FFF2-40B4-BE49-F238E27FC236}">
                <a16:creationId xmlns:a16="http://schemas.microsoft.com/office/drawing/2014/main" id="{3C03EA84-2B1F-7693-694E-14CFC37A9202}"/>
              </a:ext>
            </a:extLst>
          </p:cNvPr>
          <p:cNvSpPr txBox="1"/>
          <p:nvPr/>
        </p:nvSpPr>
        <p:spPr>
          <a:xfrm>
            <a:off x="1783690" y="3995809"/>
            <a:ext cx="2834792" cy="195566"/>
          </a:xfrm>
          <a:prstGeom prst="rect">
            <a:avLst/>
          </a:prstGeom>
        </p:spPr>
        <p:txBody>
          <a:bodyPr wrap="square" lIns="0" tIns="0" rIns="0" bIns="0" rtlCol="0" anchor="t">
            <a:spAutoFit/>
          </a:bodyPr>
          <a:lstStyle/>
          <a:p>
            <a:pPr algn="l">
              <a:lnSpc>
                <a:spcPts val="1528"/>
              </a:lnSpc>
            </a:pPr>
            <a:r>
              <a:rPr lang="en-US" sz="1400" b="1" dirty="0">
                <a:solidFill>
                  <a:srgbClr val="004AAD"/>
                </a:solidFill>
                <a:latin typeface="Arial Narrow" panose="020B0606020202030204" pitchFamily="34" charset="0"/>
                <a:ea typeface="Roboto Bold"/>
                <a:cs typeface="Roboto Bold"/>
                <a:sym typeface="Roboto Bold"/>
              </a:rPr>
              <a:t>OPERATIONAL FEASIBILITY</a:t>
            </a:r>
          </a:p>
        </p:txBody>
      </p:sp>
      <p:sp>
        <p:nvSpPr>
          <p:cNvPr id="46" name="TextBox 46">
            <a:extLst>
              <a:ext uri="{FF2B5EF4-FFF2-40B4-BE49-F238E27FC236}">
                <a16:creationId xmlns:a16="http://schemas.microsoft.com/office/drawing/2014/main" id="{92213527-EED0-B993-39FB-5DC3860B84C9}"/>
              </a:ext>
            </a:extLst>
          </p:cNvPr>
          <p:cNvSpPr txBox="1"/>
          <p:nvPr/>
        </p:nvSpPr>
        <p:spPr>
          <a:xfrm>
            <a:off x="5637733" y="4459638"/>
            <a:ext cx="764438" cy="307777"/>
          </a:xfrm>
          <a:prstGeom prst="rect">
            <a:avLst/>
          </a:prstGeom>
        </p:spPr>
        <p:txBody>
          <a:bodyPr lIns="0" tIns="0" rIns="0" bIns="0" rtlCol="0" anchor="t">
            <a:spAutoFit/>
          </a:bodyPr>
          <a:lstStyle/>
          <a:p>
            <a:pPr algn="ctr">
              <a:lnSpc>
                <a:spcPts val="1187"/>
              </a:lnSpc>
            </a:pPr>
            <a:r>
              <a:rPr lang="en-US" sz="1000" b="1">
                <a:solidFill>
                  <a:srgbClr val="001C58"/>
                </a:solidFill>
                <a:latin typeface="Arial Narrow" panose="020B0606020202030204" pitchFamily="34" charset="0"/>
                <a:ea typeface="Roboto"/>
                <a:cs typeface="Roboto"/>
                <a:sym typeface="Roboto"/>
              </a:rPr>
              <a:t>Easy to Use &amp; Maintain</a:t>
            </a:r>
          </a:p>
        </p:txBody>
      </p:sp>
      <p:sp>
        <p:nvSpPr>
          <p:cNvPr id="47" name="TextBox 47">
            <a:extLst>
              <a:ext uri="{FF2B5EF4-FFF2-40B4-BE49-F238E27FC236}">
                <a16:creationId xmlns:a16="http://schemas.microsoft.com/office/drawing/2014/main" id="{CFA13FBC-09E7-C750-C22B-F5583FA79C9C}"/>
              </a:ext>
            </a:extLst>
          </p:cNvPr>
          <p:cNvSpPr txBox="1"/>
          <p:nvPr/>
        </p:nvSpPr>
        <p:spPr>
          <a:xfrm>
            <a:off x="1783690" y="6084756"/>
            <a:ext cx="2959760" cy="205184"/>
          </a:xfrm>
          <a:prstGeom prst="rect">
            <a:avLst/>
          </a:prstGeom>
        </p:spPr>
        <p:txBody>
          <a:bodyPr wrap="square" lIns="0" tIns="0" rIns="0" bIns="0" rtlCol="0" anchor="t">
            <a:spAutoFit/>
          </a:bodyPr>
          <a:lstStyle/>
          <a:p>
            <a:pPr algn="l">
              <a:lnSpc>
                <a:spcPts val="1570"/>
              </a:lnSpc>
            </a:pPr>
            <a:r>
              <a:rPr lang="en-US" sz="1400" b="1" dirty="0">
                <a:solidFill>
                  <a:srgbClr val="004AAD"/>
                </a:solidFill>
                <a:latin typeface="Arial Narrow" panose="020B0606020202030204" pitchFamily="34" charset="0"/>
                <a:ea typeface="Roboto Bold"/>
                <a:cs typeface="Roboto Bold"/>
                <a:sym typeface="Roboto Bold"/>
              </a:rPr>
              <a:t>LEGAL &amp; DATA FEASIBILITY</a:t>
            </a:r>
          </a:p>
        </p:txBody>
      </p:sp>
      <p:sp>
        <p:nvSpPr>
          <p:cNvPr id="48" name="TextBox 48">
            <a:extLst>
              <a:ext uri="{FF2B5EF4-FFF2-40B4-BE49-F238E27FC236}">
                <a16:creationId xmlns:a16="http://schemas.microsoft.com/office/drawing/2014/main" id="{795C6B28-91D6-E89E-90DC-3204EA163854}"/>
              </a:ext>
            </a:extLst>
          </p:cNvPr>
          <p:cNvSpPr txBox="1"/>
          <p:nvPr/>
        </p:nvSpPr>
        <p:spPr>
          <a:xfrm>
            <a:off x="5701436" y="6494245"/>
            <a:ext cx="605180" cy="307777"/>
          </a:xfrm>
          <a:prstGeom prst="rect">
            <a:avLst/>
          </a:prstGeom>
        </p:spPr>
        <p:txBody>
          <a:bodyPr lIns="0" tIns="0" rIns="0" bIns="0" rtlCol="0" anchor="t">
            <a:spAutoFit/>
          </a:bodyPr>
          <a:lstStyle/>
          <a:p>
            <a:pPr algn="ctr">
              <a:lnSpc>
                <a:spcPts val="1187"/>
              </a:lnSpc>
            </a:pPr>
            <a:r>
              <a:rPr lang="en-US" sz="1000" b="1">
                <a:solidFill>
                  <a:srgbClr val="001C58"/>
                </a:solidFill>
                <a:latin typeface="Arial Narrow" panose="020B0606020202030204" pitchFamily="34" charset="0"/>
                <a:ea typeface="Roboto"/>
                <a:cs typeface="Roboto"/>
                <a:sym typeface="Roboto"/>
              </a:rPr>
              <a:t>Secure &amp; Compliant</a:t>
            </a:r>
          </a:p>
        </p:txBody>
      </p:sp>
      <p:sp>
        <p:nvSpPr>
          <p:cNvPr id="49" name="TextBox 49">
            <a:extLst>
              <a:ext uri="{FF2B5EF4-FFF2-40B4-BE49-F238E27FC236}">
                <a16:creationId xmlns:a16="http://schemas.microsoft.com/office/drawing/2014/main" id="{F12281D9-E3E7-386D-6FB0-A4E2A0DE6488}"/>
              </a:ext>
            </a:extLst>
          </p:cNvPr>
          <p:cNvSpPr txBox="1"/>
          <p:nvPr/>
        </p:nvSpPr>
        <p:spPr>
          <a:xfrm>
            <a:off x="1783690" y="6998422"/>
            <a:ext cx="1958873" cy="192360"/>
          </a:xfrm>
          <a:prstGeom prst="rect">
            <a:avLst/>
          </a:prstGeom>
        </p:spPr>
        <p:txBody>
          <a:bodyPr lIns="0" tIns="0" rIns="0" bIns="0" rtlCol="0" anchor="t">
            <a:spAutoFit/>
          </a:bodyPr>
          <a:lstStyle/>
          <a:p>
            <a:pPr algn="l">
              <a:lnSpc>
                <a:spcPts val="1528"/>
              </a:lnSpc>
            </a:pPr>
            <a:r>
              <a:rPr lang="en-US" sz="1400" b="1">
                <a:solidFill>
                  <a:srgbClr val="004AAD"/>
                </a:solidFill>
                <a:latin typeface="Arial Narrow" panose="020B0606020202030204" pitchFamily="34" charset="0"/>
                <a:ea typeface="Roboto Bold"/>
                <a:cs typeface="Roboto Bold"/>
                <a:sym typeface="Roboto Bold"/>
              </a:rPr>
              <a:t>SCALABILITY FEASIBILITY</a:t>
            </a:r>
          </a:p>
        </p:txBody>
      </p:sp>
      <p:sp>
        <p:nvSpPr>
          <p:cNvPr id="50" name="TextBox 50">
            <a:extLst>
              <a:ext uri="{FF2B5EF4-FFF2-40B4-BE49-F238E27FC236}">
                <a16:creationId xmlns:a16="http://schemas.microsoft.com/office/drawing/2014/main" id="{3FB4EC21-27BF-B116-24C0-5D2EDB7BFDC0}"/>
              </a:ext>
            </a:extLst>
          </p:cNvPr>
          <p:cNvSpPr txBox="1"/>
          <p:nvPr/>
        </p:nvSpPr>
        <p:spPr>
          <a:xfrm>
            <a:off x="5637733" y="7453289"/>
            <a:ext cx="764438" cy="307777"/>
          </a:xfrm>
          <a:prstGeom prst="rect">
            <a:avLst/>
          </a:prstGeom>
        </p:spPr>
        <p:txBody>
          <a:bodyPr lIns="0" tIns="0" rIns="0" bIns="0" rtlCol="0" anchor="t">
            <a:spAutoFit/>
          </a:bodyPr>
          <a:lstStyle/>
          <a:p>
            <a:pPr algn="ctr">
              <a:lnSpc>
                <a:spcPts val="1187"/>
              </a:lnSpc>
            </a:pPr>
            <a:r>
              <a:rPr lang="en-US" sz="1000" b="1">
                <a:solidFill>
                  <a:srgbClr val="001C58"/>
                </a:solidFill>
                <a:latin typeface="Arial Narrow" panose="020B0606020202030204" pitchFamily="34" charset="0"/>
                <a:ea typeface="Roboto"/>
                <a:cs typeface="Roboto"/>
                <a:sym typeface="Roboto"/>
              </a:rPr>
              <a:t>Scalable Architecture</a:t>
            </a:r>
          </a:p>
        </p:txBody>
      </p:sp>
      <p:sp>
        <p:nvSpPr>
          <p:cNvPr id="51" name="TextBox 51">
            <a:extLst>
              <a:ext uri="{FF2B5EF4-FFF2-40B4-BE49-F238E27FC236}">
                <a16:creationId xmlns:a16="http://schemas.microsoft.com/office/drawing/2014/main" id="{600DFA24-75A2-8CE6-39C2-C6908742607D}"/>
              </a:ext>
            </a:extLst>
          </p:cNvPr>
          <p:cNvSpPr txBox="1"/>
          <p:nvPr/>
        </p:nvSpPr>
        <p:spPr>
          <a:xfrm>
            <a:off x="2134057" y="8220470"/>
            <a:ext cx="891845" cy="269304"/>
          </a:xfrm>
          <a:prstGeom prst="rect">
            <a:avLst/>
          </a:prstGeom>
        </p:spPr>
        <p:txBody>
          <a:bodyPr lIns="0" tIns="0" rIns="0" bIns="0" rtlCol="0" anchor="t">
            <a:spAutoFit/>
          </a:bodyPr>
          <a:lstStyle/>
          <a:p>
            <a:pPr algn="l">
              <a:lnSpc>
                <a:spcPts val="2081"/>
              </a:lnSpc>
            </a:pPr>
            <a:r>
              <a:rPr lang="en-US" b="1" dirty="0">
                <a:solidFill>
                  <a:srgbClr val="001C58"/>
                </a:solidFill>
                <a:latin typeface="Arial Narrow" panose="020B0606020202030204" pitchFamily="34" charset="0"/>
                <a:ea typeface="Roboto Bold"/>
                <a:cs typeface="Roboto Bold"/>
                <a:sym typeface="Roboto Bold"/>
              </a:rPr>
              <a:t>Goal:</a:t>
            </a:r>
          </a:p>
        </p:txBody>
      </p:sp>
      <p:sp>
        <p:nvSpPr>
          <p:cNvPr id="52" name="TextBox 52">
            <a:extLst>
              <a:ext uri="{FF2B5EF4-FFF2-40B4-BE49-F238E27FC236}">
                <a16:creationId xmlns:a16="http://schemas.microsoft.com/office/drawing/2014/main" id="{B8FBD216-7B1F-C944-0214-3DBE76D3418E}"/>
              </a:ext>
            </a:extLst>
          </p:cNvPr>
          <p:cNvSpPr txBox="1"/>
          <p:nvPr/>
        </p:nvSpPr>
        <p:spPr>
          <a:xfrm>
            <a:off x="3503676" y="8168083"/>
            <a:ext cx="5032553" cy="384721"/>
          </a:xfrm>
          <a:prstGeom prst="rect">
            <a:avLst/>
          </a:prstGeom>
        </p:spPr>
        <p:txBody>
          <a:bodyPr lIns="0" tIns="0" rIns="0" bIns="0" rtlCol="0" anchor="t">
            <a:spAutoFit/>
          </a:bodyPr>
          <a:lstStyle/>
          <a:p>
            <a:pPr algn="l">
              <a:lnSpc>
                <a:spcPts val="1485"/>
              </a:lnSpc>
            </a:pPr>
            <a:r>
              <a:rPr lang="en-US" sz="1400" b="1">
                <a:solidFill>
                  <a:srgbClr val="001C58"/>
                </a:solidFill>
                <a:latin typeface="Arial Narrow" panose="020B0606020202030204" pitchFamily="34" charset="0"/>
                <a:ea typeface="Roboto"/>
                <a:cs typeface="Roboto"/>
                <a:sym typeface="Roboto"/>
              </a:rPr>
              <a:t>To deliver a feasible, accessible and reliable health monitoring solution that can be deployed widely and make a real impact on patient care.</a:t>
            </a:r>
          </a:p>
        </p:txBody>
      </p:sp>
      <p:sp>
        <p:nvSpPr>
          <p:cNvPr id="56" name="TextBox 56">
            <a:extLst>
              <a:ext uri="{FF2B5EF4-FFF2-40B4-BE49-F238E27FC236}">
                <a16:creationId xmlns:a16="http://schemas.microsoft.com/office/drawing/2014/main" id="{8C6187E8-3C48-7421-A1AA-46BD74356C00}"/>
              </a:ext>
            </a:extLst>
          </p:cNvPr>
          <p:cNvSpPr txBox="1"/>
          <p:nvPr/>
        </p:nvSpPr>
        <p:spPr>
          <a:xfrm>
            <a:off x="9921773" y="1675646"/>
            <a:ext cx="1831467" cy="260328"/>
          </a:xfrm>
          <a:prstGeom prst="rect">
            <a:avLst/>
          </a:prstGeom>
        </p:spPr>
        <p:txBody>
          <a:bodyPr lIns="0" tIns="0" rIns="0" bIns="0" rtlCol="0" anchor="t">
            <a:spAutoFit/>
          </a:bodyPr>
          <a:lstStyle/>
          <a:p>
            <a:pPr algn="l">
              <a:lnSpc>
                <a:spcPts val="2017"/>
              </a:lnSpc>
            </a:pPr>
            <a:r>
              <a:rPr lang="en-US" sz="2400" b="1">
                <a:solidFill>
                  <a:srgbClr val="FFFFFF"/>
                </a:solidFill>
                <a:latin typeface="Arial Narrow" panose="020B0606020202030204" pitchFamily="34" charset="0"/>
                <a:ea typeface="Roboto Bold"/>
                <a:cs typeface="Roboto Bold"/>
                <a:sym typeface="Roboto Bold"/>
              </a:rPr>
              <a:t>AVAILABILITY</a:t>
            </a:r>
          </a:p>
        </p:txBody>
      </p:sp>
      <p:sp>
        <p:nvSpPr>
          <p:cNvPr id="57" name="TextBox 57">
            <a:extLst>
              <a:ext uri="{FF2B5EF4-FFF2-40B4-BE49-F238E27FC236}">
                <a16:creationId xmlns:a16="http://schemas.microsoft.com/office/drawing/2014/main" id="{50D9C6F6-A7B9-EC5A-E16C-7DB211F23BD5}"/>
              </a:ext>
            </a:extLst>
          </p:cNvPr>
          <p:cNvSpPr txBox="1"/>
          <p:nvPr/>
        </p:nvSpPr>
        <p:spPr>
          <a:xfrm>
            <a:off x="9603257" y="2180220"/>
            <a:ext cx="3869969" cy="410369"/>
          </a:xfrm>
          <a:prstGeom prst="rect">
            <a:avLst/>
          </a:prstGeom>
        </p:spPr>
        <p:txBody>
          <a:bodyPr lIns="0" tIns="0" rIns="0" bIns="0" rtlCol="0" anchor="t">
            <a:spAutoFit/>
          </a:bodyPr>
          <a:lstStyle/>
          <a:p>
            <a:pPr algn="ctr">
              <a:lnSpc>
                <a:spcPts val="1570"/>
              </a:lnSpc>
            </a:pPr>
            <a:r>
              <a:rPr lang="en-US" sz="1400" b="1" dirty="0">
                <a:solidFill>
                  <a:srgbClr val="001C58"/>
                </a:solidFill>
                <a:latin typeface="Arial Narrow" panose="020B0606020202030204" pitchFamily="34" charset="0"/>
                <a:ea typeface="Roboto"/>
                <a:cs typeface="Roboto"/>
                <a:sym typeface="Roboto"/>
              </a:rPr>
              <a:t>All components and platforms used are easily available and widely supported.</a:t>
            </a:r>
          </a:p>
        </p:txBody>
      </p:sp>
      <p:sp>
        <p:nvSpPr>
          <p:cNvPr id="58" name="TextBox 58">
            <a:extLst>
              <a:ext uri="{FF2B5EF4-FFF2-40B4-BE49-F238E27FC236}">
                <a16:creationId xmlns:a16="http://schemas.microsoft.com/office/drawing/2014/main" id="{7362EE30-8D02-51E5-A8CC-5D110FB053EF}"/>
              </a:ext>
            </a:extLst>
          </p:cNvPr>
          <p:cNvSpPr txBox="1"/>
          <p:nvPr/>
        </p:nvSpPr>
        <p:spPr>
          <a:xfrm>
            <a:off x="8524797" y="2933023"/>
            <a:ext cx="987400" cy="359073"/>
          </a:xfrm>
          <a:prstGeom prst="rect">
            <a:avLst/>
          </a:prstGeom>
        </p:spPr>
        <p:txBody>
          <a:bodyPr lIns="0" tIns="0" rIns="0" bIns="0" rtlCol="0" anchor="t">
            <a:spAutoFit/>
          </a:bodyPr>
          <a:lstStyle/>
          <a:p>
            <a:pPr algn="l">
              <a:lnSpc>
                <a:spcPts val="1358"/>
              </a:lnSpc>
            </a:pPr>
            <a:r>
              <a:rPr lang="en-US" sz="1200" b="1" dirty="0">
                <a:solidFill>
                  <a:srgbClr val="1A8F6F"/>
                </a:solidFill>
                <a:latin typeface="Arial Narrow" panose="020B0606020202030204" pitchFamily="34" charset="0"/>
                <a:ea typeface="Roboto Bold"/>
                <a:cs typeface="Roboto Bold"/>
                <a:sym typeface="Roboto Bold"/>
              </a:rPr>
              <a:t>HARDWARE COMPONENTS</a:t>
            </a:r>
          </a:p>
        </p:txBody>
      </p:sp>
      <p:sp>
        <p:nvSpPr>
          <p:cNvPr id="59" name="TextBox 59">
            <a:extLst>
              <a:ext uri="{FF2B5EF4-FFF2-40B4-BE49-F238E27FC236}">
                <a16:creationId xmlns:a16="http://schemas.microsoft.com/office/drawing/2014/main" id="{1A771888-7ACC-39C6-F767-E057F9094655}"/>
              </a:ext>
            </a:extLst>
          </p:cNvPr>
          <p:cNvSpPr txBox="1"/>
          <p:nvPr/>
        </p:nvSpPr>
        <p:spPr>
          <a:xfrm>
            <a:off x="9921773" y="2933114"/>
            <a:ext cx="939622" cy="538609"/>
          </a:xfrm>
          <a:prstGeom prst="rect">
            <a:avLst/>
          </a:prstGeom>
        </p:spPr>
        <p:txBody>
          <a:bodyPr lIns="0" tIns="0" rIns="0" bIns="0" rtlCol="0" anchor="t">
            <a:spAutoFit/>
          </a:bodyPr>
          <a:lstStyle/>
          <a:p>
            <a:pPr algn="l">
              <a:lnSpc>
                <a:spcPts val="1443"/>
              </a:lnSpc>
            </a:pPr>
            <a:r>
              <a:rPr lang="en-US" sz="1400" b="1">
                <a:solidFill>
                  <a:srgbClr val="1A8F6F"/>
                </a:solidFill>
                <a:latin typeface="Arial Narrow" panose="020B0606020202030204" pitchFamily="34" charset="0"/>
                <a:ea typeface="Roboto Bold"/>
                <a:cs typeface="Roboto Bold"/>
                <a:sym typeface="Roboto Bold"/>
              </a:rPr>
              <a:t>SOFTWARE &amp; PLATFORMS</a:t>
            </a:r>
          </a:p>
        </p:txBody>
      </p:sp>
      <p:sp>
        <p:nvSpPr>
          <p:cNvPr id="60" name="TextBox 60">
            <a:extLst>
              <a:ext uri="{FF2B5EF4-FFF2-40B4-BE49-F238E27FC236}">
                <a16:creationId xmlns:a16="http://schemas.microsoft.com/office/drawing/2014/main" id="{37A92A8A-C803-AC9C-595E-F00EF384DEED}"/>
              </a:ext>
            </a:extLst>
          </p:cNvPr>
          <p:cNvSpPr txBox="1"/>
          <p:nvPr/>
        </p:nvSpPr>
        <p:spPr>
          <a:xfrm>
            <a:off x="11402873" y="2952164"/>
            <a:ext cx="987400" cy="333375"/>
          </a:xfrm>
          <a:prstGeom prst="rect">
            <a:avLst/>
          </a:prstGeom>
        </p:spPr>
        <p:txBody>
          <a:bodyPr lIns="0" tIns="0" rIns="0" bIns="0" rtlCol="0" anchor="t">
            <a:spAutoFit/>
          </a:bodyPr>
          <a:lstStyle/>
          <a:p>
            <a:pPr algn="l">
              <a:lnSpc>
                <a:spcPts val="1315"/>
              </a:lnSpc>
            </a:pPr>
            <a:r>
              <a:rPr lang="en-US" sz="1100" b="1">
                <a:solidFill>
                  <a:srgbClr val="1A8F6F"/>
                </a:solidFill>
                <a:latin typeface="Arial Narrow" panose="020B0606020202030204" pitchFamily="34" charset="0"/>
                <a:ea typeface="Roboto Bold"/>
                <a:cs typeface="Roboto Bold"/>
                <a:sym typeface="Roboto Bold"/>
              </a:rPr>
              <a:t>DEVELOPMENT TOOLS</a:t>
            </a:r>
          </a:p>
        </p:txBody>
      </p:sp>
      <p:sp>
        <p:nvSpPr>
          <p:cNvPr id="61" name="TextBox 61">
            <a:extLst>
              <a:ext uri="{FF2B5EF4-FFF2-40B4-BE49-F238E27FC236}">
                <a16:creationId xmlns:a16="http://schemas.microsoft.com/office/drawing/2014/main" id="{DA95E851-3C52-0ED2-CB5F-6935226D67C9}"/>
              </a:ext>
            </a:extLst>
          </p:cNvPr>
          <p:cNvSpPr txBox="1"/>
          <p:nvPr/>
        </p:nvSpPr>
        <p:spPr>
          <a:xfrm>
            <a:off x="12724714" y="3006238"/>
            <a:ext cx="987400" cy="166712"/>
          </a:xfrm>
          <a:prstGeom prst="rect">
            <a:avLst/>
          </a:prstGeom>
        </p:spPr>
        <p:txBody>
          <a:bodyPr lIns="0" tIns="0" rIns="0" bIns="0" rtlCol="0" anchor="t">
            <a:spAutoFit/>
          </a:bodyPr>
          <a:lstStyle/>
          <a:p>
            <a:pPr algn="l">
              <a:lnSpc>
                <a:spcPts val="1315"/>
              </a:lnSpc>
            </a:pPr>
            <a:r>
              <a:rPr lang="en-US" sz="1100" b="1">
                <a:solidFill>
                  <a:srgbClr val="1A8F6F"/>
                </a:solidFill>
                <a:latin typeface="Arial Narrow" panose="020B0606020202030204" pitchFamily="34" charset="0"/>
                <a:ea typeface="Roboto Bold"/>
                <a:cs typeface="Roboto Bold"/>
                <a:sym typeface="Roboto Bold"/>
              </a:rPr>
              <a:t>CONNECTIVITY</a:t>
            </a:r>
          </a:p>
        </p:txBody>
      </p:sp>
      <p:sp>
        <p:nvSpPr>
          <p:cNvPr id="62" name="TextBox 62">
            <a:extLst>
              <a:ext uri="{FF2B5EF4-FFF2-40B4-BE49-F238E27FC236}">
                <a16:creationId xmlns:a16="http://schemas.microsoft.com/office/drawing/2014/main" id="{2E0BFA9A-936C-DD66-4AAD-C6565D436D3E}"/>
              </a:ext>
            </a:extLst>
          </p:cNvPr>
          <p:cNvSpPr txBox="1"/>
          <p:nvPr/>
        </p:nvSpPr>
        <p:spPr>
          <a:xfrm>
            <a:off x="14205814" y="2942639"/>
            <a:ext cx="859993" cy="359073"/>
          </a:xfrm>
          <a:prstGeom prst="rect">
            <a:avLst/>
          </a:prstGeom>
        </p:spPr>
        <p:txBody>
          <a:bodyPr lIns="0" tIns="0" rIns="0" bIns="0" rtlCol="0" anchor="t">
            <a:spAutoFit/>
          </a:bodyPr>
          <a:lstStyle/>
          <a:p>
            <a:pPr algn="l">
              <a:lnSpc>
                <a:spcPts val="1358"/>
              </a:lnSpc>
            </a:pPr>
            <a:r>
              <a:rPr lang="en-US" sz="1200" b="1">
                <a:solidFill>
                  <a:srgbClr val="1A8F6F"/>
                </a:solidFill>
                <a:latin typeface="Arial Narrow" panose="020B0606020202030204" pitchFamily="34" charset="0"/>
                <a:ea typeface="Roboto Bold"/>
                <a:cs typeface="Roboto Bold"/>
                <a:sym typeface="Roboto Bold"/>
              </a:rPr>
              <a:t>SUPPORT &amp; COMMUNITY</a:t>
            </a:r>
          </a:p>
        </p:txBody>
      </p:sp>
      <p:sp>
        <p:nvSpPr>
          <p:cNvPr id="63" name="TextBox 63">
            <a:extLst>
              <a:ext uri="{FF2B5EF4-FFF2-40B4-BE49-F238E27FC236}">
                <a16:creationId xmlns:a16="http://schemas.microsoft.com/office/drawing/2014/main" id="{731A7289-81AB-F663-A850-CFC7A92BDC99}"/>
              </a:ext>
            </a:extLst>
          </p:cNvPr>
          <p:cNvSpPr txBox="1"/>
          <p:nvPr/>
        </p:nvSpPr>
        <p:spPr>
          <a:xfrm>
            <a:off x="8440674" y="4510686"/>
            <a:ext cx="987400" cy="1231106"/>
          </a:xfrm>
          <a:prstGeom prst="rect">
            <a:avLst/>
          </a:prstGeom>
        </p:spPr>
        <p:txBody>
          <a:bodyPr lIns="0" tIns="0" rIns="0" bIns="0" rtlCol="0" anchor="t">
            <a:spAutoFit/>
          </a:bodyPr>
          <a:lstStyle/>
          <a:p>
            <a:pPr algn="ctr">
              <a:lnSpc>
                <a:spcPts val="1187"/>
              </a:lnSpc>
            </a:pPr>
            <a:r>
              <a:rPr lang="en-US" sz="1050" b="1" dirty="0">
                <a:solidFill>
                  <a:srgbClr val="001C58"/>
                </a:solidFill>
                <a:latin typeface="Arial Narrow" panose="020B0606020202030204" pitchFamily="34" charset="0"/>
                <a:ea typeface="Roboto"/>
                <a:cs typeface="Roboto"/>
                <a:sym typeface="Roboto"/>
              </a:rPr>
              <a:t>ESP32, MAXX00100</a:t>
            </a:r>
          </a:p>
          <a:p>
            <a:pPr algn="ctr">
              <a:lnSpc>
                <a:spcPts val="1187"/>
              </a:lnSpc>
            </a:pPr>
            <a:r>
              <a:rPr lang="en-US" sz="1050" b="1" dirty="0">
                <a:solidFill>
                  <a:srgbClr val="001C58"/>
                </a:solidFill>
                <a:latin typeface="Arial Narrow" panose="020B0606020202030204" pitchFamily="34" charset="0"/>
                <a:ea typeface="Roboto"/>
                <a:cs typeface="Roboto"/>
                <a:sym typeface="Roboto"/>
              </a:rPr>
              <a:t>DSH1B20, DHT22</a:t>
            </a:r>
          </a:p>
          <a:p>
            <a:pPr algn="ctr">
              <a:lnSpc>
                <a:spcPts val="1187"/>
              </a:lnSpc>
            </a:pPr>
            <a:r>
              <a:rPr lang="en-US" sz="1050" b="1" dirty="0">
                <a:solidFill>
                  <a:srgbClr val="001C58"/>
                </a:solidFill>
                <a:latin typeface="Arial Narrow" panose="020B0606020202030204" pitchFamily="34" charset="0"/>
                <a:ea typeface="Roboto"/>
                <a:cs typeface="Roboto"/>
                <a:sym typeface="Roboto"/>
              </a:rPr>
              <a:t>and other modules are widely available online and in local markets.</a:t>
            </a:r>
          </a:p>
        </p:txBody>
      </p:sp>
      <p:sp>
        <p:nvSpPr>
          <p:cNvPr id="64" name="TextBox 64">
            <a:extLst>
              <a:ext uri="{FF2B5EF4-FFF2-40B4-BE49-F238E27FC236}">
                <a16:creationId xmlns:a16="http://schemas.microsoft.com/office/drawing/2014/main" id="{A0CC4DC7-A769-018C-E8FA-7AD7516D33F8}"/>
              </a:ext>
            </a:extLst>
          </p:cNvPr>
          <p:cNvSpPr txBox="1"/>
          <p:nvPr/>
        </p:nvSpPr>
        <p:spPr>
          <a:xfrm>
            <a:off x="9921773" y="4519383"/>
            <a:ext cx="987400" cy="923330"/>
          </a:xfrm>
          <a:prstGeom prst="rect">
            <a:avLst/>
          </a:prstGeom>
        </p:spPr>
        <p:txBody>
          <a:bodyPr lIns="0" tIns="0" rIns="0" bIns="0" rtlCol="0" anchor="t">
            <a:spAutoFit/>
          </a:bodyPr>
          <a:lstStyle/>
          <a:p>
            <a:pPr algn="ctr">
              <a:lnSpc>
                <a:spcPts val="1187"/>
              </a:lnSpc>
            </a:pPr>
            <a:r>
              <a:rPr lang="en-US" sz="1050" b="1" dirty="0">
                <a:solidFill>
                  <a:srgbClr val="001C58"/>
                </a:solidFill>
                <a:latin typeface="Arial Narrow" panose="020B0606020202030204" pitchFamily="34" charset="0"/>
                <a:ea typeface="Roboto"/>
                <a:cs typeface="Roboto"/>
                <a:sym typeface="Roboto"/>
              </a:rPr>
              <a:t>Cloud platforms like </a:t>
            </a:r>
            <a:r>
              <a:rPr lang="en-US" sz="1050" b="1" dirty="0" err="1">
                <a:solidFill>
                  <a:srgbClr val="001C58"/>
                </a:solidFill>
                <a:latin typeface="Arial Narrow" panose="020B0606020202030204" pitchFamily="34" charset="0"/>
                <a:ea typeface="Roboto"/>
                <a:cs typeface="Roboto"/>
                <a:sym typeface="Roboto"/>
              </a:rPr>
              <a:t>FireBase</a:t>
            </a:r>
            <a:r>
              <a:rPr lang="en-US" sz="1050" b="1" dirty="0">
                <a:solidFill>
                  <a:srgbClr val="001C58"/>
                </a:solidFill>
                <a:latin typeface="Arial Narrow" panose="020B0606020202030204" pitchFamily="34" charset="0"/>
                <a:ea typeface="Roboto"/>
                <a:cs typeface="Roboto"/>
                <a:sym typeface="Roboto"/>
              </a:rPr>
              <a:t> / Blynk and other modules are reliable, scalable, and widely used.</a:t>
            </a:r>
          </a:p>
        </p:txBody>
      </p:sp>
      <p:sp>
        <p:nvSpPr>
          <p:cNvPr id="65" name="TextBox 65">
            <a:extLst>
              <a:ext uri="{FF2B5EF4-FFF2-40B4-BE49-F238E27FC236}">
                <a16:creationId xmlns:a16="http://schemas.microsoft.com/office/drawing/2014/main" id="{0D2732E3-C0D6-2777-578F-E7D3B73F034A}"/>
              </a:ext>
            </a:extLst>
          </p:cNvPr>
          <p:cNvSpPr txBox="1"/>
          <p:nvPr/>
        </p:nvSpPr>
        <p:spPr>
          <a:xfrm>
            <a:off x="11402873" y="4482561"/>
            <a:ext cx="987400" cy="923330"/>
          </a:xfrm>
          <a:prstGeom prst="rect">
            <a:avLst/>
          </a:prstGeom>
        </p:spPr>
        <p:txBody>
          <a:bodyPr lIns="0" tIns="0" rIns="0" bIns="0" rtlCol="0" anchor="t">
            <a:spAutoFit/>
          </a:bodyPr>
          <a:lstStyle/>
          <a:p>
            <a:pPr algn="ctr">
              <a:lnSpc>
                <a:spcPts val="1237"/>
              </a:lnSpc>
            </a:pPr>
            <a:r>
              <a:rPr lang="en-US" sz="1050" b="1" dirty="0">
                <a:solidFill>
                  <a:srgbClr val="001C58"/>
                </a:solidFill>
                <a:latin typeface="Arial Narrow" panose="020B0606020202030204" pitchFamily="34" charset="0"/>
                <a:ea typeface="Roboto"/>
                <a:cs typeface="Roboto"/>
                <a:sym typeface="Roboto"/>
              </a:rPr>
              <a:t>Open-source IDGs (Arduino IDE, VVS Code) and libraries ensure easy development and support.</a:t>
            </a:r>
          </a:p>
        </p:txBody>
      </p:sp>
      <p:sp>
        <p:nvSpPr>
          <p:cNvPr id="66" name="TextBox 66">
            <a:extLst>
              <a:ext uri="{FF2B5EF4-FFF2-40B4-BE49-F238E27FC236}">
                <a16:creationId xmlns:a16="http://schemas.microsoft.com/office/drawing/2014/main" id="{B6E1828A-93C9-5FB3-0FE3-E14DACF24785}"/>
              </a:ext>
            </a:extLst>
          </p:cNvPr>
          <p:cNvSpPr txBox="1"/>
          <p:nvPr/>
        </p:nvSpPr>
        <p:spPr>
          <a:xfrm>
            <a:off x="12724714" y="4482561"/>
            <a:ext cx="987400" cy="1077218"/>
          </a:xfrm>
          <a:prstGeom prst="rect">
            <a:avLst/>
          </a:prstGeom>
        </p:spPr>
        <p:txBody>
          <a:bodyPr lIns="0" tIns="0" rIns="0" bIns="0" rtlCol="0" anchor="t">
            <a:spAutoFit/>
          </a:bodyPr>
          <a:lstStyle/>
          <a:p>
            <a:pPr algn="ctr">
              <a:lnSpc>
                <a:spcPts val="1237"/>
              </a:lnSpc>
            </a:pPr>
            <a:r>
              <a:rPr lang="en-US" sz="1050" b="1" dirty="0">
                <a:solidFill>
                  <a:srgbClr val="001C58"/>
                </a:solidFill>
                <a:latin typeface="Arial Narrow" panose="020B0606020202030204" pitchFamily="34" charset="0"/>
                <a:ea typeface="Roboto"/>
                <a:cs typeface="Roboto"/>
                <a:sym typeface="Roboto"/>
              </a:rPr>
              <a:t>Wi-Fi and Bluetooth modules are commonly available and ensure reliable connectivity.</a:t>
            </a:r>
          </a:p>
        </p:txBody>
      </p:sp>
      <p:sp>
        <p:nvSpPr>
          <p:cNvPr id="67" name="TextBox 67">
            <a:extLst>
              <a:ext uri="{FF2B5EF4-FFF2-40B4-BE49-F238E27FC236}">
                <a16:creationId xmlns:a16="http://schemas.microsoft.com/office/drawing/2014/main" id="{DD3CB2F1-DBD9-5079-00E6-C1452DA4206C}"/>
              </a:ext>
            </a:extLst>
          </p:cNvPr>
          <p:cNvSpPr txBox="1"/>
          <p:nvPr/>
        </p:nvSpPr>
        <p:spPr>
          <a:xfrm>
            <a:off x="14205814" y="4482561"/>
            <a:ext cx="987400" cy="923330"/>
          </a:xfrm>
          <a:prstGeom prst="rect">
            <a:avLst/>
          </a:prstGeom>
        </p:spPr>
        <p:txBody>
          <a:bodyPr lIns="0" tIns="0" rIns="0" bIns="0" rtlCol="0" anchor="t">
            <a:spAutoFit/>
          </a:bodyPr>
          <a:lstStyle/>
          <a:p>
            <a:pPr algn="ctr">
              <a:lnSpc>
                <a:spcPts val="1237"/>
              </a:lnSpc>
            </a:pPr>
            <a:r>
              <a:rPr lang="en-US" sz="1050" b="1" dirty="0">
                <a:solidFill>
                  <a:srgbClr val="001C58"/>
                </a:solidFill>
                <a:latin typeface="Arial Narrow" panose="020B0606020202030204" pitchFamily="34" charset="0"/>
                <a:ea typeface="Roboto"/>
                <a:cs typeface="Roboto"/>
                <a:sym typeface="Roboto"/>
              </a:rPr>
              <a:t>Large developer community and documentation ensure continuous support and updates.</a:t>
            </a:r>
          </a:p>
        </p:txBody>
      </p:sp>
      <p:sp>
        <p:nvSpPr>
          <p:cNvPr id="70" name="TextBox 70">
            <a:extLst>
              <a:ext uri="{FF2B5EF4-FFF2-40B4-BE49-F238E27FC236}">
                <a16:creationId xmlns:a16="http://schemas.microsoft.com/office/drawing/2014/main" id="{2E532C1A-E3AE-7B6E-33ED-10538F266B02}"/>
              </a:ext>
            </a:extLst>
          </p:cNvPr>
          <p:cNvSpPr txBox="1"/>
          <p:nvPr/>
        </p:nvSpPr>
        <p:spPr>
          <a:xfrm>
            <a:off x="10511028" y="5905495"/>
            <a:ext cx="2293315" cy="205184"/>
          </a:xfrm>
          <a:prstGeom prst="rect">
            <a:avLst/>
          </a:prstGeom>
        </p:spPr>
        <p:txBody>
          <a:bodyPr lIns="0" tIns="0" rIns="0" bIns="0" rtlCol="0" anchor="t">
            <a:spAutoFit/>
          </a:bodyPr>
          <a:lstStyle/>
          <a:p>
            <a:pPr algn="ctr">
              <a:lnSpc>
                <a:spcPts val="1570"/>
              </a:lnSpc>
            </a:pPr>
            <a:r>
              <a:rPr lang="en-US" sz="1400" b="1" dirty="0">
                <a:solidFill>
                  <a:srgbClr val="1A8F6F"/>
                </a:solidFill>
                <a:latin typeface="Arial Narrow" panose="020B0606020202030204" pitchFamily="34" charset="0"/>
                <a:ea typeface="Roboto Bold"/>
                <a:cs typeface="Roboto Bold"/>
                <a:sym typeface="Roboto Bold"/>
              </a:rPr>
              <a:t>WHY IT’S READY AVAILABLE</a:t>
            </a:r>
          </a:p>
        </p:txBody>
      </p:sp>
      <p:sp>
        <p:nvSpPr>
          <p:cNvPr id="71" name="TextBox 71">
            <a:extLst>
              <a:ext uri="{FF2B5EF4-FFF2-40B4-BE49-F238E27FC236}">
                <a16:creationId xmlns:a16="http://schemas.microsoft.com/office/drawing/2014/main" id="{6F58E43C-0C90-9B40-110D-4385A07AAA3C}"/>
              </a:ext>
            </a:extLst>
          </p:cNvPr>
          <p:cNvSpPr txBox="1"/>
          <p:nvPr/>
        </p:nvSpPr>
        <p:spPr>
          <a:xfrm>
            <a:off x="8392897" y="6953860"/>
            <a:ext cx="987400" cy="500137"/>
          </a:xfrm>
          <a:prstGeom prst="rect">
            <a:avLst/>
          </a:prstGeom>
        </p:spPr>
        <p:txBody>
          <a:bodyPr lIns="0" tIns="0" rIns="0" bIns="0" rtlCol="0" anchor="t">
            <a:spAutoFit/>
          </a:bodyPr>
          <a:lstStyle/>
          <a:p>
            <a:pPr algn="ctr">
              <a:lnSpc>
                <a:spcPts val="1315"/>
              </a:lnSpc>
            </a:pPr>
            <a:r>
              <a:rPr lang="en-US" sz="1100" b="1" dirty="0">
                <a:solidFill>
                  <a:srgbClr val="001C58"/>
                </a:solidFill>
                <a:latin typeface="Arial Narrow" panose="020B0606020202030204" pitchFamily="34" charset="0"/>
                <a:ea typeface="Roboto"/>
                <a:cs typeface="Roboto"/>
                <a:sym typeface="Roboto"/>
              </a:rPr>
              <a:t>Components widely available online &amp; offline</a:t>
            </a:r>
          </a:p>
        </p:txBody>
      </p:sp>
      <p:sp>
        <p:nvSpPr>
          <p:cNvPr id="72" name="TextBox 72">
            <a:extLst>
              <a:ext uri="{FF2B5EF4-FFF2-40B4-BE49-F238E27FC236}">
                <a16:creationId xmlns:a16="http://schemas.microsoft.com/office/drawing/2014/main" id="{C71E624E-D66F-CAB6-C5DE-FDFD5F484388}"/>
              </a:ext>
            </a:extLst>
          </p:cNvPr>
          <p:cNvSpPr txBox="1"/>
          <p:nvPr/>
        </p:nvSpPr>
        <p:spPr>
          <a:xfrm>
            <a:off x="10001402" y="6920522"/>
            <a:ext cx="1114806" cy="393056"/>
          </a:xfrm>
          <a:prstGeom prst="rect">
            <a:avLst/>
          </a:prstGeom>
        </p:spPr>
        <p:txBody>
          <a:bodyPr lIns="0" tIns="0" rIns="0" bIns="0" rtlCol="0" anchor="t">
            <a:spAutoFit/>
          </a:bodyPr>
          <a:lstStyle/>
          <a:p>
            <a:pPr algn="ctr">
              <a:lnSpc>
                <a:spcPts val="1570"/>
              </a:lnSpc>
            </a:pPr>
            <a:r>
              <a:rPr lang="en-US" sz="1100" b="1" dirty="0">
                <a:solidFill>
                  <a:srgbClr val="001C58"/>
                </a:solidFill>
                <a:latin typeface="Arial Narrow" panose="020B0606020202030204" pitchFamily="34" charset="0"/>
                <a:ea typeface="Roboto"/>
                <a:cs typeface="Roboto"/>
                <a:sym typeface="Roboto"/>
              </a:rPr>
              <a:t>Affordable and easily replaceable</a:t>
            </a:r>
          </a:p>
        </p:txBody>
      </p:sp>
      <p:sp>
        <p:nvSpPr>
          <p:cNvPr id="73" name="TextBox 73">
            <a:extLst>
              <a:ext uri="{FF2B5EF4-FFF2-40B4-BE49-F238E27FC236}">
                <a16:creationId xmlns:a16="http://schemas.microsoft.com/office/drawing/2014/main" id="{747AE3E5-956F-470B-DD73-64B119C98552}"/>
              </a:ext>
            </a:extLst>
          </p:cNvPr>
          <p:cNvSpPr txBox="1"/>
          <p:nvPr/>
        </p:nvSpPr>
        <p:spPr>
          <a:xfrm>
            <a:off x="11275466" y="6905625"/>
            <a:ext cx="1114806" cy="500137"/>
          </a:xfrm>
          <a:prstGeom prst="rect">
            <a:avLst/>
          </a:prstGeom>
        </p:spPr>
        <p:txBody>
          <a:bodyPr lIns="0" tIns="0" rIns="0" bIns="0" rtlCol="0" anchor="t">
            <a:spAutoFit/>
          </a:bodyPr>
          <a:lstStyle/>
          <a:p>
            <a:pPr algn="ctr">
              <a:lnSpc>
                <a:spcPts val="1315"/>
              </a:lnSpc>
            </a:pPr>
            <a:r>
              <a:rPr lang="en-US" sz="1100" b="1" dirty="0">
                <a:solidFill>
                  <a:srgbClr val="001C58"/>
                </a:solidFill>
                <a:latin typeface="Arial Narrow" panose="020B0606020202030204" pitchFamily="34" charset="0"/>
                <a:ea typeface="Roboto"/>
                <a:cs typeface="Roboto"/>
                <a:sym typeface="Roboto"/>
              </a:rPr>
              <a:t>Low maintenance and long-term reliability</a:t>
            </a:r>
          </a:p>
        </p:txBody>
      </p:sp>
      <p:sp>
        <p:nvSpPr>
          <p:cNvPr id="74" name="TextBox 74">
            <a:extLst>
              <a:ext uri="{FF2B5EF4-FFF2-40B4-BE49-F238E27FC236}">
                <a16:creationId xmlns:a16="http://schemas.microsoft.com/office/drawing/2014/main" id="{489F6B62-48DC-3152-57DE-8FE160E761BD}"/>
              </a:ext>
            </a:extLst>
          </p:cNvPr>
          <p:cNvSpPr txBox="1"/>
          <p:nvPr/>
        </p:nvSpPr>
        <p:spPr>
          <a:xfrm>
            <a:off x="12593650" y="6920522"/>
            <a:ext cx="987400" cy="390235"/>
          </a:xfrm>
          <a:prstGeom prst="rect">
            <a:avLst/>
          </a:prstGeom>
        </p:spPr>
        <p:txBody>
          <a:bodyPr lIns="0" tIns="0" rIns="0" bIns="0" rtlCol="0" anchor="t">
            <a:spAutoFit/>
          </a:bodyPr>
          <a:lstStyle/>
          <a:p>
            <a:pPr algn="ctr">
              <a:lnSpc>
                <a:spcPts val="1570"/>
              </a:lnSpc>
            </a:pPr>
            <a:r>
              <a:rPr lang="en-US" sz="1100" b="1" dirty="0">
                <a:solidFill>
                  <a:srgbClr val="001C58"/>
                </a:solidFill>
                <a:latin typeface="Arial Narrow" panose="020B0606020202030204" pitchFamily="34" charset="0"/>
                <a:ea typeface="Roboto"/>
                <a:cs typeface="Roboto"/>
                <a:sym typeface="Roboto"/>
              </a:rPr>
              <a:t>Cloud services with high uptime</a:t>
            </a:r>
          </a:p>
        </p:txBody>
      </p:sp>
      <p:sp>
        <p:nvSpPr>
          <p:cNvPr id="75" name="TextBox 75">
            <a:extLst>
              <a:ext uri="{FF2B5EF4-FFF2-40B4-BE49-F238E27FC236}">
                <a16:creationId xmlns:a16="http://schemas.microsoft.com/office/drawing/2014/main" id="{CD3321D0-7937-DC66-05BA-655C0AA90FAF}"/>
              </a:ext>
            </a:extLst>
          </p:cNvPr>
          <p:cNvSpPr txBox="1"/>
          <p:nvPr/>
        </p:nvSpPr>
        <p:spPr>
          <a:xfrm>
            <a:off x="14050203" y="6844533"/>
            <a:ext cx="987400" cy="500137"/>
          </a:xfrm>
          <a:prstGeom prst="rect">
            <a:avLst/>
          </a:prstGeom>
        </p:spPr>
        <p:txBody>
          <a:bodyPr lIns="0" tIns="0" rIns="0" bIns="0" rtlCol="0" anchor="t">
            <a:spAutoFit/>
          </a:bodyPr>
          <a:lstStyle/>
          <a:p>
            <a:pPr algn="ctr">
              <a:lnSpc>
                <a:spcPts val="1273"/>
              </a:lnSpc>
            </a:pPr>
            <a:r>
              <a:rPr lang="en-US" sz="1100" b="1" dirty="0">
                <a:solidFill>
                  <a:srgbClr val="001C58"/>
                </a:solidFill>
                <a:latin typeface="Arial Narrow" panose="020B0606020202030204" pitchFamily="34" charset="0"/>
                <a:ea typeface="Roboto"/>
                <a:cs typeface="Roboto"/>
                <a:sym typeface="Roboto"/>
              </a:rPr>
              <a:t>Regular updates and community support</a:t>
            </a:r>
          </a:p>
        </p:txBody>
      </p:sp>
      <p:sp>
        <p:nvSpPr>
          <p:cNvPr id="77" name="Freeform 27">
            <a:extLst>
              <a:ext uri="{FF2B5EF4-FFF2-40B4-BE49-F238E27FC236}">
                <a16:creationId xmlns:a16="http://schemas.microsoft.com/office/drawing/2014/main" id="{2918A8DD-6F7E-56A6-6C38-9253C496EB30}"/>
              </a:ext>
            </a:extLst>
          </p:cNvPr>
          <p:cNvSpPr/>
          <p:nvPr/>
        </p:nvSpPr>
        <p:spPr>
          <a:xfrm>
            <a:off x="8437291" y="3323539"/>
            <a:ext cx="815522" cy="1231106"/>
          </a:xfrm>
          <a:custGeom>
            <a:avLst/>
            <a:gdLst/>
            <a:ahLst/>
            <a:cxnLst/>
            <a:rect l="l" t="t" r="r" b="b"/>
            <a:pathLst>
              <a:path w="1343025" h="2619375">
                <a:moveTo>
                  <a:pt x="0" y="0"/>
                </a:moveTo>
                <a:lnTo>
                  <a:pt x="1343025" y="0"/>
                </a:lnTo>
                <a:lnTo>
                  <a:pt x="1343025" y="2619375"/>
                </a:lnTo>
                <a:lnTo>
                  <a:pt x="0" y="2619375"/>
                </a:lnTo>
                <a:lnTo>
                  <a:pt x="0" y="0"/>
                </a:lnTo>
                <a:close/>
              </a:path>
            </a:pathLst>
          </a:custGeom>
          <a:blipFill>
            <a:blip r:embed="rId31"/>
            <a:stretch>
              <a:fillRect/>
            </a:stretch>
          </a:blipFill>
        </p:spPr>
      </p:sp>
      <p:pic>
        <p:nvPicPr>
          <p:cNvPr id="79" name="Picture 78">
            <a:extLst>
              <a:ext uri="{FF2B5EF4-FFF2-40B4-BE49-F238E27FC236}">
                <a16:creationId xmlns:a16="http://schemas.microsoft.com/office/drawing/2014/main" id="{7F63AB7D-9B35-39B9-393C-49626381722A}"/>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9739890" y="3335258"/>
            <a:ext cx="1080923" cy="1080923"/>
          </a:xfrm>
          <a:prstGeom prst="rect">
            <a:avLst/>
          </a:prstGeom>
        </p:spPr>
      </p:pic>
      <p:pic>
        <p:nvPicPr>
          <p:cNvPr id="81" name="Picture 80">
            <a:extLst>
              <a:ext uri="{FF2B5EF4-FFF2-40B4-BE49-F238E27FC236}">
                <a16:creationId xmlns:a16="http://schemas.microsoft.com/office/drawing/2014/main" id="{AD071CF2-FE6F-D836-6323-565DB0325F6F}"/>
              </a:ext>
            </a:extLst>
          </p:cNvPr>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11301798" y="3323120"/>
            <a:ext cx="1080923" cy="1080923"/>
          </a:xfrm>
          <a:prstGeom prst="rect">
            <a:avLst/>
          </a:prstGeom>
        </p:spPr>
      </p:pic>
      <p:sp>
        <p:nvSpPr>
          <p:cNvPr id="83" name="Freeform 41">
            <a:extLst>
              <a:ext uri="{FF2B5EF4-FFF2-40B4-BE49-F238E27FC236}">
                <a16:creationId xmlns:a16="http://schemas.microsoft.com/office/drawing/2014/main" id="{F1301BE1-347B-8E58-6431-3C709A620B98}"/>
              </a:ext>
            </a:extLst>
          </p:cNvPr>
          <p:cNvSpPr/>
          <p:nvPr/>
        </p:nvSpPr>
        <p:spPr>
          <a:xfrm>
            <a:off x="12711223" y="3451941"/>
            <a:ext cx="962025" cy="752475"/>
          </a:xfrm>
          <a:custGeom>
            <a:avLst/>
            <a:gdLst/>
            <a:ahLst/>
            <a:cxnLst/>
            <a:rect l="l" t="t" r="r" b="b"/>
            <a:pathLst>
              <a:path w="962025" h="752475">
                <a:moveTo>
                  <a:pt x="0" y="0"/>
                </a:moveTo>
                <a:lnTo>
                  <a:pt x="962025" y="0"/>
                </a:lnTo>
                <a:lnTo>
                  <a:pt x="962025" y="752475"/>
                </a:lnTo>
                <a:lnTo>
                  <a:pt x="0" y="752475"/>
                </a:lnTo>
                <a:lnTo>
                  <a:pt x="0" y="0"/>
                </a:lnTo>
                <a:close/>
              </a:path>
            </a:pathLst>
          </a:custGeom>
          <a:blipFill>
            <a:blip r:embed="rId34"/>
            <a:stretch>
              <a:fillRect/>
            </a:stretch>
          </a:blipFill>
        </p:spPr>
      </p:sp>
      <p:sp>
        <p:nvSpPr>
          <p:cNvPr id="87" name="Freeform 21">
            <a:extLst>
              <a:ext uri="{FF2B5EF4-FFF2-40B4-BE49-F238E27FC236}">
                <a16:creationId xmlns:a16="http://schemas.microsoft.com/office/drawing/2014/main" id="{0B20530B-5B4B-6255-4E0A-79F645DC6A4B}"/>
              </a:ext>
            </a:extLst>
          </p:cNvPr>
          <p:cNvSpPr/>
          <p:nvPr/>
        </p:nvSpPr>
        <p:spPr>
          <a:xfrm>
            <a:off x="14133987" y="3542503"/>
            <a:ext cx="962025" cy="571500"/>
          </a:xfrm>
          <a:custGeom>
            <a:avLst/>
            <a:gdLst/>
            <a:ahLst/>
            <a:cxnLst/>
            <a:rect l="l" t="t" r="r" b="b"/>
            <a:pathLst>
              <a:path w="962025" h="571500">
                <a:moveTo>
                  <a:pt x="0" y="0"/>
                </a:moveTo>
                <a:lnTo>
                  <a:pt x="962025" y="0"/>
                </a:lnTo>
                <a:lnTo>
                  <a:pt x="962025" y="571500"/>
                </a:lnTo>
                <a:lnTo>
                  <a:pt x="0" y="571500"/>
                </a:lnTo>
                <a:lnTo>
                  <a:pt x="0" y="0"/>
                </a:lnTo>
                <a:close/>
              </a:path>
            </a:pathLst>
          </a:custGeom>
          <a:blipFill>
            <a:blip r:embed="rId35"/>
            <a:stretch>
              <a:fillRect/>
            </a:stretch>
          </a:blipFill>
        </p:spPr>
      </p:sp>
      <p:pic>
        <p:nvPicPr>
          <p:cNvPr id="89" name="Picture 88">
            <a:extLst>
              <a:ext uri="{FF2B5EF4-FFF2-40B4-BE49-F238E27FC236}">
                <a16:creationId xmlns:a16="http://schemas.microsoft.com/office/drawing/2014/main" id="{4048E11C-AA34-7984-1375-C895DA964393}"/>
              </a:ext>
            </a:extLst>
          </p:cNvPr>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8341471" y="6065230"/>
            <a:ext cx="882788" cy="882788"/>
          </a:xfrm>
          <a:prstGeom prst="rect">
            <a:avLst/>
          </a:prstGeom>
        </p:spPr>
      </p:pic>
      <p:pic>
        <p:nvPicPr>
          <p:cNvPr id="91" name="Picture 90">
            <a:extLst>
              <a:ext uri="{FF2B5EF4-FFF2-40B4-BE49-F238E27FC236}">
                <a16:creationId xmlns:a16="http://schemas.microsoft.com/office/drawing/2014/main" id="{C23B3149-26F3-B3E4-A89C-092D4B1BB689}"/>
              </a:ext>
            </a:extLst>
          </p:cNvPr>
          <p:cNvPicPr>
            <a:picLocks noChangeAspect="1"/>
          </p:cNvPicPr>
          <p:nvPr/>
        </p:nvPicPr>
        <p:blipFill>
          <a:blip r:embed="rId37" cstate="print">
            <a:extLst>
              <a:ext uri="{28A0092B-C50C-407E-A947-70E740481C1C}">
                <a14:useLocalDpi xmlns:a14="http://schemas.microsoft.com/office/drawing/2010/main" val="0"/>
              </a:ext>
            </a:extLst>
          </a:blip>
          <a:stretch>
            <a:fillRect/>
          </a:stretch>
        </p:blipFill>
        <p:spPr>
          <a:xfrm>
            <a:off x="11428631" y="6147288"/>
            <a:ext cx="767862" cy="767862"/>
          </a:xfrm>
          <a:prstGeom prst="rect">
            <a:avLst/>
          </a:prstGeom>
        </p:spPr>
      </p:pic>
      <p:pic>
        <p:nvPicPr>
          <p:cNvPr id="93" name="Picture 92">
            <a:extLst>
              <a:ext uri="{FF2B5EF4-FFF2-40B4-BE49-F238E27FC236}">
                <a16:creationId xmlns:a16="http://schemas.microsoft.com/office/drawing/2014/main" id="{22A374FA-915C-5DA2-E2EB-4A7F5D2468C8}"/>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12423139" y="6003213"/>
            <a:ext cx="1080923" cy="1080923"/>
          </a:xfrm>
          <a:prstGeom prst="rect">
            <a:avLst/>
          </a:prstGeom>
        </p:spPr>
      </p:pic>
      <p:pic>
        <p:nvPicPr>
          <p:cNvPr id="95" name="Picture 94">
            <a:extLst>
              <a:ext uri="{FF2B5EF4-FFF2-40B4-BE49-F238E27FC236}">
                <a16:creationId xmlns:a16="http://schemas.microsoft.com/office/drawing/2014/main" id="{6E20D1EF-E443-1058-7F2D-F1A18B8D2C65}"/>
              </a:ext>
            </a:extLst>
          </p:cNvPr>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14025863" y="6082855"/>
            <a:ext cx="795037" cy="795037"/>
          </a:xfrm>
          <a:prstGeom prst="rect">
            <a:avLst/>
          </a:prstGeom>
        </p:spPr>
      </p:pic>
      <p:pic>
        <p:nvPicPr>
          <p:cNvPr id="97" name="Picture 96">
            <a:extLst>
              <a:ext uri="{FF2B5EF4-FFF2-40B4-BE49-F238E27FC236}">
                <a16:creationId xmlns:a16="http://schemas.microsoft.com/office/drawing/2014/main" id="{6A008180-D1A7-7314-2169-222796A8F60F}"/>
              </a:ext>
            </a:extLst>
          </p:cNvPr>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10045184" y="6030600"/>
            <a:ext cx="882788" cy="882788"/>
          </a:xfrm>
          <a:prstGeom prst="rect">
            <a:avLst/>
          </a:prstGeom>
        </p:spPr>
      </p:pic>
    </p:spTree>
    <p:extLst>
      <p:ext uri="{BB962C8B-B14F-4D97-AF65-F5344CB8AC3E}">
        <p14:creationId xmlns:p14="http://schemas.microsoft.com/office/powerpoint/2010/main" val="3058909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0"/>
            <a:ext cx="2466975" cy="1876425"/>
          </a:xfrm>
          <a:custGeom>
            <a:avLst/>
            <a:gdLst/>
            <a:ahLst/>
            <a:cxnLst/>
            <a:rect l="l" t="t" r="r" b="b"/>
            <a:pathLst>
              <a:path w="2466975" h="1876425">
                <a:moveTo>
                  <a:pt x="0" y="0"/>
                </a:moveTo>
                <a:lnTo>
                  <a:pt x="2466975" y="0"/>
                </a:lnTo>
                <a:lnTo>
                  <a:pt x="2466975" y="1876425"/>
                </a:lnTo>
                <a:lnTo>
                  <a:pt x="0" y="1876425"/>
                </a:lnTo>
                <a:lnTo>
                  <a:pt x="0" y="0"/>
                </a:lnTo>
                <a:close/>
              </a:path>
            </a:pathLst>
          </a:custGeom>
          <a:blipFill>
            <a:blip r:embed="rId2"/>
            <a:stretch>
              <a:fillRect/>
            </a:stretch>
          </a:blipFill>
        </p:spPr>
      </p:sp>
      <p:sp>
        <p:nvSpPr>
          <p:cNvPr id="4" name="Freeform 4"/>
          <p:cNvSpPr/>
          <p:nvPr/>
        </p:nvSpPr>
        <p:spPr>
          <a:xfrm>
            <a:off x="180975" y="180975"/>
            <a:ext cx="771525" cy="762000"/>
          </a:xfrm>
          <a:custGeom>
            <a:avLst/>
            <a:gdLst/>
            <a:ahLst/>
            <a:cxnLst/>
            <a:rect l="l" t="t" r="r" b="b"/>
            <a:pathLst>
              <a:path w="771525" h="762000">
                <a:moveTo>
                  <a:pt x="0" y="0"/>
                </a:moveTo>
                <a:lnTo>
                  <a:pt x="771525" y="0"/>
                </a:lnTo>
                <a:lnTo>
                  <a:pt x="771525" y="762000"/>
                </a:lnTo>
                <a:lnTo>
                  <a:pt x="0" y="762000"/>
                </a:lnTo>
                <a:lnTo>
                  <a:pt x="0" y="0"/>
                </a:lnTo>
                <a:close/>
              </a:path>
            </a:pathLst>
          </a:custGeom>
          <a:blipFill>
            <a:blip r:embed="rId3"/>
            <a:stretch>
              <a:fillRect/>
            </a:stretch>
          </a:blipFill>
        </p:spPr>
      </p:sp>
      <p:sp>
        <p:nvSpPr>
          <p:cNvPr id="5" name="TextBox 5"/>
          <p:cNvSpPr txBox="1"/>
          <p:nvPr/>
        </p:nvSpPr>
        <p:spPr>
          <a:xfrm>
            <a:off x="3662934" y="47166"/>
            <a:ext cx="8695487" cy="885981"/>
          </a:xfrm>
          <a:prstGeom prst="rect">
            <a:avLst/>
          </a:prstGeom>
        </p:spPr>
        <p:txBody>
          <a:bodyPr lIns="0" tIns="0" rIns="0" bIns="0" rtlCol="0" anchor="t">
            <a:spAutoFit/>
          </a:bodyPr>
          <a:lstStyle/>
          <a:p>
            <a:pPr algn="ctr">
              <a:lnSpc>
                <a:spcPts val="7341"/>
              </a:lnSpc>
            </a:pPr>
            <a:r>
              <a:rPr lang="en-US" sz="5243" b="1">
                <a:solidFill>
                  <a:srgbClr val="001C69"/>
                </a:solidFill>
                <a:latin typeface="+mj-lt"/>
                <a:ea typeface="Nourd Semi-Bold"/>
                <a:cs typeface="Nourd Semi-Bold"/>
                <a:sym typeface="Nourd Semi-Bold"/>
              </a:rPr>
              <a:t>RESEARCH &amp; </a:t>
            </a:r>
            <a:r>
              <a:rPr lang="en-US" sz="5243" b="1">
                <a:solidFill>
                  <a:srgbClr val="008F78"/>
                </a:solidFill>
                <a:latin typeface="+mj-lt"/>
                <a:ea typeface="Nourd Semi-Bold"/>
                <a:cs typeface="Nourd Semi-Bold"/>
                <a:sym typeface="Nourd Semi-Bold"/>
              </a:rPr>
              <a:t>REFERENCES</a:t>
            </a:r>
          </a:p>
        </p:txBody>
      </p:sp>
      <p:sp>
        <p:nvSpPr>
          <p:cNvPr id="6" name="TextBox 6"/>
          <p:cNvSpPr txBox="1"/>
          <p:nvPr/>
        </p:nvSpPr>
        <p:spPr>
          <a:xfrm>
            <a:off x="4698111" y="997113"/>
            <a:ext cx="6529578" cy="288349"/>
          </a:xfrm>
          <a:prstGeom prst="rect">
            <a:avLst/>
          </a:prstGeom>
        </p:spPr>
        <p:txBody>
          <a:bodyPr lIns="0" tIns="0" rIns="0" bIns="0" rtlCol="0" anchor="t">
            <a:spAutoFit/>
          </a:bodyPr>
          <a:lstStyle/>
          <a:p>
            <a:pPr algn="ctr">
              <a:lnSpc>
                <a:spcPts val="2378"/>
              </a:lnSpc>
            </a:pPr>
            <a:r>
              <a:rPr lang="en-US" sz="1698" b="1">
                <a:solidFill>
                  <a:srgbClr val="004AAD"/>
                </a:solidFill>
                <a:latin typeface="+mj-lt"/>
                <a:ea typeface="Nourd Semi-Bold"/>
                <a:cs typeface="Nourd Semi-Bold"/>
                <a:sym typeface="Nourd Semi-Bold"/>
              </a:rPr>
              <a:t>Building on Existing Research. Delivering Real-World Impact.</a:t>
            </a:r>
          </a:p>
        </p:txBody>
      </p:sp>
      <p:sp>
        <p:nvSpPr>
          <p:cNvPr id="7" name="Freeform 7"/>
          <p:cNvSpPr/>
          <p:nvPr/>
        </p:nvSpPr>
        <p:spPr>
          <a:xfrm>
            <a:off x="4543425" y="1114425"/>
            <a:ext cx="6838950" cy="571500"/>
          </a:xfrm>
          <a:custGeom>
            <a:avLst/>
            <a:gdLst/>
            <a:ahLst/>
            <a:cxnLst/>
            <a:rect l="l" t="t" r="r" b="b"/>
            <a:pathLst>
              <a:path w="6838950" h="571500">
                <a:moveTo>
                  <a:pt x="0" y="0"/>
                </a:moveTo>
                <a:lnTo>
                  <a:pt x="6838950" y="0"/>
                </a:lnTo>
                <a:lnTo>
                  <a:pt x="6838950" y="571500"/>
                </a:lnTo>
                <a:lnTo>
                  <a:pt x="0" y="571500"/>
                </a:lnTo>
                <a:lnTo>
                  <a:pt x="0" y="0"/>
                </a:lnTo>
                <a:close/>
              </a:path>
            </a:pathLst>
          </a:custGeom>
          <a:blipFill>
            <a:blip r:embed="rId4"/>
            <a:stretch>
              <a:fillRect/>
            </a:stretch>
          </a:blipFill>
        </p:spPr>
      </p:sp>
      <p:sp>
        <p:nvSpPr>
          <p:cNvPr id="8" name="Freeform 8"/>
          <p:cNvSpPr/>
          <p:nvPr/>
        </p:nvSpPr>
        <p:spPr>
          <a:xfrm>
            <a:off x="13839825" y="180975"/>
            <a:ext cx="1905000" cy="942975"/>
          </a:xfrm>
          <a:custGeom>
            <a:avLst/>
            <a:gdLst/>
            <a:ahLst/>
            <a:cxnLst/>
            <a:rect l="l" t="t" r="r" b="b"/>
            <a:pathLst>
              <a:path w="1905000" h="942975">
                <a:moveTo>
                  <a:pt x="0" y="0"/>
                </a:moveTo>
                <a:lnTo>
                  <a:pt x="1905000" y="0"/>
                </a:lnTo>
                <a:lnTo>
                  <a:pt x="1905000" y="942975"/>
                </a:lnTo>
                <a:lnTo>
                  <a:pt x="0" y="942975"/>
                </a:lnTo>
                <a:lnTo>
                  <a:pt x="0" y="0"/>
                </a:lnTo>
                <a:close/>
              </a:path>
            </a:pathLst>
          </a:custGeom>
          <a:blipFill>
            <a:blip r:embed="rId5"/>
            <a:stretch>
              <a:fillRect/>
            </a:stretch>
          </a:blipFill>
        </p:spPr>
      </p:sp>
      <p:sp>
        <p:nvSpPr>
          <p:cNvPr id="9" name="Freeform 9"/>
          <p:cNvSpPr/>
          <p:nvPr/>
        </p:nvSpPr>
        <p:spPr>
          <a:xfrm>
            <a:off x="561975" y="1676400"/>
            <a:ext cx="6267450" cy="6172200"/>
          </a:xfrm>
          <a:custGeom>
            <a:avLst/>
            <a:gdLst/>
            <a:ahLst/>
            <a:cxnLst/>
            <a:rect l="l" t="t" r="r" b="b"/>
            <a:pathLst>
              <a:path w="6267450" h="6172200">
                <a:moveTo>
                  <a:pt x="0" y="0"/>
                </a:moveTo>
                <a:lnTo>
                  <a:pt x="6267450" y="0"/>
                </a:lnTo>
                <a:lnTo>
                  <a:pt x="6267450" y="6172200"/>
                </a:lnTo>
                <a:lnTo>
                  <a:pt x="0" y="6172200"/>
                </a:lnTo>
                <a:lnTo>
                  <a:pt x="0" y="0"/>
                </a:lnTo>
                <a:close/>
              </a:path>
            </a:pathLst>
          </a:custGeom>
          <a:blipFill>
            <a:blip r:embed="rId6"/>
            <a:stretch>
              <a:fillRect/>
            </a:stretch>
          </a:blipFill>
        </p:spPr>
      </p:sp>
      <p:sp>
        <p:nvSpPr>
          <p:cNvPr id="10" name="Freeform 10"/>
          <p:cNvSpPr/>
          <p:nvPr/>
        </p:nvSpPr>
        <p:spPr>
          <a:xfrm>
            <a:off x="942975" y="1304925"/>
            <a:ext cx="771525" cy="942975"/>
          </a:xfrm>
          <a:custGeom>
            <a:avLst/>
            <a:gdLst/>
            <a:ahLst/>
            <a:cxnLst/>
            <a:rect l="l" t="t" r="r" b="b"/>
            <a:pathLst>
              <a:path w="771525" h="942975">
                <a:moveTo>
                  <a:pt x="0" y="0"/>
                </a:moveTo>
                <a:lnTo>
                  <a:pt x="771525" y="0"/>
                </a:lnTo>
                <a:lnTo>
                  <a:pt x="771525" y="942975"/>
                </a:lnTo>
                <a:lnTo>
                  <a:pt x="0" y="942975"/>
                </a:lnTo>
                <a:lnTo>
                  <a:pt x="0" y="0"/>
                </a:lnTo>
                <a:close/>
              </a:path>
            </a:pathLst>
          </a:custGeom>
          <a:blipFill>
            <a:blip r:embed="rId7"/>
            <a:stretch>
              <a:fillRect/>
            </a:stretch>
          </a:blipFill>
        </p:spPr>
      </p:sp>
      <p:sp>
        <p:nvSpPr>
          <p:cNvPr id="11" name="Freeform 11"/>
          <p:cNvSpPr/>
          <p:nvPr/>
        </p:nvSpPr>
        <p:spPr>
          <a:xfrm>
            <a:off x="1133475" y="1485900"/>
            <a:ext cx="581025" cy="571500"/>
          </a:xfrm>
          <a:custGeom>
            <a:avLst/>
            <a:gdLst/>
            <a:ahLst/>
            <a:cxnLst/>
            <a:rect l="l" t="t" r="r" b="b"/>
            <a:pathLst>
              <a:path w="581025" h="571500">
                <a:moveTo>
                  <a:pt x="0" y="0"/>
                </a:moveTo>
                <a:lnTo>
                  <a:pt x="581025" y="0"/>
                </a:lnTo>
                <a:lnTo>
                  <a:pt x="581025" y="571500"/>
                </a:lnTo>
                <a:lnTo>
                  <a:pt x="0" y="571500"/>
                </a:lnTo>
                <a:lnTo>
                  <a:pt x="0" y="0"/>
                </a:lnTo>
                <a:close/>
              </a:path>
            </a:pathLst>
          </a:custGeom>
          <a:blipFill>
            <a:blip r:embed="rId8"/>
            <a:stretch>
              <a:fillRect/>
            </a:stretch>
          </a:blipFill>
        </p:spPr>
      </p:sp>
      <p:sp>
        <p:nvSpPr>
          <p:cNvPr id="12" name="Freeform 12"/>
          <p:cNvSpPr/>
          <p:nvPr/>
        </p:nvSpPr>
        <p:spPr>
          <a:xfrm>
            <a:off x="1514475" y="1485900"/>
            <a:ext cx="3228975" cy="571500"/>
          </a:xfrm>
          <a:custGeom>
            <a:avLst/>
            <a:gdLst/>
            <a:ahLst/>
            <a:cxnLst/>
            <a:rect l="l" t="t" r="r" b="b"/>
            <a:pathLst>
              <a:path w="3228975" h="571500">
                <a:moveTo>
                  <a:pt x="0" y="0"/>
                </a:moveTo>
                <a:lnTo>
                  <a:pt x="3228975" y="0"/>
                </a:lnTo>
                <a:lnTo>
                  <a:pt x="3228975" y="571500"/>
                </a:lnTo>
                <a:lnTo>
                  <a:pt x="0" y="571500"/>
                </a:lnTo>
                <a:lnTo>
                  <a:pt x="0" y="0"/>
                </a:lnTo>
                <a:close/>
              </a:path>
            </a:pathLst>
          </a:custGeom>
          <a:blipFill>
            <a:blip r:embed="rId9"/>
            <a:stretch>
              <a:fillRect/>
            </a:stretch>
          </a:blipFill>
        </p:spPr>
      </p:sp>
      <p:sp>
        <p:nvSpPr>
          <p:cNvPr id="13" name="TextBox 13"/>
          <p:cNvSpPr txBox="1"/>
          <p:nvPr/>
        </p:nvSpPr>
        <p:spPr>
          <a:xfrm>
            <a:off x="1863319" y="1645355"/>
            <a:ext cx="2468499" cy="252249"/>
          </a:xfrm>
          <a:prstGeom prst="rect">
            <a:avLst/>
          </a:prstGeom>
        </p:spPr>
        <p:txBody>
          <a:bodyPr lIns="0" tIns="0" rIns="0" bIns="0" rtlCol="0" anchor="t">
            <a:spAutoFit/>
          </a:bodyPr>
          <a:lstStyle/>
          <a:p>
            <a:pPr algn="l">
              <a:lnSpc>
                <a:spcPts val="2080"/>
              </a:lnSpc>
            </a:pPr>
            <a:r>
              <a:rPr lang="en-US" sz="1486" b="1">
                <a:solidFill>
                  <a:srgbClr val="FFFFFF"/>
                </a:solidFill>
                <a:latin typeface="+mj-lt"/>
                <a:ea typeface="Nourd Semi-Bold"/>
                <a:cs typeface="Nourd Semi-Bold"/>
                <a:sym typeface="Nourd Semi-Bold"/>
              </a:rPr>
              <a:t>BACKGROUND RESEARCH</a:t>
            </a:r>
          </a:p>
        </p:txBody>
      </p:sp>
      <p:sp>
        <p:nvSpPr>
          <p:cNvPr id="14" name="TextBox 14"/>
          <p:cNvSpPr txBox="1"/>
          <p:nvPr/>
        </p:nvSpPr>
        <p:spPr>
          <a:xfrm>
            <a:off x="1688135" y="2070375"/>
            <a:ext cx="4268114" cy="599003"/>
          </a:xfrm>
          <a:prstGeom prst="rect">
            <a:avLst/>
          </a:prstGeom>
        </p:spPr>
        <p:txBody>
          <a:bodyPr lIns="0" tIns="0" rIns="0" bIns="0" rtlCol="0" anchor="t">
            <a:spAutoFit/>
          </a:bodyPr>
          <a:lstStyle/>
          <a:p>
            <a:pPr algn="l">
              <a:lnSpc>
                <a:spcPts val="1634"/>
              </a:lnSpc>
            </a:pPr>
            <a:r>
              <a:rPr lang="en-US" sz="1167">
                <a:solidFill>
                  <a:srgbClr val="001C69"/>
                </a:solidFill>
                <a:latin typeface="+mj-lt"/>
                <a:ea typeface="Nourd"/>
                <a:cs typeface="Nourd"/>
                <a:sym typeface="Nourd"/>
              </a:rPr>
              <a:t>Extensive research in IoT, wearable sensors, cloud computing, and health informatics has enabled the development of robust and scalable remote patient monitoring systems.</a:t>
            </a:r>
          </a:p>
        </p:txBody>
      </p:sp>
      <p:sp>
        <p:nvSpPr>
          <p:cNvPr id="15" name="Freeform 15"/>
          <p:cNvSpPr/>
          <p:nvPr/>
        </p:nvSpPr>
        <p:spPr>
          <a:xfrm>
            <a:off x="752475" y="2609850"/>
            <a:ext cx="5505450" cy="1133475"/>
          </a:xfrm>
          <a:custGeom>
            <a:avLst/>
            <a:gdLst/>
            <a:ahLst/>
            <a:cxnLst/>
            <a:rect l="l" t="t" r="r" b="b"/>
            <a:pathLst>
              <a:path w="5505450" h="1133475">
                <a:moveTo>
                  <a:pt x="0" y="0"/>
                </a:moveTo>
                <a:lnTo>
                  <a:pt x="5505450" y="0"/>
                </a:lnTo>
                <a:lnTo>
                  <a:pt x="5505450" y="1133475"/>
                </a:lnTo>
                <a:lnTo>
                  <a:pt x="0" y="1133475"/>
                </a:lnTo>
                <a:lnTo>
                  <a:pt x="0" y="0"/>
                </a:lnTo>
                <a:close/>
              </a:path>
            </a:pathLst>
          </a:custGeom>
          <a:blipFill>
            <a:blip r:embed="rId10"/>
            <a:stretch>
              <a:fillRect/>
            </a:stretch>
          </a:blipFill>
        </p:spPr>
      </p:sp>
      <p:sp>
        <p:nvSpPr>
          <p:cNvPr id="16" name="Freeform 16"/>
          <p:cNvSpPr/>
          <p:nvPr/>
        </p:nvSpPr>
        <p:spPr>
          <a:xfrm>
            <a:off x="942975" y="2800350"/>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11"/>
            <a:stretch>
              <a:fillRect/>
            </a:stretch>
          </a:blipFill>
        </p:spPr>
      </p:sp>
      <p:sp>
        <p:nvSpPr>
          <p:cNvPr id="17" name="Freeform 17"/>
          <p:cNvSpPr/>
          <p:nvPr/>
        </p:nvSpPr>
        <p:spPr>
          <a:xfrm>
            <a:off x="1895475" y="2800350"/>
            <a:ext cx="190500" cy="942975"/>
          </a:xfrm>
          <a:custGeom>
            <a:avLst/>
            <a:gdLst/>
            <a:ahLst/>
            <a:cxnLst/>
            <a:rect l="l" t="t" r="r" b="b"/>
            <a:pathLst>
              <a:path w="190500" h="942975">
                <a:moveTo>
                  <a:pt x="0" y="0"/>
                </a:moveTo>
                <a:lnTo>
                  <a:pt x="190500" y="0"/>
                </a:lnTo>
                <a:lnTo>
                  <a:pt x="190500" y="942975"/>
                </a:lnTo>
                <a:lnTo>
                  <a:pt x="0" y="942975"/>
                </a:lnTo>
                <a:lnTo>
                  <a:pt x="0" y="0"/>
                </a:lnTo>
                <a:close/>
              </a:path>
            </a:pathLst>
          </a:custGeom>
          <a:blipFill>
            <a:blip r:embed="rId12"/>
            <a:stretch>
              <a:fillRect/>
            </a:stretch>
          </a:blipFill>
        </p:spPr>
      </p:sp>
      <p:sp>
        <p:nvSpPr>
          <p:cNvPr id="18" name="TextBox 18"/>
          <p:cNvSpPr txBox="1"/>
          <p:nvPr/>
        </p:nvSpPr>
        <p:spPr>
          <a:xfrm>
            <a:off x="2213686" y="3255675"/>
            <a:ext cx="3920414" cy="329514"/>
          </a:xfrm>
          <a:prstGeom prst="rect">
            <a:avLst/>
          </a:prstGeom>
        </p:spPr>
        <p:txBody>
          <a:bodyPr wrap="square" lIns="0" tIns="0" rIns="0" bIns="0" rtlCol="0" anchor="t">
            <a:spAutoFit/>
          </a:bodyPr>
          <a:lstStyle/>
          <a:p>
            <a:pPr algn="l">
              <a:lnSpc>
                <a:spcPts val="848"/>
              </a:lnSpc>
            </a:pPr>
            <a:r>
              <a:rPr lang="en-US" sz="1200" dirty="0">
                <a:solidFill>
                  <a:srgbClr val="001C69"/>
                </a:solidFill>
                <a:latin typeface="+mj-lt"/>
                <a:ea typeface="Nourd"/>
                <a:cs typeface="Nourd"/>
                <a:sym typeface="Nourd"/>
              </a:rPr>
              <a:t>IoT technologies enable continuous health monitoring and real-time data transmission, improving patient care and operational efficiency.</a:t>
            </a:r>
          </a:p>
        </p:txBody>
      </p:sp>
      <p:sp>
        <p:nvSpPr>
          <p:cNvPr id="19" name="Freeform 19"/>
          <p:cNvSpPr/>
          <p:nvPr/>
        </p:nvSpPr>
        <p:spPr>
          <a:xfrm>
            <a:off x="752475" y="3733800"/>
            <a:ext cx="5505450" cy="942975"/>
          </a:xfrm>
          <a:custGeom>
            <a:avLst/>
            <a:gdLst/>
            <a:ahLst/>
            <a:cxnLst/>
            <a:rect l="l" t="t" r="r" b="b"/>
            <a:pathLst>
              <a:path w="5505450" h="942975">
                <a:moveTo>
                  <a:pt x="0" y="0"/>
                </a:moveTo>
                <a:lnTo>
                  <a:pt x="5505450" y="0"/>
                </a:lnTo>
                <a:lnTo>
                  <a:pt x="5505450" y="942975"/>
                </a:lnTo>
                <a:lnTo>
                  <a:pt x="0" y="942975"/>
                </a:lnTo>
                <a:lnTo>
                  <a:pt x="0" y="0"/>
                </a:lnTo>
                <a:close/>
              </a:path>
            </a:pathLst>
          </a:custGeom>
          <a:blipFill>
            <a:blip r:embed="rId13"/>
            <a:stretch>
              <a:fillRect/>
            </a:stretch>
          </a:blipFill>
        </p:spPr>
      </p:sp>
      <p:sp>
        <p:nvSpPr>
          <p:cNvPr id="20" name="Freeform 20"/>
          <p:cNvSpPr/>
          <p:nvPr/>
        </p:nvSpPr>
        <p:spPr>
          <a:xfrm>
            <a:off x="942975" y="3733800"/>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14"/>
            <a:stretch>
              <a:fillRect/>
            </a:stretch>
          </a:blipFill>
        </p:spPr>
      </p:sp>
      <p:sp>
        <p:nvSpPr>
          <p:cNvPr id="21" name="Freeform 21"/>
          <p:cNvSpPr/>
          <p:nvPr/>
        </p:nvSpPr>
        <p:spPr>
          <a:xfrm>
            <a:off x="1895475" y="3733800"/>
            <a:ext cx="190500" cy="942975"/>
          </a:xfrm>
          <a:custGeom>
            <a:avLst/>
            <a:gdLst/>
            <a:ahLst/>
            <a:cxnLst/>
            <a:rect l="l" t="t" r="r" b="b"/>
            <a:pathLst>
              <a:path w="190500" h="942975">
                <a:moveTo>
                  <a:pt x="0" y="0"/>
                </a:moveTo>
                <a:lnTo>
                  <a:pt x="190500" y="0"/>
                </a:lnTo>
                <a:lnTo>
                  <a:pt x="190500" y="942975"/>
                </a:lnTo>
                <a:lnTo>
                  <a:pt x="0" y="942975"/>
                </a:lnTo>
                <a:lnTo>
                  <a:pt x="0" y="0"/>
                </a:lnTo>
                <a:close/>
              </a:path>
            </a:pathLst>
          </a:custGeom>
          <a:blipFill>
            <a:blip r:embed="rId15"/>
            <a:stretch>
              <a:fillRect/>
            </a:stretch>
          </a:blipFill>
        </p:spPr>
      </p:sp>
      <p:sp>
        <p:nvSpPr>
          <p:cNvPr id="22" name="TextBox 22"/>
          <p:cNvSpPr txBox="1"/>
          <p:nvPr/>
        </p:nvSpPr>
        <p:spPr>
          <a:xfrm>
            <a:off x="2213686" y="4143404"/>
            <a:ext cx="3503676" cy="389915"/>
          </a:xfrm>
          <a:prstGeom prst="rect">
            <a:avLst/>
          </a:prstGeom>
        </p:spPr>
        <p:txBody>
          <a:bodyPr lIns="0" tIns="0" rIns="0" bIns="0" rtlCol="0" anchor="t">
            <a:spAutoFit/>
          </a:bodyPr>
          <a:lstStyle/>
          <a:p>
            <a:pPr algn="l">
              <a:lnSpc>
                <a:spcPts val="1017"/>
              </a:lnSpc>
            </a:pPr>
            <a:r>
              <a:rPr lang="en-US" sz="1200" dirty="0">
                <a:solidFill>
                  <a:srgbClr val="001C69"/>
                </a:solidFill>
                <a:latin typeface="+mj-lt"/>
                <a:ea typeface="Nourd"/>
                <a:cs typeface="Nourd"/>
                <a:sym typeface="Nourd"/>
              </a:rPr>
              <a:t>Sensors like MAx30100 and DS18B2D provide accurate and non-invasive measurement of vital signs such as heart rate, SpO2, and body temperature.</a:t>
            </a:r>
          </a:p>
        </p:txBody>
      </p:sp>
      <p:sp>
        <p:nvSpPr>
          <p:cNvPr id="23" name="Freeform 23"/>
          <p:cNvSpPr/>
          <p:nvPr/>
        </p:nvSpPr>
        <p:spPr>
          <a:xfrm>
            <a:off x="752475" y="4667250"/>
            <a:ext cx="5505450" cy="942975"/>
          </a:xfrm>
          <a:custGeom>
            <a:avLst/>
            <a:gdLst/>
            <a:ahLst/>
            <a:cxnLst/>
            <a:rect l="l" t="t" r="r" b="b"/>
            <a:pathLst>
              <a:path w="5505450" h="942975">
                <a:moveTo>
                  <a:pt x="0" y="0"/>
                </a:moveTo>
                <a:lnTo>
                  <a:pt x="5505450" y="0"/>
                </a:lnTo>
                <a:lnTo>
                  <a:pt x="5505450" y="942975"/>
                </a:lnTo>
                <a:lnTo>
                  <a:pt x="0" y="942975"/>
                </a:lnTo>
                <a:lnTo>
                  <a:pt x="0" y="0"/>
                </a:lnTo>
                <a:close/>
              </a:path>
            </a:pathLst>
          </a:custGeom>
          <a:blipFill>
            <a:blip r:embed="rId16"/>
            <a:stretch>
              <a:fillRect/>
            </a:stretch>
          </a:blipFill>
        </p:spPr>
      </p:sp>
      <p:sp>
        <p:nvSpPr>
          <p:cNvPr id="24" name="Freeform 24"/>
          <p:cNvSpPr/>
          <p:nvPr/>
        </p:nvSpPr>
        <p:spPr>
          <a:xfrm>
            <a:off x="942975" y="4667250"/>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17"/>
            <a:stretch>
              <a:fillRect/>
            </a:stretch>
          </a:blipFill>
        </p:spPr>
      </p:sp>
      <p:sp>
        <p:nvSpPr>
          <p:cNvPr id="25" name="Freeform 25"/>
          <p:cNvSpPr/>
          <p:nvPr/>
        </p:nvSpPr>
        <p:spPr>
          <a:xfrm>
            <a:off x="1895475" y="4667250"/>
            <a:ext cx="190500" cy="942975"/>
          </a:xfrm>
          <a:custGeom>
            <a:avLst/>
            <a:gdLst/>
            <a:ahLst/>
            <a:cxnLst/>
            <a:rect l="l" t="t" r="r" b="b"/>
            <a:pathLst>
              <a:path w="190500" h="942975">
                <a:moveTo>
                  <a:pt x="0" y="0"/>
                </a:moveTo>
                <a:lnTo>
                  <a:pt x="190500" y="0"/>
                </a:lnTo>
                <a:lnTo>
                  <a:pt x="190500" y="942975"/>
                </a:lnTo>
                <a:lnTo>
                  <a:pt x="0" y="942975"/>
                </a:lnTo>
                <a:lnTo>
                  <a:pt x="0" y="0"/>
                </a:lnTo>
                <a:close/>
              </a:path>
            </a:pathLst>
          </a:custGeom>
          <a:blipFill>
            <a:blip r:embed="rId18"/>
            <a:stretch>
              <a:fillRect/>
            </a:stretch>
          </a:blipFill>
        </p:spPr>
      </p:sp>
      <p:sp>
        <p:nvSpPr>
          <p:cNvPr id="26" name="TextBox 26"/>
          <p:cNvSpPr txBox="1"/>
          <p:nvPr/>
        </p:nvSpPr>
        <p:spPr>
          <a:xfrm>
            <a:off x="2213686" y="5035772"/>
            <a:ext cx="3376270" cy="495300"/>
          </a:xfrm>
          <a:prstGeom prst="rect">
            <a:avLst/>
          </a:prstGeom>
        </p:spPr>
        <p:txBody>
          <a:bodyPr lIns="0" tIns="0" rIns="0" bIns="0" rtlCol="0" anchor="t">
            <a:spAutoFit/>
          </a:bodyPr>
          <a:lstStyle/>
          <a:p>
            <a:pPr algn="l">
              <a:lnSpc>
                <a:spcPts val="1315"/>
              </a:lnSpc>
            </a:pPr>
            <a:r>
              <a:rPr lang="en-US" sz="1200" dirty="0">
                <a:solidFill>
                  <a:srgbClr val="001C69"/>
                </a:solidFill>
                <a:latin typeface="+mj-lt"/>
                <a:ea typeface="Nourd"/>
                <a:cs typeface="Nourd"/>
                <a:sym typeface="Nourd"/>
              </a:rPr>
              <a:t>Cloud platforms (Firebase/Blynk/AWS) ensure secure data storage, real-time synchronization, and seamless access from anywhere.</a:t>
            </a:r>
          </a:p>
        </p:txBody>
      </p:sp>
      <p:sp>
        <p:nvSpPr>
          <p:cNvPr id="27" name="Freeform 27"/>
          <p:cNvSpPr/>
          <p:nvPr/>
        </p:nvSpPr>
        <p:spPr>
          <a:xfrm>
            <a:off x="752475" y="5600700"/>
            <a:ext cx="5505450" cy="942975"/>
          </a:xfrm>
          <a:custGeom>
            <a:avLst/>
            <a:gdLst/>
            <a:ahLst/>
            <a:cxnLst/>
            <a:rect l="l" t="t" r="r" b="b"/>
            <a:pathLst>
              <a:path w="5505450" h="942975">
                <a:moveTo>
                  <a:pt x="0" y="0"/>
                </a:moveTo>
                <a:lnTo>
                  <a:pt x="5505450" y="0"/>
                </a:lnTo>
                <a:lnTo>
                  <a:pt x="5505450" y="942975"/>
                </a:lnTo>
                <a:lnTo>
                  <a:pt x="0" y="942975"/>
                </a:lnTo>
                <a:lnTo>
                  <a:pt x="0" y="0"/>
                </a:lnTo>
                <a:close/>
              </a:path>
            </a:pathLst>
          </a:custGeom>
          <a:blipFill>
            <a:blip r:embed="rId19"/>
            <a:stretch>
              <a:fillRect/>
            </a:stretch>
          </a:blipFill>
        </p:spPr>
      </p:sp>
      <p:sp>
        <p:nvSpPr>
          <p:cNvPr id="28" name="Freeform 28"/>
          <p:cNvSpPr/>
          <p:nvPr/>
        </p:nvSpPr>
        <p:spPr>
          <a:xfrm>
            <a:off x="942975" y="5600700"/>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20"/>
            <a:stretch>
              <a:fillRect/>
            </a:stretch>
          </a:blipFill>
        </p:spPr>
      </p:sp>
      <p:sp>
        <p:nvSpPr>
          <p:cNvPr id="29" name="Freeform 29"/>
          <p:cNvSpPr/>
          <p:nvPr/>
        </p:nvSpPr>
        <p:spPr>
          <a:xfrm>
            <a:off x="1895475" y="5600700"/>
            <a:ext cx="190500" cy="942975"/>
          </a:xfrm>
          <a:custGeom>
            <a:avLst/>
            <a:gdLst/>
            <a:ahLst/>
            <a:cxnLst/>
            <a:rect l="l" t="t" r="r" b="b"/>
            <a:pathLst>
              <a:path w="190500" h="942975">
                <a:moveTo>
                  <a:pt x="0" y="0"/>
                </a:moveTo>
                <a:lnTo>
                  <a:pt x="190500" y="0"/>
                </a:lnTo>
                <a:lnTo>
                  <a:pt x="190500" y="942975"/>
                </a:lnTo>
                <a:lnTo>
                  <a:pt x="0" y="942975"/>
                </a:lnTo>
                <a:lnTo>
                  <a:pt x="0" y="0"/>
                </a:lnTo>
                <a:close/>
              </a:path>
            </a:pathLst>
          </a:custGeom>
          <a:blipFill>
            <a:blip r:embed="rId21"/>
            <a:stretch>
              <a:fillRect/>
            </a:stretch>
          </a:blipFill>
        </p:spPr>
      </p:sp>
      <p:sp>
        <p:nvSpPr>
          <p:cNvPr id="30" name="TextBox 30"/>
          <p:cNvSpPr txBox="1"/>
          <p:nvPr/>
        </p:nvSpPr>
        <p:spPr>
          <a:xfrm>
            <a:off x="2213686" y="5985853"/>
            <a:ext cx="3280715" cy="495300"/>
          </a:xfrm>
          <a:prstGeom prst="rect">
            <a:avLst/>
          </a:prstGeom>
        </p:spPr>
        <p:txBody>
          <a:bodyPr lIns="0" tIns="0" rIns="0" bIns="0" rtlCol="0" anchor="t">
            <a:spAutoFit/>
          </a:bodyPr>
          <a:lstStyle/>
          <a:p>
            <a:pPr algn="l">
              <a:lnSpc>
                <a:spcPts val="1315"/>
              </a:lnSpc>
            </a:pPr>
            <a:r>
              <a:rPr lang="en-US" sz="1200" dirty="0">
                <a:solidFill>
                  <a:srgbClr val="001C69"/>
                </a:solidFill>
                <a:latin typeface="+mj-lt"/>
                <a:ea typeface="Nourd"/>
                <a:cs typeface="Nourd"/>
                <a:sym typeface="Nourd"/>
              </a:rPr>
              <a:t>Threshold-based alert mechanisms enhance patient safety by enabling instant notifications for abnormal health events.</a:t>
            </a:r>
          </a:p>
        </p:txBody>
      </p:sp>
      <p:sp>
        <p:nvSpPr>
          <p:cNvPr id="31" name="Freeform 31"/>
          <p:cNvSpPr/>
          <p:nvPr/>
        </p:nvSpPr>
        <p:spPr>
          <a:xfrm>
            <a:off x="752475" y="6534150"/>
            <a:ext cx="5505450" cy="1123950"/>
          </a:xfrm>
          <a:custGeom>
            <a:avLst/>
            <a:gdLst/>
            <a:ahLst/>
            <a:cxnLst/>
            <a:rect l="l" t="t" r="r" b="b"/>
            <a:pathLst>
              <a:path w="5505450" h="1123950">
                <a:moveTo>
                  <a:pt x="0" y="0"/>
                </a:moveTo>
                <a:lnTo>
                  <a:pt x="5505450" y="0"/>
                </a:lnTo>
                <a:lnTo>
                  <a:pt x="5505450" y="1123950"/>
                </a:lnTo>
                <a:lnTo>
                  <a:pt x="0" y="1123950"/>
                </a:lnTo>
                <a:lnTo>
                  <a:pt x="0" y="0"/>
                </a:lnTo>
                <a:close/>
              </a:path>
            </a:pathLst>
          </a:custGeom>
          <a:blipFill>
            <a:blip r:embed="rId22"/>
            <a:stretch>
              <a:fillRect/>
            </a:stretch>
          </a:blipFill>
        </p:spPr>
      </p:sp>
      <p:sp>
        <p:nvSpPr>
          <p:cNvPr id="32" name="Freeform 32"/>
          <p:cNvSpPr/>
          <p:nvPr/>
        </p:nvSpPr>
        <p:spPr>
          <a:xfrm>
            <a:off x="942975" y="6534150"/>
            <a:ext cx="962025" cy="942975"/>
          </a:xfrm>
          <a:custGeom>
            <a:avLst/>
            <a:gdLst/>
            <a:ahLst/>
            <a:cxnLst/>
            <a:rect l="l" t="t" r="r" b="b"/>
            <a:pathLst>
              <a:path w="962025" h="942975">
                <a:moveTo>
                  <a:pt x="0" y="0"/>
                </a:moveTo>
                <a:lnTo>
                  <a:pt x="962025" y="0"/>
                </a:lnTo>
                <a:lnTo>
                  <a:pt x="962025" y="942975"/>
                </a:lnTo>
                <a:lnTo>
                  <a:pt x="0" y="942975"/>
                </a:lnTo>
                <a:lnTo>
                  <a:pt x="0" y="0"/>
                </a:lnTo>
                <a:close/>
              </a:path>
            </a:pathLst>
          </a:custGeom>
          <a:blipFill>
            <a:blip r:embed="rId23"/>
            <a:stretch>
              <a:fillRect/>
            </a:stretch>
          </a:blipFill>
        </p:spPr>
      </p:sp>
      <p:sp>
        <p:nvSpPr>
          <p:cNvPr id="33" name="Freeform 33"/>
          <p:cNvSpPr/>
          <p:nvPr/>
        </p:nvSpPr>
        <p:spPr>
          <a:xfrm>
            <a:off x="1895475" y="6715125"/>
            <a:ext cx="190500" cy="762000"/>
          </a:xfrm>
          <a:custGeom>
            <a:avLst/>
            <a:gdLst/>
            <a:ahLst/>
            <a:cxnLst/>
            <a:rect l="l" t="t" r="r" b="b"/>
            <a:pathLst>
              <a:path w="190500" h="762000">
                <a:moveTo>
                  <a:pt x="0" y="0"/>
                </a:moveTo>
                <a:lnTo>
                  <a:pt x="190500" y="0"/>
                </a:lnTo>
                <a:lnTo>
                  <a:pt x="190500" y="762000"/>
                </a:lnTo>
                <a:lnTo>
                  <a:pt x="0" y="762000"/>
                </a:lnTo>
                <a:lnTo>
                  <a:pt x="0" y="0"/>
                </a:lnTo>
                <a:close/>
              </a:path>
            </a:pathLst>
          </a:custGeom>
          <a:blipFill>
            <a:blip r:embed="rId24"/>
            <a:stretch>
              <a:fillRect/>
            </a:stretch>
          </a:blipFill>
        </p:spPr>
      </p:sp>
      <p:sp>
        <p:nvSpPr>
          <p:cNvPr id="34" name="TextBox 34"/>
          <p:cNvSpPr txBox="1"/>
          <p:nvPr/>
        </p:nvSpPr>
        <p:spPr>
          <a:xfrm>
            <a:off x="2213686" y="6721836"/>
            <a:ext cx="1114806" cy="204223"/>
          </a:xfrm>
          <a:prstGeom prst="rect">
            <a:avLst/>
          </a:prstGeom>
        </p:spPr>
        <p:txBody>
          <a:bodyPr lIns="0" tIns="0" rIns="0" bIns="0" rtlCol="0" anchor="t">
            <a:spAutoFit/>
          </a:bodyPr>
          <a:lstStyle/>
          <a:p>
            <a:pPr algn="l">
              <a:lnSpc>
                <a:spcPts val="1683"/>
              </a:lnSpc>
            </a:pPr>
            <a:r>
              <a:rPr lang="en-US" sz="1202" b="1">
                <a:solidFill>
                  <a:srgbClr val="008F78"/>
                </a:solidFill>
                <a:latin typeface="+mj-lt"/>
                <a:ea typeface="Nourd Semi-Bold"/>
                <a:cs typeface="Nourd Semi-Bold"/>
                <a:sym typeface="Nourd Semi-Bold"/>
              </a:rPr>
              <a:t>Impact of RPM</a:t>
            </a:r>
          </a:p>
        </p:txBody>
      </p:sp>
      <p:sp>
        <p:nvSpPr>
          <p:cNvPr id="35" name="TextBox 35"/>
          <p:cNvSpPr txBox="1"/>
          <p:nvPr/>
        </p:nvSpPr>
        <p:spPr>
          <a:xfrm>
            <a:off x="2213686" y="6962823"/>
            <a:ext cx="3185160" cy="495300"/>
          </a:xfrm>
          <a:prstGeom prst="rect">
            <a:avLst/>
          </a:prstGeom>
        </p:spPr>
        <p:txBody>
          <a:bodyPr lIns="0" tIns="0" rIns="0" bIns="0" rtlCol="0" anchor="t">
            <a:spAutoFit/>
          </a:bodyPr>
          <a:lstStyle/>
          <a:p>
            <a:pPr algn="l">
              <a:lnSpc>
                <a:spcPts val="1315"/>
              </a:lnSpc>
            </a:pPr>
            <a:r>
              <a:rPr lang="en-US" sz="1100" dirty="0">
                <a:solidFill>
                  <a:srgbClr val="001C69"/>
                </a:solidFill>
                <a:latin typeface="+mj-lt"/>
                <a:ea typeface="Nourd"/>
                <a:cs typeface="Nourd"/>
                <a:sym typeface="Nourd"/>
              </a:rPr>
              <a:t>Research shows Remote Patient Monitoring (RPM) reduces hospital readmissions, improves outcomes, and lowers healthcare costs.</a:t>
            </a:r>
          </a:p>
        </p:txBody>
      </p:sp>
      <p:sp>
        <p:nvSpPr>
          <p:cNvPr id="36" name="Freeform 36"/>
          <p:cNvSpPr/>
          <p:nvPr/>
        </p:nvSpPr>
        <p:spPr>
          <a:xfrm>
            <a:off x="7581900" y="1485900"/>
            <a:ext cx="7210425" cy="571500"/>
          </a:xfrm>
          <a:custGeom>
            <a:avLst/>
            <a:gdLst/>
            <a:ahLst/>
            <a:cxnLst/>
            <a:rect l="l" t="t" r="r" b="b"/>
            <a:pathLst>
              <a:path w="7210425" h="571500">
                <a:moveTo>
                  <a:pt x="0" y="0"/>
                </a:moveTo>
                <a:lnTo>
                  <a:pt x="7210425" y="0"/>
                </a:lnTo>
                <a:lnTo>
                  <a:pt x="7210425" y="571500"/>
                </a:lnTo>
                <a:lnTo>
                  <a:pt x="0" y="571500"/>
                </a:lnTo>
                <a:lnTo>
                  <a:pt x="0" y="0"/>
                </a:lnTo>
                <a:close/>
              </a:path>
            </a:pathLst>
          </a:custGeom>
          <a:blipFill>
            <a:blip r:embed="rId25"/>
            <a:stretch>
              <a:fillRect/>
            </a:stretch>
          </a:blipFill>
        </p:spPr>
      </p:sp>
      <p:sp>
        <p:nvSpPr>
          <p:cNvPr id="37" name="Freeform 37"/>
          <p:cNvSpPr/>
          <p:nvPr/>
        </p:nvSpPr>
        <p:spPr>
          <a:xfrm>
            <a:off x="7581900" y="1304925"/>
            <a:ext cx="762000" cy="942975"/>
          </a:xfrm>
          <a:custGeom>
            <a:avLst/>
            <a:gdLst/>
            <a:ahLst/>
            <a:cxnLst/>
            <a:rect l="l" t="t" r="r" b="b"/>
            <a:pathLst>
              <a:path w="762000" h="942975">
                <a:moveTo>
                  <a:pt x="0" y="0"/>
                </a:moveTo>
                <a:lnTo>
                  <a:pt x="762000" y="0"/>
                </a:lnTo>
                <a:lnTo>
                  <a:pt x="762000" y="942975"/>
                </a:lnTo>
                <a:lnTo>
                  <a:pt x="0" y="942975"/>
                </a:lnTo>
                <a:lnTo>
                  <a:pt x="0" y="0"/>
                </a:lnTo>
                <a:close/>
              </a:path>
            </a:pathLst>
          </a:custGeom>
          <a:blipFill>
            <a:blip r:embed="rId26"/>
            <a:stretch>
              <a:fillRect/>
            </a:stretch>
          </a:blipFill>
        </p:spPr>
      </p:sp>
      <p:sp>
        <p:nvSpPr>
          <p:cNvPr id="38" name="TextBox 38"/>
          <p:cNvSpPr txBox="1"/>
          <p:nvPr/>
        </p:nvSpPr>
        <p:spPr>
          <a:xfrm>
            <a:off x="8456600" y="1663619"/>
            <a:ext cx="1258138" cy="265249"/>
          </a:xfrm>
          <a:prstGeom prst="rect">
            <a:avLst/>
          </a:prstGeom>
        </p:spPr>
        <p:txBody>
          <a:bodyPr lIns="0" tIns="0" rIns="0" bIns="0" rtlCol="0" anchor="t">
            <a:spAutoFit/>
          </a:bodyPr>
          <a:lstStyle/>
          <a:p>
            <a:pPr algn="l">
              <a:lnSpc>
                <a:spcPts val="2179"/>
              </a:lnSpc>
            </a:pPr>
            <a:r>
              <a:rPr lang="en-US" sz="1557" b="1">
                <a:solidFill>
                  <a:srgbClr val="FFFFFF"/>
                </a:solidFill>
                <a:latin typeface="+mj-lt"/>
                <a:ea typeface="Nourd Semi-Bold"/>
                <a:cs typeface="Nourd Semi-Bold"/>
                <a:sym typeface="Nourd Semi-Bold"/>
              </a:rPr>
              <a:t>REFERENCES</a:t>
            </a:r>
          </a:p>
        </p:txBody>
      </p:sp>
      <p:sp>
        <p:nvSpPr>
          <p:cNvPr id="40" name="TextBox 40"/>
          <p:cNvSpPr txBox="1"/>
          <p:nvPr/>
        </p:nvSpPr>
        <p:spPr>
          <a:xfrm>
            <a:off x="2213686" y="2881237"/>
            <a:ext cx="1369619" cy="216213"/>
          </a:xfrm>
          <a:prstGeom prst="rect">
            <a:avLst/>
          </a:prstGeom>
        </p:spPr>
        <p:txBody>
          <a:bodyPr lIns="0" tIns="0" rIns="0" bIns="0" rtlCol="0" anchor="t">
            <a:spAutoFit/>
          </a:bodyPr>
          <a:lstStyle/>
          <a:p>
            <a:pPr algn="l">
              <a:lnSpc>
                <a:spcPts val="1782"/>
              </a:lnSpc>
            </a:pPr>
            <a:r>
              <a:rPr lang="en-US" sz="1273" b="1" dirty="0">
                <a:solidFill>
                  <a:srgbClr val="004AAD"/>
                </a:solidFill>
                <a:latin typeface="+mj-lt"/>
                <a:ea typeface="Nourd Semi-Bold"/>
                <a:cs typeface="Nourd Semi-Bold"/>
                <a:sym typeface="Nourd Semi-Bold"/>
              </a:rPr>
              <a:t>IoT in Healthcare</a:t>
            </a:r>
          </a:p>
        </p:txBody>
      </p:sp>
      <p:sp>
        <p:nvSpPr>
          <p:cNvPr id="41" name="TextBox 41"/>
          <p:cNvSpPr txBox="1"/>
          <p:nvPr/>
        </p:nvSpPr>
        <p:spPr>
          <a:xfrm>
            <a:off x="2213686" y="3835742"/>
            <a:ext cx="1369619" cy="204223"/>
          </a:xfrm>
          <a:prstGeom prst="rect">
            <a:avLst/>
          </a:prstGeom>
        </p:spPr>
        <p:txBody>
          <a:bodyPr lIns="0" tIns="0" rIns="0" bIns="0" rtlCol="0" anchor="t">
            <a:spAutoFit/>
          </a:bodyPr>
          <a:lstStyle/>
          <a:p>
            <a:pPr algn="l">
              <a:lnSpc>
                <a:spcPts val="1683"/>
              </a:lnSpc>
            </a:pPr>
            <a:r>
              <a:rPr lang="en-US" sz="1202" b="1">
                <a:solidFill>
                  <a:srgbClr val="004AAD"/>
                </a:solidFill>
                <a:latin typeface="+mj-lt"/>
                <a:ea typeface="Nourd Semi-Bold"/>
                <a:cs typeface="Nourd Semi-Bold"/>
                <a:sym typeface="Nourd Semi-Bold"/>
              </a:rPr>
              <a:t>Wearable Sensors</a:t>
            </a:r>
          </a:p>
        </p:txBody>
      </p:sp>
      <p:sp>
        <p:nvSpPr>
          <p:cNvPr id="42" name="TextBox 42"/>
          <p:cNvSpPr txBox="1"/>
          <p:nvPr/>
        </p:nvSpPr>
        <p:spPr>
          <a:xfrm>
            <a:off x="2213686" y="4780948"/>
            <a:ext cx="1417396" cy="206678"/>
          </a:xfrm>
          <a:prstGeom prst="rect">
            <a:avLst/>
          </a:prstGeom>
        </p:spPr>
        <p:txBody>
          <a:bodyPr lIns="0" tIns="0" rIns="0" bIns="0" rtlCol="0" anchor="t">
            <a:spAutoFit/>
          </a:bodyPr>
          <a:lstStyle/>
          <a:p>
            <a:pPr algn="l">
              <a:lnSpc>
                <a:spcPts val="1733"/>
              </a:lnSpc>
            </a:pPr>
            <a:r>
              <a:rPr lang="en-US" sz="1238" b="1" dirty="0">
                <a:solidFill>
                  <a:srgbClr val="004AAD"/>
                </a:solidFill>
                <a:latin typeface="+mj-lt"/>
                <a:ea typeface="Nourd Semi-Bold"/>
                <a:cs typeface="Nourd Semi-Bold"/>
                <a:sym typeface="Nourd Semi-Bold"/>
              </a:rPr>
              <a:t>Cloud Computing</a:t>
            </a:r>
          </a:p>
        </p:txBody>
      </p:sp>
      <p:sp>
        <p:nvSpPr>
          <p:cNvPr id="43" name="TextBox 43"/>
          <p:cNvSpPr txBox="1"/>
          <p:nvPr/>
        </p:nvSpPr>
        <p:spPr>
          <a:xfrm>
            <a:off x="2213686" y="5731479"/>
            <a:ext cx="1114806" cy="216213"/>
          </a:xfrm>
          <a:prstGeom prst="rect">
            <a:avLst/>
          </a:prstGeom>
        </p:spPr>
        <p:txBody>
          <a:bodyPr lIns="0" tIns="0" rIns="0" bIns="0" rtlCol="0" anchor="t">
            <a:spAutoFit/>
          </a:bodyPr>
          <a:lstStyle/>
          <a:p>
            <a:pPr algn="l">
              <a:lnSpc>
                <a:spcPts val="1782"/>
              </a:lnSpc>
            </a:pPr>
            <a:r>
              <a:rPr lang="en-US" sz="1273" b="1" dirty="0">
                <a:solidFill>
                  <a:srgbClr val="E46B00"/>
                </a:solidFill>
                <a:latin typeface="+mj-lt"/>
                <a:ea typeface="Nourd Semi-Bold"/>
                <a:cs typeface="Nourd Semi-Bold"/>
                <a:sym typeface="Nourd Semi-Bold"/>
              </a:rPr>
              <a:t>Alert Systems</a:t>
            </a:r>
          </a:p>
        </p:txBody>
      </p:sp>
      <p:sp>
        <p:nvSpPr>
          <p:cNvPr id="69" name="TextBox 69"/>
          <p:cNvSpPr txBox="1"/>
          <p:nvPr/>
        </p:nvSpPr>
        <p:spPr>
          <a:xfrm>
            <a:off x="6609663" y="4289779"/>
            <a:ext cx="1563474" cy="240835"/>
          </a:xfrm>
          <a:prstGeom prst="rect">
            <a:avLst/>
          </a:prstGeom>
        </p:spPr>
        <p:txBody>
          <a:bodyPr wrap="square" lIns="0" tIns="0" rIns="0" bIns="0" rtlCol="0" anchor="t">
            <a:spAutoFit/>
          </a:bodyPr>
          <a:lstStyle/>
          <a:p>
            <a:pPr algn="ctr">
              <a:lnSpc>
                <a:spcPts val="1832"/>
              </a:lnSpc>
            </a:pPr>
            <a:r>
              <a:rPr lang="en-US" sz="2000" b="1" dirty="0">
                <a:solidFill>
                  <a:srgbClr val="008F78"/>
                </a:solidFill>
                <a:latin typeface="+mj-lt"/>
                <a:ea typeface="Nourd Semi-Bold"/>
                <a:cs typeface="Nourd Semi-Bold"/>
                <a:sym typeface="Nourd Semi-Bold"/>
              </a:rPr>
              <a:t>3</a:t>
            </a:r>
          </a:p>
        </p:txBody>
      </p:sp>
      <p:sp>
        <p:nvSpPr>
          <p:cNvPr id="73" name="TextBox 73"/>
          <p:cNvSpPr txBox="1"/>
          <p:nvPr/>
        </p:nvSpPr>
        <p:spPr>
          <a:xfrm>
            <a:off x="5329807" y="4657140"/>
            <a:ext cx="1563474" cy="217432"/>
          </a:xfrm>
          <a:prstGeom prst="rect">
            <a:avLst/>
          </a:prstGeom>
        </p:spPr>
        <p:txBody>
          <a:bodyPr wrap="square" lIns="0" tIns="0" rIns="0" bIns="0" rtlCol="0" anchor="t">
            <a:spAutoFit/>
          </a:bodyPr>
          <a:lstStyle/>
          <a:p>
            <a:pPr algn="ctr">
              <a:lnSpc>
                <a:spcPts val="1832"/>
              </a:lnSpc>
            </a:pPr>
            <a:r>
              <a:rPr lang="en-US" sz="1308" b="1" dirty="0">
                <a:solidFill>
                  <a:srgbClr val="008F78"/>
                </a:solidFill>
                <a:latin typeface="+mj-lt"/>
                <a:ea typeface="Nourd Semi-Bold"/>
                <a:cs typeface="Nourd Semi-Bold"/>
                <a:sym typeface="Nourd Semi-Bold"/>
              </a:rPr>
              <a:t>3</a:t>
            </a:r>
          </a:p>
        </p:txBody>
      </p:sp>
      <p:sp>
        <p:nvSpPr>
          <p:cNvPr id="74" name="TextBox 74"/>
          <p:cNvSpPr txBox="1"/>
          <p:nvPr/>
        </p:nvSpPr>
        <p:spPr>
          <a:xfrm>
            <a:off x="7151857" y="3600545"/>
            <a:ext cx="429997" cy="234038"/>
          </a:xfrm>
          <a:prstGeom prst="rect">
            <a:avLst/>
          </a:prstGeom>
        </p:spPr>
        <p:txBody>
          <a:bodyPr wrap="square" lIns="0" tIns="0" rIns="0" bIns="0" rtlCol="0" anchor="t">
            <a:spAutoFit/>
          </a:bodyPr>
          <a:lstStyle/>
          <a:p>
            <a:pPr algn="ctr">
              <a:lnSpc>
                <a:spcPts val="1832"/>
              </a:lnSpc>
            </a:pPr>
            <a:r>
              <a:rPr lang="en-US" b="1" dirty="0">
                <a:solidFill>
                  <a:srgbClr val="008F78"/>
                </a:solidFill>
                <a:latin typeface="+mj-lt"/>
                <a:ea typeface="Nourd Semi-Bold"/>
                <a:cs typeface="Nourd Semi-Bold"/>
                <a:sym typeface="Nourd Semi-Bold"/>
              </a:rPr>
              <a:t>2</a:t>
            </a:r>
          </a:p>
        </p:txBody>
      </p:sp>
      <p:sp>
        <p:nvSpPr>
          <p:cNvPr id="75" name="TextBox 75"/>
          <p:cNvSpPr txBox="1"/>
          <p:nvPr/>
        </p:nvSpPr>
        <p:spPr>
          <a:xfrm>
            <a:off x="1688135" y="180137"/>
            <a:ext cx="445922" cy="97271"/>
          </a:xfrm>
          <a:prstGeom prst="rect">
            <a:avLst/>
          </a:prstGeom>
        </p:spPr>
        <p:txBody>
          <a:bodyPr lIns="0" tIns="0" rIns="0" bIns="0" rtlCol="0" anchor="t">
            <a:spAutoFit/>
          </a:bodyPr>
          <a:lstStyle/>
          <a:p>
            <a:pPr algn="ctr">
              <a:lnSpc>
                <a:spcPts val="839"/>
              </a:lnSpc>
            </a:pPr>
            <a:r>
              <a:rPr lang="en-US" sz="600" b="1">
                <a:solidFill>
                  <a:srgbClr val="001C69"/>
                </a:solidFill>
                <a:latin typeface="+mj-lt"/>
                <a:ea typeface="Nourd Semi-Bold"/>
                <a:cs typeface="Nourd Semi-Bold"/>
                <a:sym typeface="Nourd Semi-Bold"/>
              </a:rPr>
              <a:t>Background</a:t>
            </a:r>
          </a:p>
        </p:txBody>
      </p:sp>
      <p:sp>
        <p:nvSpPr>
          <p:cNvPr id="76" name="TextBox 76"/>
          <p:cNvSpPr txBox="1"/>
          <p:nvPr/>
        </p:nvSpPr>
        <p:spPr>
          <a:xfrm>
            <a:off x="1688135" y="180137"/>
            <a:ext cx="445922" cy="97271"/>
          </a:xfrm>
          <a:prstGeom prst="rect">
            <a:avLst/>
          </a:prstGeom>
        </p:spPr>
        <p:txBody>
          <a:bodyPr lIns="0" tIns="0" rIns="0" bIns="0" rtlCol="0" anchor="t">
            <a:spAutoFit/>
          </a:bodyPr>
          <a:lstStyle/>
          <a:p>
            <a:pPr algn="ctr">
              <a:lnSpc>
                <a:spcPts val="839"/>
              </a:lnSpc>
            </a:pPr>
            <a:r>
              <a:rPr lang="en-US" sz="600" b="1">
                <a:solidFill>
                  <a:srgbClr val="001C69"/>
                </a:solidFill>
                <a:latin typeface="+mj-lt"/>
                <a:ea typeface="Nourd Semi-Bold"/>
                <a:cs typeface="Nourd Semi-Bold"/>
                <a:sym typeface="Nourd Semi-Bold"/>
              </a:rPr>
              <a:t>Background</a:t>
            </a:r>
          </a:p>
        </p:txBody>
      </p:sp>
      <p:sp>
        <p:nvSpPr>
          <p:cNvPr id="77" name="TextBox 77"/>
          <p:cNvSpPr txBox="1"/>
          <p:nvPr/>
        </p:nvSpPr>
        <p:spPr>
          <a:xfrm>
            <a:off x="1688135" y="180137"/>
            <a:ext cx="445922" cy="97271"/>
          </a:xfrm>
          <a:prstGeom prst="rect">
            <a:avLst/>
          </a:prstGeom>
        </p:spPr>
        <p:txBody>
          <a:bodyPr lIns="0" tIns="0" rIns="0" bIns="0" rtlCol="0" anchor="t">
            <a:spAutoFit/>
          </a:bodyPr>
          <a:lstStyle/>
          <a:p>
            <a:pPr algn="ctr">
              <a:lnSpc>
                <a:spcPts val="839"/>
              </a:lnSpc>
            </a:pPr>
            <a:r>
              <a:rPr lang="en-US" sz="600" b="1">
                <a:solidFill>
                  <a:srgbClr val="001C69"/>
                </a:solidFill>
                <a:latin typeface="+mj-lt"/>
                <a:ea typeface="Nourd Semi-Bold"/>
                <a:cs typeface="Nourd Semi-Bold"/>
                <a:sym typeface="Nourd Semi-Bold"/>
              </a:rPr>
              <a:t>Background</a:t>
            </a:r>
          </a:p>
        </p:txBody>
      </p:sp>
      <p:sp>
        <p:nvSpPr>
          <p:cNvPr id="78" name="TextBox 78"/>
          <p:cNvSpPr txBox="1"/>
          <p:nvPr/>
        </p:nvSpPr>
        <p:spPr>
          <a:xfrm>
            <a:off x="1688135" y="180137"/>
            <a:ext cx="445922" cy="97271"/>
          </a:xfrm>
          <a:prstGeom prst="rect">
            <a:avLst/>
          </a:prstGeom>
        </p:spPr>
        <p:txBody>
          <a:bodyPr lIns="0" tIns="0" rIns="0" bIns="0" rtlCol="0" anchor="t">
            <a:spAutoFit/>
          </a:bodyPr>
          <a:lstStyle/>
          <a:p>
            <a:pPr algn="ctr">
              <a:lnSpc>
                <a:spcPts val="839"/>
              </a:lnSpc>
            </a:pPr>
            <a:r>
              <a:rPr lang="en-US" sz="600" b="1">
                <a:solidFill>
                  <a:srgbClr val="001C69"/>
                </a:solidFill>
                <a:latin typeface="+mj-lt"/>
                <a:ea typeface="Nourd Semi-Bold"/>
                <a:cs typeface="Nourd Semi-Bold"/>
                <a:sym typeface="Nourd Semi-Bold"/>
              </a:rPr>
              <a:t>Background</a:t>
            </a:r>
          </a:p>
        </p:txBody>
      </p:sp>
      <p:sp>
        <p:nvSpPr>
          <p:cNvPr id="79" name="TextBox 74">
            <a:extLst>
              <a:ext uri="{FF2B5EF4-FFF2-40B4-BE49-F238E27FC236}">
                <a16:creationId xmlns:a16="http://schemas.microsoft.com/office/drawing/2014/main" id="{B815C17A-5F87-55A3-B85E-D8953DD0F9AF}"/>
              </a:ext>
            </a:extLst>
          </p:cNvPr>
          <p:cNvSpPr txBox="1"/>
          <p:nvPr/>
        </p:nvSpPr>
        <p:spPr>
          <a:xfrm>
            <a:off x="7151857" y="2333368"/>
            <a:ext cx="429997" cy="234038"/>
          </a:xfrm>
          <a:prstGeom prst="rect">
            <a:avLst/>
          </a:prstGeom>
        </p:spPr>
        <p:txBody>
          <a:bodyPr wrap="square" lIns="0" tIns="0" rIns="0" bIns="0" rtlCol="0" anchor="t">
            <a:spAutoFit/>
          </a:bodyPr>
          <a:lstStyle/>
          <a:p>
            <a:pPr algn="ctr">
              <a:lnSpc>
                <a:spcPts val="1832"/>
              </a:lnSpc>
            </a:pPr>
            <a:r>
              <a:rPr lang="en-US" b="1" dirty="0">
                <a:solidFill>
                  <a:srgbClr val="008F78"/>
                </a:solidFill>
                <a:latin typeface="+mj-lt"/>
                <a:ea typeface="Nourd Semi-Bold"/>
                <a:cs typeface="Nourd Semi-Bold"/>
                <a:sym typeface="Nourd Semi-Bold"/>
              </a:rPr>
              <a:t>1</a:t>
            </a:r>
          </a:p>
        </p:txBody>
      </p:sp>
      <p:sp>
        <p:nvSpPr>
          <p:cNvPr id="80" name="TextBox 79">
            <a:extLst>
              <a:ext uri="{FF2B5EF4-FFF2-40B4-BE49-F238E27FC236}">
                <a16:creationId xmlns:a16="http://schemas.microsoft.com/office/drawing/2014/main" id="{02125C84-2D62-A9AD-5FC5-B7A98B173631}"/>
              </a:ext>
            </a:extLst>
          </p:cNvPr>
          <p:cNvSpPr txBox="1"/>
          <p:nvPr/>
        </p:nvSpPr>
        <p:spPr>
          <a:xfrm>
            <a:off x="7613028" y="2229717"/>
            <a:ext cx="8131798" cy="1200329"/>
          </a:xfrm>
          <a:prstGeom prst="rect">
            <a:avLst/>
          </a:prstGeom>
          <a:noFill/>
        </p:spPr>
        <p:txBody>
          <a:bodyPr wrap="square" rtlCol="0">
            <a:spAutoFit/>
          </a:bodyPr>
          <a:lstStyle/>
          <a:p>
            <a:r>
              <a:rPr lang="en-IN" b="1" dirty="0">
                <a:latin typeface="+mj-lt"/>
              </a:rPr>
              <a:t>Internet of Things: A Survey on Enabling Technologies, Protocols, and Applications</a:t>
            </a:r>
            <a:br>
              <a:rPr lang="en-IN" dirty="0">
                <a:latin typeface="+mj-lt"/>
              </a:rPr>
            </a:br>
            <a:r>
              <a:rPr lang="en-IN" dirty="0">
                <a:latin typeface="+mj-lt"/>
              </a:rPr>
              <a:t>Authors: Al-Fuqaha, </a:t>
            </a:r>
            <a:r>
              <a:rPr lang="en-IN" dirty="0" err="1">
                <a:latin typeface="+mj-lt"/>
              </a:rPr>
              <a:t>Guizani</a:t>
            </a:r>
            <a:r>
              <a:rPr lang="en-IN" dirty="0">
                <a:latin typeface="+mj-lt"/>
              </a:rPr>
              <a:t>, Mohammadi, </a:t>
            </a:r>
            <a:r>
              <a:rPr lang="en-IN" dirty="0" err="1">
                <a:latin typeface="+mj-lt"/>
              </a:rPr>
              <a:t>Aledhari</a:t>
            </a:r>
            <a:r>
              <a:rPr lang="en-IN" dirty="0">
                <a:latin typeface="+mj-lt"/>
              </a:rPr>
              <a:t> &amp; Ayyash (2015)</a:t>
            </a:r>
          </a:p>
          <a:p>
            <a:r>
              <a:rPr lang="en-IN" dirty="0">
                <a:latin typeface="+mj-lt"/>
                <a:hlinkClick r:id="rId27"/>
              </a:rPr>
              <a:t>https://www.researchgate.net/publication/279177017_Internet_of_Things_A_Survey_on_Enabling_Technologies_Protocols_and_Applications</a:t>
            </a:r>
            <a:endParaRPr lang="en-IN" dirty="0">
              <a:latin typeface="+mj-lt"/>
            </a:endParaRPr>
          </a:p>
        </p:txBody>
      </p:sp>
      <p:sp>
        <p:nvSpPr>
          <p:cNvPr id="81" name="TextBox 80">
            <a:extLst>
              <a:ext uri="{FF2B5EF4-FFF2-40B4-BE49-F238E27FC236}">
                <a16:creationId xmlns:a16="http://schemas.microsoft.com/office/drawing/2014/main" id="{EB20B837-3BA7-1401-6A1E-5A52D2891438}"/>
              </a:ext>
            </a:extLst>
          </p:cNvPr>
          <p:cNvSpPr txBox="1"/>
          <p:nvPr/>
        </p:nvSpPr>
        <p:spPr>
          <a:xfrm>
            <a:off x="7567375" y="3483607"/>
            <a:ext cx="8131798" cy="646331"/>
          </a:xfrm>
          <a:prstGeom prst="rect">
            <a:avLst/>
          </a:prstGeom>
          <a:noFill/>
        </p:spPr>
        <p:txBody>
          <a:bodyPr wrap="square" rtlCol="0">
            <a:spAutoFit/>
          </a:bodyPr>
          <a:lstStyle/>
          <a:p>
            <a:r>
              <a:rPr lang="en-IN" b="1" dirty="0"/>
              <a:t>IoT-Based Healthcare-Monitoring System towards Improving Quality of Life</a:t>
            </a:r>
          </a:p>
          <a:p>
            <a:r>
              <a:rPr lang="en-IN" dirty="0">
                <a:latin typeface="+mj-lt"/>
                <a:hlinkClick r:id="rId28"/>
              </a:rPr>
              <a:t>https://pmc.ncbi.nlm.nih.gov/articles/PMC9601552/</a:t>
            </a:r>
            <a:endParaRPr lang="en-IN" dirty="0">
              <a:latin typeface="+mj-lt"/>
            </a:endParaRPr>
          </a:p>
        </p:txBody>
      </p:sp>
      <p:sp>
        <p:nvSpPr>
          <p:cNvPr id="82" name="TextBox 81">
            <a:extLst>
              <a:ext uri="{FF2B5EF4-FFF2-40B4-BE49-F238E27FC236}">
                <a16:creationId xmlns:a16="http://schemas.microsoft.com/office/drawing/2014/main" id="{544493CA-3EB6-7CF3-8393-8866B9CF6182}"/>
              </a:ext>
            </a:extLst>
          </p:cNvPr>
          <p:cNvSpPr txBox="1"/>
          <p:nvPr/>
        </p:nvSpPr>
        <p:spPr>
          <a:xfrm>
            <a:off x="7532902" y="4158556"/>
            <a:ext cx="8131798" cy="646331"/>
          </a:xfrm>
          <a:prstGeom prst="rect">
            <a:avLst/>
          </a:prstGeom>
          <a:noFill/>
        </p:spPr>
        <p:txBody>
          <a:bodyPr wrap="square" rtlCol="0">
            <a:spAutoFit/>
          </a:bodyPr>
          <a:lstStyle/>
          <a:p>
            <a:r>
              <a:rPr lang="en-IN" b="1" dirty="0"/>
              <a:t>The Internet of Things (IoT) in healthcare</a:t>
            </a:r>
          </a:p>
          <a:p>
            <a:r>
              <a:rPr lang="en-IN" b="1" dirty="0">
                <a:hlinkClick r:id="rId29"/>
              </a:rPr>
              <a:t>https://www.sciencedirect.com/science/article/pii/S2542660523000446</a:t>
            </a:r>
            <a:endParaRPr lang="en-IN"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TotalTime>
  <Words>1383</Words>
  <Application>Microsoft Office PowerPoint</Application>
  <PresentationFormat>Custom</PresentationFormat>
  <Paragraphs>233</Paragraphs>
  <Slides>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vt:i4>
      </vt:variant>
    </vt:vector>
  </HeadingPairs>
  <TitlesOfParts>
    <vt:vector size="21" baseType="lpstr">
      <vt:lpstr>Calibri</vt:lpstr>
      <vt:lpstr>Nunito Ultra-Bold</vt:lpstr>
      <vt:lpstr>Nourd</vt:lpstr>
      <vt:lpstr>Bebas Neue Bold</vt:lpstr>
      <vt:lpstr>Nunito Bold</vt:lpstr>
      <vt:lpstr>Arial</vt:lpstr>
      <vt:lpstr>Agency FB</vt:lpstr>
      <vt:lpstr>Nourd Bold</vt:lpstr>
      <vt:lpstr>Arial Narrow</vt:lpstr>
      <vt:lpstr>Algerian</vt:lpstr>
      <vt:lpstr>Aptos</vt:lpstr>
      <vt:lpstr>Farro Bold</vt:lpstr>
      <vt:lpstr>Aptos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Apurba Das</dc:creator>
  <cp:lastModifiedBy>Apurba Das</cp:lastModifiedBy>
  <cp:revision>7</cp:revision>
  <dcterms:created xsi:type="dcterms:W3CDTF">2006-08-16T00:00:00Z</dcterms:created>
  <dcterms:modified xsi:type="dcterms:W3CDTF">2026-09-06T05:31:53Z</dcterms:modified>
  <dc:identifier>DAHT4JvuWNQ</dc:identifier>
</cp:coreProperties>
</file>