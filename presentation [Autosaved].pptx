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6" r:id="rId3"/>
    <p:sldId id="259" r:id="rId4"/>
    <p:sldId id="260" r:id="rId5"/>
    <p:sldId id="261" r:id="rId6"/>
    <p:sldId id="262" r:id="rId7"/>
  </p:sldIdLst>
  <p:sldSz cx="15925800" cy="8953500"/>
  <p:notesSz cx="6858000" cy="9144000"/>
  <p:embeddedFontLst>
    <p:embeddedFont>
      <p:font typeface="Agency FB" panose="020B0503020202020204" pitchFamily="34" charset="0"/>
      <p:regular r:id="rId8"/>
      <p:bold r:id="rId9"/>
    </p:embeddedFont>
    <p:embeddedFont>
      <p:font typeface="Algerian" panose="04020705040A02060702" pitchFamily="82" charset="0"/>
      <p:regular r:id="rId10"/>
    </p:embeddedFont>
    <p:embeddedFont>
      <p:font typeface="Aptos Narrow" panose="020B0004020202020204" pitchFamily="34" charset="0"/>
      <p:regular r:id="rId11"/>
      <p:bold r:id="rId12"/>
      <p:italic r:id="rId13"/>
      <p:boldItalic r:id="rId14"/>
    </p:embeddedFon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Bebas Neue Bold" panose="020B0604020202020204" charset="0"/>
      <p:regular r:id="rId19"/>
    </p:embeddedFont>
    <p:embeddedFont>
      <p:font typeface="Nunito Bold" panose="020B0604020202020204" charset="0"/>
      <p:regular r:id="rId20"/>
      <p:bold r:id="rId21"/>
    </p:embeddedFont>
    <p:embeddedFont>
      <p:font typeface="Nunito Ultra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4622" autoAdjust="0"/>
  </p:normalViewPr>
  <p:slideViewPr>
    <p:cSldViewPr>
      <p:cViewPr varScale="1">
        <p:scale>
          <a:sx n="78" d="100"/>
          <a:sy n="78" d="100"/>
        </p:scale>
        <p:origin x="67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5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3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4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8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32" Type="http://schemas.openxmlformats.org/officeDocument/2006/relationships/image" Target="../media/image4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31" Type="http://schemas.openxmlformats.org/officeDocument/2006/relationships/image" Target="../media/image99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26" Type="http://schemas.openxmlformats.org/officeDocument/2006/relationships/image" Target="../media/image124.png"/><Relationship Id="rId39" Type="http://schemas.openxmlformats.org/officeDocument/2006/relationships/image" Target="../media/image133.png"/><Relationship Id="rId21" Type="http://schemas.openxmlformats.org/officeDocument/2006/relationships/image" Target="../media/image119.png"/><Relationship Id="rId34" Type="http://schemas.openxmlformats.org/officeDocument/2006/relationships/image" Target="../media/image63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5" Type="http://schemas.openxmlformats.org/officeDocument/2006/relationships/image" Target="../media/image123.png"/><Relationship Id="rId33" Type="http://schemas.openxmlformats.org/officeDocument/2006/relationships/image" Target="../media/image129.png"/><Relationship Id="rId38" Type="http://schemas.openxmlformats.org/officeDocument/2006/relationships/image" Target="../media/image132.png"/><Relationship Id="rId2" Type="http://schemas.openxmlformats.org/officeDocument/2006/relationships/image" Target="../media/image100.png"/><Relationship Id="rId16" Type="http://schemas.openxmlformats.org/officeDocument/2006/relationships/image" Target="../media/image114.png"/><Relationship Id="rId20" Type="http://schemas.openxmlformats.org/officeDocument/2006/relationships/image" Target="../media/image118.png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24" Type="http://schemas.openxmlformats.org/officeDocument/2006/relationships/image" Target="../media/image122.png"/><Relationship Id="rId32" Type="http://schemas.openxmlformats.org/officeDocument/2006/relationships/image" Target="../media/image68.png"/><Relationship Id="rId37" Type="http://schemas.openxmlformats.org/officeDocument/2006/relationships/image" Target="../media/image131.png"/><Relationship Id="rId5" Type="http://schemas.openxmlformats.org/officeDocument/2006/relationships/image" Target="../media/image103.png"/><Relationship Id="rId15" Type="http://schemas.openxmlformats.org/officeDocument/2006/relationships/image" Target="../media/image113.png"/><Relationship Id="rId23" Type="http://schemas.openxmlformats.org/officeDocument/2006/relationships/image" Target="../media/image121.png"/><Relationship Id="rId28" Type="http://schemas.openxmlformats.org/officeDocument/2006/relationships/image" Target="../media/image126.png"/><Relationship Id="rId36" Type="http://schemas.openxmlformats.org/officeDocument/2006/relationships/image" Target="../media/image130.png"/><Relationship Id="rId10" Type="http://schemas.openxmlformats.org/officeDocument/2006/relationships/image" Target="../media/image108.png"/><Relationship Id="rId19" Type="http://schemas.openxmlformats.org/officeDocument/2006/relationships/image" Target="../media/image117.png"/><Relationship Id="rId31" Type="http://schemas.openxmlformats.org/officeDocument/2006/relationships/image" Target="../media/image55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Relationship Id="rId22" Type="http://schemas.openxmlformats.org/officeDocument/2006/relationships/image" Target="../media/image120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Relationship Id="rId35" Type="http://schemas.openxmlformats.org/officeDocument/2006/relationships/image" Target="../media/image83.png"/><Relationship Id="rId8" Type="http://schemas.openxmlformats.org/officeDocument/2006/relationships/image" Target="../media/image106.png"/><Relationship Id="rId3" Type="http://schemas.openxmlformats.org/officeDocument/2006/relationships/image" Target="../media/image10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26" Type="http://schemas.openxmlformats.org/officeDocument/2006/relationships/image" Target="../media/image158.png"/><Relationship Id="rId3" Type="http://schemas.openxmlformats.org/officeDocument/2006/relationships/image" Target="../media/image135.png"/><Relationship Id="rId21" Type="http://schemas.openxmlformats.org/officeDocument/2006/relationships/image" Target="../media/image153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5" Type="http://schemas.openxmlformats.org/officeDocument/2006/relationships/image" Target="../media/image157.png"/><Relationship Id="rId2" Type="http://schemas.openxmlformats.org/officeDocument/2006/relationships/image" Target="../media/image134.png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29" Type="http://schemas.openxmlformats.org/officeDocument/2006/relationships/hyperlink" Target="https://www.sciencedirect.com/science/article/pii/S2542660523000446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24" Type="http://schemas.openxmlformats.org/officeDocument/2006/relationships/image" Target="../media/image156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28" Type="http://schemas.openxmlformats.org/officeDocument/2006/relationships/hyperlink" Target="https://pmc.ncbi.nlm.nih.gov/articles/PMC9601552/" TargetMode="External"/><Relationship Id="rId10" Type="http://schemas.openxmlformats.org/officeDocument/2006/relationships/image" Target="../media/image142.png"/><Relationship Id="rId19" Type="http://schemas.openxmlformats.org/officeDocument/2006/relationships/image" Target="../media/image151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Relationship Id="rId22" Type="http://schemas.openxmlformats.org/officeDocument/2006/relationships/image" Target="../media/image154.png"/><Relationship Id="rId27" Type="http://schemas.openxmlformats.org/officeDocument/2006/relationships/hyperlink" Target="https://www.researchgate.net/publication/279177017_Internet_of_Things_A_Survey_on_Enabling_Technologies_Protocols_and_Applic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VIT Bhopal | VIT">
            <a:extLst>
              <a:ext uri="{FF2B5EF4-FFF2-40B4-BE49-F238E27FC236}">
                <a16:creationId xmlns:a16="http://schemas.microsoft.com/office/drawing/2014/main" id="{4DCF198D-8002-A7DA-5F21-4EAF8C76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29" y="514350"/>
            <a:ext cx="1143000" cy="1143000"/>
          </a:xfrm>
          <a:prstGeom prst="rect">
            <a:avLst/>
          </a:prstGeom>
        </p:spPr>
      </p:pic>
      <p:sp>
        <p:nvSpPr>
          <p:cNvPr id="5" name="Freeform 3">
            <a:extLst>
              <a:ext uri="{FF2B5EF4-FFF2-40B4-BE49-F238E27FC236}">
                <a16:creationId xmlns:a16="http://schemas.microsoft.com/office/drawing/2014/main" id="{093A19A0-FB38-0D2E-6848-16DC609AF350}"/>
              </a:ext>
            </a:extLst>
          </p:cNvPr>
          <p:cNvSpPr/>
          <p:nvPr/>
        </p:nvSpPr>
        <p:spPr>
          <a:xfrm>
            <a:off x="-1" y="2627"/>
            <a:ext cx="2276475" cy="1876425"/>
          </a:xfrm>
          <a:custGeom>
            <a:avLst/>
            <a:gdLst/>
            <a:ahLst/>
            <a:cxnLst/>
            <a:rect l="l" t="t" r="r" b="b"/>
            <a:pathLst>
              <a:path w="2276475" h="1876425">
                <a:moveTo>
                  <a:pt x="0" y="0"/>
                </a:moveTo>
                <a:lnTo>
                  <a:pt x="2276475" y="0"/>
                </a:lnTo>
                <a:lnTo>
                  <a:pt x="22764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2000" dirty="0">
              <a:latin typeface="Aptos Narrow" panose="020B0004020202020204" pitchFamily="34" charset="0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BBFA483-D175-6FDC-B102-C36CD2FD912D}"/>
              </a:ext>
            </a:extLst>
          </p:cNvPr>
          <p:cNvSpPr/>
          <p:nvPr/>
        </p:nvSpPr>
        <p:spPr>
          <a:xfrm>
            <a:off x="13066143" y="19545"/>
            <a:ext cx="2847975" cy="1314450"/>
          </a:xfrm>
          <a:custGeom>
            <a:avLst/>
            <a:gdLst/>
            <a:ahLst/>
            <a:cxnLst/>
            <a:rect l="l" t="t" r="r" b="b"/>
            <a:pathLst>
              <a:path w="2847975" h="1314450">
                <a:moveTo>
                  <a:pt x="0" y="0"/>
                </a:moveTo>
                <a:lnTo>
                  <a:pt x="2847975" y="0"/>
                </a:lnTo>
                <a:lnTo>
                  <a:pt x="2847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7D589F2-0AE3-70C2-6C3B-FE2A234D1058}"/>
              </a:ext>
            </a:extLst>
          </p:cNvPr>
          <p:cNvSpPr/>
          <p:nvPr/>
        </p:nvSpPr>
        <p:spPr>
          <a:xfrm>
            <a:off x="-8041" y="7096125"/>
            <a:ext cx="2085975" cy="1876425"/>
          </a:xfrm>
          <a:custGeom>
            <a:avLst/>
            <a:gdLst/>
            <a:ahLst/>
            <a:cxnLst/>
            <a:rect l="l" t="t" r="r" b="b"/>
            <a:pathLst>
              <a:path w="2085975" h="1876425">
                <a:moveTo>
                  <a:pt x="0" y="0"/>
                </a:moveTo>
                <a:lnTo>
                  <a:pt x="2085975" y="0"/>
                </a:lnTo>
                <a:lnTo>
                  <a:pt x="20859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6FC852-D021-EBE2-29EE-F028030227B3}"/>
              </a:ext>
            </a:extLst>
          </p:cNvPr>
          <p:cNvSpPr/>
          <p:nvPr/>
        </p:nvSpPr>
        <p:spPr>
          <a:xfrm>
            <a:off x="1138236" y="1879052"/>
            <a:ext cx="12742966" cy="656009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5EA14-D4B7-AF5E-183E-DF6242AD183D}"/>
              </a:ext>
            </a:extLst>
          </p:cNvPr>
          <p:cNvSpPr txBox="1"/>
          <p:nvPr/>
        </p:nvSpPr>
        <p:spPr>
          <a:xfrm>
            <a:off x="1638300" y="2618483"/>
            <a:ext cx="6934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Name:</a:t>
            </a:r>
            <a:br>
              <a:rPr lang="en-IN" sz="2800" dirty="0">
                <a:latin typeface="Algerian" panose="04020705040A02060702" pitchFamily="82" charset="0"/>
              </a:rPr>
            </a:br>
            <a:br>
              <a:rPr lang="en-IN" sz="2800" dirty="0">
                <a:latin typeface="Algerian" panose="04020705040A02060702" pitchFamily="82" charset="0"/>
              </a:rPr>
            </a:br>
            <a:r>
              <a:rPr lang="en-IN" sz="2800" dirty="0">
                <a:latin typeface="Algerian" panose="04020705040A02060702" pitchFamily="82" charset="0"/>
              </a:rPr>
              <a:t>Apurba Das (25BHI10010)</a:t>
            </a:r>
          </a:p>
          <a:p>
            <a:r>
              <a:rPr lang="en-IN" sz="2800" dirty="0">
                <a:latin typeface="Algerian" panose="04020705040A02060702" pitchFamily="82" charset="0"/>
              </a:rPr>
              <a:t>Abhishek Tandan (25bhi10097)</a:t>
            </a:r>
          </a:p>
          <a:p>
            <a:r>
              <a:rPr lang="en-IN" sz="2800" dirty="0">
                <a:latin typeface="Algerian" panose="04020705040A02060702" pitchFamily="82" charset="0"/>
              </a:rPr>
              <a:t>Gargi Khan</a:t>
            </a:r>
          </a:p>
          <a:p>
            <a:r>
              <a:rPr lang="en-IN" sz="2800" dirty="0">
                <a:latin typeface="Algerian" panose="04020705040A02060702" pitchFamily="82" charset="0"/>
              </a:rPr>
              <a:t>Lakshay Pareek</a:t>
            </a:r>
          </a:p>
          <a:p>
            <a:r>
              <a:rPr lang="en-IN" sz="2800" dirty="0">
                <a:latin typeface="Algerian" panose="04020705040A02060702" pitchFamily="82" charset="0"/>
              </a:rPr>
              <a:t>Piyush </a:t>
            </a:r>
            <a:br>
              <a:rPr lang="en-IN" sz="2800" dirty="0">
                <a:latin typeface="Algerian" panose="04020705040A02060702" pitchFamily="82" charset="0"/>
              </a:rPr>
            </a:br>
            <a:endParaRPr lang="en-IN" sz="2800" dirty="0">
              <a:latin typeface="Algerian" panose="04020705040A020607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FDA832-CBA8-86DC-39D5-78664B2550FF}"/>
              </a:ext>
            </a:extLst>
          </p:cNvPr>
          <p:cNvSpPr txBox="1"/>
          <p:nvPr/>
        </p:nvSpPr>
        <p:spPr>
          <a:xfrm>
            <a:off x="2468916" y="729361"/>
            <a:ext cx="10081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Project Title: An IoT-Based Real-Time Patient Health Monitoring System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65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925800" cy="8963025"/>
          </a:xfrm>
          <a:custGeom>
            <a:avLst/>
            <a:gdLst/>
            <a:ahLst/>
            <a:cxnLst/>
            <a:rect l="l" t="t" r="r" b="b"/>
            <a:pathLst>
              <a:path w="15925800" h="8963025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" y="2627"/>
            <a:ext cx="2276475" cy="1876425"/>
          </a:xfrm>
          <a:custGeom>
            <a:avLst/>
            <a:gdLst/>
            <a:ahLst/>
            <a:cxnLst/>
            <a:rect l="l" t="t" r="r" b="b"/>
            <a:pathLst>
              <a:path w="2276475" h="1876425">
                <a:moveTo>
                  <a:pt x="0" y="0"/>
                </a:moveTo>
                <a:lnTo>
                  <a:pt x="2276475" y="0"/>
                </a:lnTo>
                <a:lnTo>
                  <a:pt x="22764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2000" dirty="0">
              <a:latin typeface="Aptos Narrow" panose="020B0004020202020204" pitchFamily="34" charset="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8041" y="7096125"/>
            <a:ext cx="2085975" cy="1876425"/>
          </a:xfrm>
          <a:custGeom>
            <a:avLst/>
            <a:gdLst/>
            <a:ahLst/>
            <a:cxnLst/>
            <a:rect l="l" t="t" r="r" b="b"/>
            <a:pathLst>
              <a:path w="2085975" h="1876425">
                <a:moveTo>
                  <a:pt x="0" y="0"/>
                </a:moveTo>
                <a:lnTo>
                  <a:pt x="2085975" y="0"/>
                </a:lnTo>
                <a:lnTo>
                  <a:pt x="20859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66143" y="19545"/>
            <a:ext cx="2847975" cy="1314450"/>
          </a:xfrm>
          <a:custGeom>
            <a:avLst/>
            <a:gdLst/>
            <a:ahLst/>
            <a:cxnLst/>
            <a:rect l="l" t="t" r="r" b="b"/>
            <a:pathLst>
              <a:path w="2847975" h="1314450">
                <a:moveTo>
                  <a:pt x="0" y="0"/>
                </a:moveTo>
                <a:lnTo>
                  <a:pt x="2847975" y="0"/>
                </a:lnTo>
                <a:lnTo>
                  <a:pt x="2847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0" y="933450"/>
            <a:ext cx="3981450" cy="752475"/>
          </a:xfrm>
          <a:custGeom>
            <a:avLst/>
            <a:gdLst/>
            <a:ahLst/>
            <a:cxnLst/>
            <a:rect l="l" t="t" r="r" b="b"/>
            <a:pathLst>
              <a:path w="3981450" h="752475">
                <a:moveTo>
                  <a:pt x="0" y="0"/>
                </a:moveTo>
                <a:lnTo>
                  <a:pt x="3981450" y="0"/>
                </a:lnTo>
                <a:lnTo>
                  <a:pt x="398145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644384" y="338476"/>
            <a:ext cx="4585716" cy="840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71"/>
              </a:lnSpc>
            </a:pPr>
            <a:r>
              <a:rPr lang="en-US" sz="6600" b="1" dirty="0">
                <a:solidFill>
                  <a:srgbClr val="00968D"/>
                </a:solidFill>
                <a:latin typeface="Aptos Narrow" panose="020B0004020202020204" pitchFamily="34" charset="0"/>
                <a:ea typeface="Roboto Condensed Bold"/>
                <a:cs typeface="Roboto Condensed Bold"/>
                <a:sym typeface="Roboto Condensed Bold"/>
              </a:rPr>
              <a:t>OVERVIEW</a:t>
            </a:r>
          </a:p>
        </p:txBody>
      </p:sp>
      <p:sp>
        <p:nvSpPr>
          <p:cNvPr id="8" name="Freeform 8"/>
          <p:cNvSpPr/>
          <p:nvPr/>
        </p:nvSpPr>
        <p:spPr>
          <a:xfrm>
            <a:off x="7391400" y="1114425"/>
            <a:ext cx="1143000" cy="200025"/>
          </a:xfrm>
          <a:custGeom>
            <a:avLst/>
            <a:gdLst/>
            <a:ahLst/>
            <a:cxnLst/>
            <a:rect l="l" t="t" r="r" b="b"/>
            <a:pathLst>
              <a:path w="1143000" h="200025">
                <a:moveTo>
                  <a:pt x="0" y="0"/>
                </a:moveTo>
                <a:lnTo>
                  <a:pt x="1143000" y="0"/>
                </a:lnTo>
                <a:lnTo>
                  <a:pt x="11430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05146" y="1450221"/>
            <a:ext cx="5988101" cy="58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dirty="0">
                <a:solidFill>
                  <a:srgbClr val="001F3D"/>
                </a:solidFill>
                <a:latin typeface="Aptos Narrow" panose="020B0004020202020204" pitchFamily="34" charset="0"/>
                <a:ea typeface="Nourd"/>
                <a:cs typeface="Nourd"/>
                <a:sym typeface="Nourd"/>
              </a:rPr>
              <a:t>An end-to-end IoT based health monitoring system</a:t>
            </a:r>
          </a:p>
          <a:p>
            <a:pPr algn="ctr">
              <a:lnSpc>
                <a:spcPts val="2279"/>
              </a:lnSpc>
            </a:pPr>
            <a:r>
              <a:rPr lang="en-US" dirty="0">
                <a:solidFill>
                  <a:srgbClr val="001F3D"/>
                </a:solidFill>
                <a:latin typeface="Aptos Narrow" panose="020B0004020202020204" pitchFamily="34" charset="0"/>
                <a:ea typeface="Nourd"/>
                <a:cs typeface="Nourd"/>
                <a:sym typeface="Nourd"/>
              </a:rPr>
              <a:t>that collects, transmits and analyzes health data in real-time.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845" y="2290016"/>
            <a:ext cx="1879244" cy="230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1. DATA COLLECTION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5177" y="2631527"/>
            <a:ext cx="162443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3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Body sensors collect</a:t>
            </a:r>
          </a:p>
          <a:p>
            <a:pPr algn="l">
              <a:lnSpc>
                <a:spcPts val="1563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real-time health data.</a:t>
            </a:r>
          </a:p>
        </p:txBody>
      </p:sp>
      <p:sp>
        <p:nvSpPr>
          <p:cNvPr id="12" name="Freeform 12"/>
          <p:cNvSpPr/>
          <p:nvPr/>
        </p:nvSpPr>
        <p:spPr>
          <a:xfrm>
            <a:off x="371475" y="3171825"/>
            <a:ext cx="3048000" cy="3371850"/>
          </a:xfrm>
          <a:custGeom>
            <a:avLst/>
            <a:gdLst/>
            <a:ahLst/>
            <a:cxnLst/>
            <a:rect l="l" t="t" r="r" b="b"/>
            <a:pathLst>
              <a:path w="3048000" h="3371850">
                <a:moveTo>
                  <a:pt x="0" y="0"/>
                </a:moveTo>
                <a:lnTo>
                  <a:pt x="3048000" y="0"/>
                </a:lnTo>
                <a:lnTo>
                  <a:pt x="304800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61975" y="3352800"/>
            <a:ext cx="1152525" cy="2438400"/>
          </a:xfrm>
          <a:custGeom>
            <a:avLst/>
            <a:gdLst/>
            <a:ahLst/>
            <a:cxnLst/>
            <a:rect l="l" t="t" r="r" b="b"/>
            <a:pathLst>
              <a:path w="1152525" h="2438400">
                <a:moveTo>
                  <a:pt x="0" y="0"/>
                </a:moveTo>
                <a:lnTo>
                  <a:pt x="1152525" y="0"/>
                </a:lnTo>
                <a:lnTo>
                  <a:pt x="1152525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895475" y="33528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0" y="0"/>
                </a:moveTo>
                <a:lnTo>
                  <a:pt x="571500" y="0"/>
                </a:lnTo>
                <a:lnTo>
                  <a:pt x="5715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895475" y="410527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95475" y="4667250"/>
            <a:ext cx="571500" cy="561975"/>
          </a:xfrm>
          <a:custGeom>
            <a:avLst/>
            <a:gdLst/>
            <a:ahLst/>
            <a:cxnLst/>
            <a:rect l="l" t="t" r="r" b="b"/>
            <a:pathLst>
              <a:path w="571500" h="561975">
                <a:moveTo>
                  <a:pt x="0" y="0"/>
                </a:moveTo>
                <a:lnTo>
                  <a:pt x="571500" y="0"/>
                </a:lnTo>
                <a:lnTo>
                  <a:pt x="571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895475" y="52197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42975" y="5972175"/>
            <a:ext cx="1714500" cy="571500"/>
          </a:xfrm>
          <a:custGeom>
            <a:avLst/>
            <a:gdLst/>
            <a:ahLst/>
            <a:cxnLst/>
            <a:rect l="l" t="t" r="r" b="b"/>
            <a:pathLst>
              <a:path w="1714500" h="571500">
                <a:moveTo>
                  <a:pt x="0" y="0"/>
                </a:moveTo>
                <a:lnTo>
                  <a:pt x="1714500" y="0"/>
                </a:lnTo>
                <a:lnTo>
                  <a:pt x="1714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94435" y="6117933"/>
            <a:ext cx="1258138" cy="18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7"/>
              </a:lnSpc>
            </a:pPr>
            <a:r>
              <a:rPr lang="en-US" sz="1200" b="1" dirty="0">
                <a:solidFill>
                  <a:srgbClr val="FFFFFF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BODY SENSORS</a:t>
            </a:r>
          </a:p>
        </p:txBody>
      </p:sp>
      <p:sp>
        <p:nvSpPr>
          <p:cNvPr id="20" name="Freeform 20"/>
          <p:cNvSpPr/>
          <p:nvPr/>
        </p:nvSpPr>
        <p:spPr>
          <a:xfrm>
            <a:off x="3219450" y="428625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0"/>
                </a:moveTo>
                <a:lnTo>
                  <a:pt x="762000" y="0"/>
                </a:lnTo>
                <a:lnTo>
                  <a:pt x="762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600450" y="3171825"/>
            <a:ext cx="2466975" cy="3552825"/>
          </a:xfrm>
          <a:custGeom>
            <a:avLst/>
            <a:gdLst/>
            <a:ahLst/>
            <a:cxnLst/>
            <a:rect l="l" t="t" r="r" b="b"/>
            <a:pathLst>
              <a:path w="2466975" h="3552825">
                <a:moveTo>
                  <a:pt x="0" y="0"/>
                </a:moveTo>
                <a:lnTo>
                  <a:pt x="2466975" y="0"/>
                </a:lnTo>
                <a:lnTo>
                  <a:pt x="2466975" y="3552825"/>
                </a:lnTo>
                <a:lnTo>
                  <a:pt x="0" y="35528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352925" y="3352800"/>
            <a:ext cx="962025" cy="762000"/>
          </a:xfrm>
          <a:custGeom>
            <a:avLst/>
            <a:gdLst/>
            <a:ahLst/>
            <a:cxnLst/>
            <a:rect l="l" t="t" r="r" b="b"/>
            <a:pathLst>
              <a:path w="962025" h="762000">
                <a:moveTo>
                  <a:pt x="0" y="0"/>
                </a:moveTo>
                <a:lnTo>
                  <a:pt x="962025" y="0"/>
                </a:lnTo>
                <a:lnTo>
                  <a:pt x="962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352925" y="4105275"/>
            <a:ext cx="1152525" cy="1123950"/>
          </a:xfrm>
          <a:custGeom>
            <a:avLst/>
            <a:gdLst/>
            <a:ahLst/>
            <a:cxnLst/>
            <a:rect l="l" t="t" r="r" b="b"/>
            <a:pathLst>
              <a:path w="1152525" h="1123950">
                <a:moveTo>
                  <a:pt x="0" y="0"/>
                </a:moveTo>
                <a:lnTo>
                  <a:pt x="1152525" y="0"/>
                </a:lnTo>
                <a:lnTo>
                  <a:pt x="1152525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981450" y="5600700"/>
            <a:ext cx="1905000" cy="190500"/>
          </a:xfrm>
          <a:custGeom>
            <a:avLst/>
            <a:gdLst/>
            <a:ahLst/>
            <a:cxnLst/>
            <a:rect l="l" t="t" r="r" b="b"/>
            <a:pathLst>
              <a:path w="1905000" h="190500">
                <a:moveTo>
                  <a:pt x="0" y="0"/>
                </a:moveTo>
                <a:lnTo>
                  <a:pt x="1905000" y="0"/>
                </a:lnTo>
                <a:lnTo>
                  <a:pt x="19050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733925" y="5781675"/>
            <a:ext cx="200025" cy="762000"/>
          </a:xfrm>
          <a:custGeom>
            <a:avLst/>
            <a:gdLst/>
            <a:ahLst/>
            <a:cxnLst/>
            <a:rect l="l" t="t" r="r" b="b"/>
            <a:pathLst>
              <a:path w="200025" h="762000">
                <a:moveTo>
                  <a:pt x="0" y="0"/>
                </a:moveTo>
                <a:lnTo>
                  <a:pt x="200025" y="0"/>
                </a:lnTo>
                <a:lnTo>
                  <a:pt x="200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876925" y="4105275"/>
            <a:ext cx="762000" cy="752475"/>
          </a:xfrm>
          <a:custGeom>
            <a:avLst/>
            <a:gdLst/>
            <a:ahLst/>
            <a:cxnLst/>
            <a:rect l="l" t="t" r="r" b="b"/>
            <a:pathLst>
              <a:path w="762000" h="752475">
                <a:moveTo>
                  <a:pt x="0" y="0"/>
                </a:moveTo>
                <a:lnTo>
                  <a:pt x="762000" y="0"/>
                </a:lnTo>
                <a:lnTo>
                  <a:pt x="762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438900" y="3171825"/>
            <a:ext cx="2857500" cy="3552825"/>
          </a:xfrm>
          <a:custGeom>
            <a:avLst/>
            <a:gdLst/>
            <a:ahLst/>
            <a:cxnLst/>
            <a:rect l="l" t="t" r="r" b="b"/>
            <a:pathLst>
              <a:path w="2857500" h="3552825">
                <a:moveTo>
                  <a:pt x="0" y="0"/>
                </a:moveTo>
                <a:lnTo>
                  <a:pt x="2857500" y="0"/>
                </a:lnTo>
                <a:lnTo>
                  <a:pt x="2857500" y="3552825"/>
                </a:lnTo>
                <a:lnTo>
                  <a:pt x="0" y="35528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819900" y="3543300"/>
            <a:ext cx="2095500" cy="1685925"/>
          </a:xfrm>
          <a:custGeom>
            <a:avLst/>
            <a:gdLst/>
            <a:ahLst/>
            <a:cxnLst/>
            <a:rect l="l" t="t" r="r" b="b"/>
            <a:pathLst>
              <a:path w="2095500" h="1685925">
                <a:moveTo>
                  <a:pt x="0" y="0"/>
                </a:moveTo>
                <a:lnTo>
                  <a:pt x="2095500" y="0"/>
                </a:lnTo>
                <a:lnTo>
                  <a:pt x="2095500" y="1685925"/>
                </a:lnTo>
                <a:lnTo>
                  <a:pt x="0" y="16859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629400" y="5600700"/>
            <a:ext cx="2286000" cy="190500"/>
          </a:xfrm>
          <a:custGeom>
            <a:avLst/>
            <a:gdLst/>
            <a:ahLst/>
            <a:cxnLst/>
            <a:rect l="l" t="t" r="r" b="b"/>
            <a:pathLst>
              <a:path w="2286000" h="190500">
                <a:moveTo>
                  <a:pt x="0" y="0"/>
                </a:moveTo>
                <a:lnTo>
                  <a:pt x="2286000" y="0"/>
                </a:lnTo>
                <a:lnTo>
                  <a:pt x="22860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819900" y="5781675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0" y="0"/>
                </a:moveTo>
                <a:lnTo>
                  <a:pt x="390525" y="0"/>
                </a:lnTo>
                <a:lnTo>
                  <a:pt x="390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7391400" y="5781675"/>
            <a:ext cx="200025" cy="762000"/>
          </a:xfrm>
          <a:custGeom>
            <a:avLst/>
            <a:gdLst/>
            <a:ahLst/>
            <a:cxnLst/>
            <a:rect l="l" t="t" r="r" b="b"/>
            <a:pathLst>
              <a:path w="200025" h="762000">
                <a:moveTo>
                  <a:pt x="0" y="0"/>
                </a:moveTo>
                <a:lnTo>
                  <a:pt x="200025" y="0"/>
                </a:lnTo>
                <a:lnTo>
                  <a:pt x="200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7391400" y="5781675"/>
            <a:ext cx="571500" cy="381000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0"/>
                </a:moveTo>
                <a:lnTo>
                  <a:pt x="571500" y="0"/>
                </a:lnTo>
                <a:lnTo>
                  <a:pt x="571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8143875" y="5781675"/>
            <a:ext cx="200025" cy="762000"/>
          </a:xfrm>
          <a:custGeom>
            <a:avLst/>
            <a:gdLst/>
            <a:ahLst/>
            <a:cxnLst/>
            <a:rect l="l" t="t" r="r" b="b"/>
            <a:pathLst>
              <a:path w="200025" h="762000">
                <a:moveTo>
                  <a:pt x="0" y="0"/>
                </a:moveTo>
                <a:lnTo>
                  <a:pt x="200025" y="0"/>
                </a:lnTo>
                <a:lnTo>
                  <a:pt x="200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334375" y="5781675"/>
            <a:ext cx="581025" cy="381000"/>
          </a:xfrm>
          <a:custGeom>
            <a:avLst/>
            <a:gdLst/>
            <a:ahLst/>
            <a:cxnLst/>
            <a:rect l="l" t="t" r="r" b="b"/>
            <a:pathLst>
              <a:path w="581025" h="381000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905875" y="4105275"/>
            <a:ext cx="771525" cy="752475"/>
          </a:xfrm>
          <a:custGeom>
            <a:avLst/>
            <a:gdLst/>
            <a:ahLst/>
            <a:cxnLst/>
            <a:rect l="l" t="t" r="r" b="b"/>
            <a:pathLst>
              <a:path w="771525" h="752475">
                <a:moveTo>
                  <a:pt x="0" y="0"/>
                </a:moveTo>
                <a:lnTo>
                  <a:pt x="771525" y="0"/>
                </a:lnTo>
                <a:lnTo>
                  <a:pt x="7715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9477375" y="3171825"/>
            <a:ext cx="3038475" cy="3552825"/>
          </a:xfrm>
          <a:custGeom>
            <a:avLst/>
            <a:gdLst/>
            <a:ahLst/>
            <a:cxnLst/>
            <a:rect l="l" t="t" r="r" b="b"/>
            <a:pathLst>
              <a:path w="3038475" h="3552825">
                <a:moveTo>
                  <a:pt x="0" y="0"/>
                </a:moveTo>
                <a:lnTo>
                  <a:pt x="3038475" y="0"/>
                </a:lnTo>
                <a:lnTo>
                  <a:pt x="3038475" y="3552825"/>
                </a:lnTo>
                <a:lnTo>
                  <a:pt x="0" y="35528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9" name="Freeform 39"/>
          <p:cNvSpPr/>
          <p:nvPr/>
        </p:nvSpPr>
        <p:spPr>
          <a:xfrm>
            <a:off x="9477375" y="3543300"/>
            <a:ext cx="2847975" cy="1876425"/>
          </a:xfrm>
          <a:custGeom>
            <a:avLst/>
            <a:gdLst/>
            <a:ahLst/>
            <a:cxnLst/>
            <a:rect l="l" t="t" r="r" b="b"/>
            <a:pathLst>
              <a:path w="2847975" h="1876425">
                <a:moveTo>
                  <a:pt x="0" y="0"/>
                </a:moveTo>
                <a:lnTo>
                  <a:pt x="2847975" y="0"/>
                </a:lnTo>
                <a:lnTo>
                  <a:pt x="28479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4618482" y="338476"/>
            <a:ext cx="2818867" cy="83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71"/>
              </a:lnSpc>
            </a:pPr>
            <a:r>
              <a:rPr lang="en-US" sz="6600" b="1" dirty="0">
                <a:solidFill>
                  <a:srgbClr val="001F3D"/>
                </a:solidFill>
                <a:latin typeface="Aptos Narrow" panose="020B0004020202020204" pitchFamily="34" charset="0"/>
                <a:ea typeface="Roboto Condensed Bold"/>
                <a:cs typeface="Roboto Condensed Bold"/>
                <a:sym typeface="Roboto Condensed Bold"/>
              </a:rPr>
              <a:t>SYSTEM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54044" y="2290016"/>
            <a:ext cx="2149983" cy="230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2. DATA TRANSMISSION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31241" y="2290016"/>
            <a:ext cx="1942948" cy="230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3. DATA PROCESSING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28809" y="2280941"/>
            <a:ext cx="1656283" cy="23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4. VISUALIZATION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947675" y="2294328"/>
            <a:ext cx="2484425" cy="222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5. ALERTS &amp; NOTIFICATIONS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45153" y="2612702"/>
            <a:ext cx="168813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Data is sent to the IoT</a:t>
            </a:r>
          </a:p>
          <a:p>
            <a:pPr algn="l">
              <a:lnSpc>
                <a:spcPts val="1609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gateway via wireless.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48094" y="2612702"/>
            <a:ext cx="214998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Data is processed, analyzed</a:t>
            </a:r>
          </a:p>
          <a:p>
            <a:pPr algn="ctr">
              <a:lnSpc>
                <a:spcPts val="1609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and stored securely.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017328" y="2612702"/>
            <a:ext cx="1911096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Users can view real-time</a:t>
            </a:r>
          </a:p>
          <a:p>
            <a:pPr algn="l">
              <a:lnSpc>
                <a:spcPts val="1609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data on dashboard.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170637" y="2631527"/>
            <a:ext cx="200665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3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Instant alerts for abnormal</a:t>
            </a:r>
          </a:p>
          <a:p>
            <a:pPr algn="ctr">
              <a:lnSpc>
                <a:spcPts val="1563"/>
              </a:lnSpc>
            </a:pPr>
            <a:r>
              <a:rPr lang="en-US" sz="14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health conditions.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00351" y="4818460"/>
            <a:ext cx="716661" cy="1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"/>
              </a:lnSpc>
            </a:pPr>
            <a:r>
              <a:rPr lang="en-US" sz="9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Temperature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00351" y="5424282"/>
            <a:ext cx="477774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1"/>
              </a:lnSpc>
            </a:pPr>
            <a:r>
              <a:rPr lang="en-US" sz="9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Blood</a:t>
            </a:r>
          </a:p>
          <a:p>
            <a:pPr algn="l">
              <a:lnSpc>
                <a:spcPts val="971"/>
              </a:lnSpc>
            </a:pPr>
            <a:r>
              <a:rPr lang="en-US" sz="9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Pressure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00351" y="3662230"/>
            <a:ext cx="605180" cy="1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"/>
              </a:lnSpc>
            </a:pPr>
            <a:r>
              <a:rPr lang="en-US" sz="9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Heart Rate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500350" y="4226900"/>
            <a:ext cx="716661" cy="137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8"/>
              </a:lnSpc>
            </a:pPr>
            <a:r>
              <a:rPr lang="en-US" sz="9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SPO2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92931" y="6230306"/>
            <a:ext cx="5892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z="1000" b="1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Bluetooth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07737" y="6230306"/>
            <a:ext cx="318516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z="10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Wi-Fi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315892" y="5361175"/>
            <a:ext cx="1098880" cy="18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1"/>
              </a:lnSpc>
            </a:pPr>
            <a:r>
              <a:rPr lang="en-US" sz="1200" b="1">
                <a:solidFill>
                  <a:srgbClr val="001F3D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IOT GATEWAY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230313" y="5347112"/>
            <a:ext cx="1210361" cy="18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7"/>
              </a:lnSpc>
            </a:pPr>
            <a:r>
              <a:rPr lang="en-US" sz="1200" b="1" dirty="0">
                <a:solidFill>
                  <a:srgbClr val="6E58C4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CLOUD SERVER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800317" y="6244368"/>
            <a:ext cx="461848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4"/>
              </a:lnSpc>
            </a:pPr>
            <a:r>
              <a:rPr lang="en-US" sz="10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Storage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80681" y="6230306"/>
            <a:ext cx="63703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z="10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Analytics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345119" y="6244368"/>
            <a:ext cx="605180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4"/>
              </a:lnSpc>
            </a:pPr>
            <a:r>
              <a:rPr lang="en-US" sz="10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AI Insights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118833" y="6979231"/>
            <a:ext cx="1560728" cy="27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b="1">
                <a:solidFill>
                  <a:srgbClr val="001F3D"/>
                </a:solidFill>
                <a:latin typeface="Aptos Narrow" panose="020B0004020202020204" pitchFamily="34" charset="0"/>
                <a:ea typeface="Nourd Bold"/>
                <a:cs typeface="Nourd Bold"/>
                <a:sym typeface="Nourd Bold"/>
              </a:rPr>
              <a:t>KEY BENEFITS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267293" y="7851024"/>
            <a:ext cx="780364" cy="37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1"/>
              </a:lnSpc>
            </a:pPr>
            <a:r>
              <a:rPr lang="en-US" sz="12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Real-time</a:t>
            </a:r>
          </a:p>
          <a:p>
            <a:pPr algn="ctr">
              <a:lnSpc>
                <a:spcPts val="1471"/>
              </a:lnSpc>
            </a:pPr>
            <a:r>
              <a:rPr lang="en-US" sz="12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Monitoring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022454" y="7840732"/>
            <a:ext cx="132184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3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Early Detection &amp;</a:t>
            </a:r>
          </a:p>
          <a:p>
            <a:pPr algn="ctr">
              <a:lnSpc>
                <a:spcPts val="1563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Timely Alerts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402791" y="7829755"/>
            <a:ext cx="89184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Data-driven</a:t>
            </a:r>
          </a:p>
          <a:p>
            <a:pPr algn="ctr">
              <a:lnSpc>
                <a:spcPts val="1609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Insights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235031" y="7815865"/>
            <a:ext cx="1688135" cy="385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7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Improved Patient Care</a:t>
            </a:r>
          </a:p>
          <a:p>
            <a:pPr algn="ctr">
              <a:lnSpc>
                <a:spcPts val="1517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&amp; Outcomes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813618" y="7807241"/>
            <a:ext cx="121036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Continuous</a:t>
            </a:r>
          </a:p>
          <a:p>
            <a:pPr algn="ctr">
              <a:lnSpc>
                <a:spcPts val="1609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Health Tracking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044223" y="7769388"/>
            <a:ext cx="105110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3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Cost-effective</a:t>
            </a:r>
          </a:p>
          <a:p>
            <a:pPr algn="ctr">
              <a:lnSpc>
                <a:spcPts val="1563"/>
              </a:lnSpc>
            </a:pPr>
            <a:r>
              <a:rPr lang="en-US" sz="14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Healthcare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888A57F-119E-4597-E03C-BA451461697E}"/>
              </a:ext>
            </a:extLst>
          </p:cNvPr>
          <p:cNvSpPr/>
          <p:nvPr/>
        </p:nvSpPr>
        <p:spPr>
          <a:xfrm>
            <a:off x="12837473" y="3294537"/>
            <a:ext cx="2526352" cy="331299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1"/>
          <p:cNvSpPr txBox="1"/>
          <p:nvPr/>
        </p:nvSpPr>
        <p:spPr>
          <a:xfrm>
            <a:off x="13379441" y="5791942"/>
            <a:ext cx="2598098" cy="153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0"/>
              </a:lnSpc>
            </a:pPr>
            <a:r>
              <a:rPr lang="en-US" sz="1600" b="1" dirty="0">
                <a:solidFill>
                  <a:srgbClr val="001F3D"/>
                </a:solidFill>
                <a:latin typeface="Aptos Narrow" panose="020B0004020202020204" pitchFamily="34" charset="0"/>
                <a:ea typeface="Nourd Semi-Bold"/>
                <a:cs typeface="Nourd Semi-Bold"/>
                <a:sym typeface="Nourd Semi-Bold"/>
              </a:rPr>
              <a:t>Push Notifications</a:t>
            </a:r>
          </a:p>
        </p:txBody>
      </p:sp>
      <p:sp>
        <p:nvSpPr>
          <p:cNvPr id="83" name="Freeform 37">
            <a:extLst>
              <a:ext uri="{FF2B5EF4-FFF2-40B4-BE49-F238E27FC236}">
                <a16:creationId xmlns:a16="http://schemas.microsoft.com/office/drawing/2014/main" id="{2489D80E-3C72-EFC2-36D0-B926716EBB7E}"/>
              </a:ext>
            </a:extLst>
          </p:cNvPr>
          <p:cNvSpPr/>
          <p:nvPr/>
        </p:nvSpPr>
        <p:spPr>
          <a:xfrm>
            <a:off x="12184702" y="4059063"/>
            <a:ext cx="771525" cy="752475"/>
          </a:xfrm>
          <a:custGeom>
            <a:avLst/>
            <a:gdLst/>
            <a:ahLst/>
            <a:cxnLst/>
            <a:rect l="l" t="t" r="r" b="b"/>
            <a:pathLst>
              <a:path w="771525" h="752475">
                <a:moveTo>
                  <a:pt x="0" y="0"/>
                </a:moveTo>
                <a:lnTo>
                  <a:pt x="771525" y="0"/>
                </a:lnTo>
                <a:lnTo>
                  <a:pt x="7715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6037C5E4-D0BA-B884-606E-D3CA8F9D9F2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7820" y="3455614"/>
            <a:ext cx="2119312" cy="2119312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DF6ACD48-998F-6264-184A-52CD0207120F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190" y="5686423"/>
            <a:ext cx="571501" cy="571501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77BB6C2B-762E-4476-FBFB-AB548C06ABC8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084" y="5623150"/>
            <a:ext cx="667821" cy="6678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37">
            <a:extLst>
              <a:ext uri="{FF2B5EF4-FFF2-40B4-BE49-F238E27FC236}">
                <a16:creationId xmlns:a16="http://schemas.microsoft.com/office/drawing/2014/main" id="{22CC83B4-9D25-CA28-00BD-8540B3A6D6C9}"/>
              </a:ext>
            </a:extLst>
          </p:cNvPr>
          <p:cNvSpPr/>
          <p:nvPr/>
        </p:nvSpPr>
        <p:spPr>
          <a:xfrm>
            <a:off x="9473874" y="1713275"/>
            <a:ext cx="2667000" cy="4676775"/>
          </a:xfrm>
          <a:custGeom>
            <a:avLst/>
            <a:gdLst/>
            <a:ahLst/>
            <a:cxnLst/>
            <a:rect l="l" t="t" r="r" b="b"/>
            <a:pathLst>
              <a:path w="2667000" h="4676775">
                <a:moveTo>
                  <a:pt x="0" y="0"/>
                </a:moveTo>
                <a:lnTo>
                  <a:pt x="2667000" y="0"/>
                </a:lnTo>
                <a:lnTo>
                  <a:pt x="2667000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14500" cy="1314450"/>
          </a:xfrm>
          <a:custGeom>
            <a:avLst/>
            <a:gdLst/>
            <a:ahLst/>
            <a:cxnLst/>
            <a:rect l="l" t="t" r="r" b="b"/>
            <a:pathLst>
              <a:path w="1714500" h="1314450">
                <a:moveTo>
                  <a:pt x="0" y="0"/>
                </a:moveTo>
                <a:lnTo>
                  <a:pt x="1714500" y="0"/>
                </a:lnTo>
                <a:lnTo>
                  <a:pt x="17145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1975" y="371475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70367" y="0"/>
            <a:ext cx="3800475" cy="2428875"/>
          </a:xfrm>
          <a:custGeom>
            <a:avLst/>
            <a:gdLst/>
            <a:ahLst/>
            <a:cxnLst/>
            <a:rect l="l" t="t" r="r" b="b"/>
            <a:pathLst>
              <a:path w="3800475" h="2428875">
                <a:moveTo>
                  <a:pt x="0" y="0"/>
                </a:moveTo>
                <a:lnTo>
                  <a:pt x="3800475" y="0"/>
                </a:lnTo>
                <a:lnTo>
                  <a:pt x="3800475" y="2428875"/>
                </a:lnTo>
                <a:lnTo>
                  <a:pt x="0" y="2428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92300" y="180975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56070" y="234125"/>
            <a:ext cx="12166452" cy="753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69"/>
              </a:lnSpc>
            </a:pPr>
            <a:r>
              <a:rPr lang="en-US" sz="5669" b="1" dirty="0">
                <a:solidFill>
                  <a:srgbClr val="002F5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Methodology &amp; </a:t>
            </a:r>
            <a:r>
              <a:rPr lang="en-US" sz="5669" b="1" dirty="0">
                <a:solidFill>
                  <a:srgbClr val="008F8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Technical Strategy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75534" y="1221849"/>
            <a:ext cx="1057473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A smart, connected approach to real-time patient health monitoring</a:t>
            </a:r>
          </a:p>
        </p:txBody>
      </p:sp>
      <p:sp>
        <p:nvSpPr>
          <p:cNvPr id="9" name="Freeform 9"/>
          <p:cNvSpPr/>
          <p:nvPr/>
        </p:nvSpPr>
        <p:spPr>
          <a:xfrm>
            <a:off x="1704975" y="1485900"/>
            <a:ext cx="11382375" cy="200025"/>
          </a:xfrm>
          <a:custGeom>
            <a:avLst/>
            <a:gdLst/>
            <a:ahLst/>
            <a:cxnLst/>
            <a:rect l="l" t="t" r="r" b="b"/>
            <a:pathLst>
              <a:path w="11382375" h="200025">
                <a:moveTo>
                  <a:pt x="0" y="0"/>
                </a:moveTo>
                <a:lnTo>
                  <a:pt x="11382375" y="0"/>
                </a:lnTo>
                <a:lnTo>
                  <a:pt x="113823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05875" y="1114425"/>
            <a:ext cx="771525" cy="571500"/>
          </a:xfrm>
          <a:custGeom>
            <a:avLst/>
            <a:gdLst/>
            <a:ahLst/>
            <a:cxnLst/>
            <a:rect l="l" t="t" r="r" b="b"/>
            <a:pathLst>
              <a:path w="771525" h="571500">
                <a:moveTo>
                  <a:pt x="0" y="0"/>
                </a:moveTo>
                <a:lnTo>
                  <a:pt x="771525" y="0"/>
                </a:lnTo>
                <a:lnTo>
                  <a:pt x="771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1475" y="1676400"/>
            <a:ext cx="2857500" cy="4676775"/>
          </a:xfrm>
          <a:custGeom>
            <a:avLst/>
            <a:gdLst/>
            <a:ahLst/>
            <a:cxnLst/>
            <a:rect l="l" t="t" r="r" b="b"/>
            <a:pathLst>
              <a:path w="2857500" h="4676775">
                <a:moveTo>
                  <a:pt x="0" y="0"/>
                </a:moveTo>
                <a:lnTo>
                  <a:pt x="2857500" y="0"/>
                </a:lnTo>
                <a:lnTo>
                  <a:pt x="2857500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52475" y="1866900"/>
            <a:ext cx="2095500" cy="561975"/>
          </a:xfrm>
          <a:custGeom>
            <a:avLst/>
            <a:gdLst/>
            <a:ahLst/>
            <a:cxnLst/>
            <a:rect l="l" t="t" r="r" b="b"/>
            <a:pathLst>
              <a:path w="2095500" h="561975">
                <a:moveTo>
                  <a:pt x="0" y="0"/>
                </a:moveTo>
                <a:lnTo>
                  <a:pt x="2095500" y="0"/>
                </a:lnTo>
                <a:lnTo>
                  <a:pt x="2095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03325" y="2015912"/>
            <a:ext cx="1528877" cy="21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08" b="1" dirty="0">
                <a:solidFill>
                  <a:srgbClr val="FFFFFF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1. SENSING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3696" y="2411532"/>
            <a:ext cx="1783690" cy="589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sz="1167" b="1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Wearable/portable sensors continuously measure vital signs.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371475" y="2981325"/>
            <a:ext cx="1343025" cy="3181350"/>
          </a:xfrm>
          <a:custGeom>
            <a:avLst/>
            <a:gdLst/>
            <a:ahLst/>
            <a:cxnLst/>
            <a:rect l="l" t="t" r="r" b="b"/>
            <a:pathLst>
              <a:path w="1343025" h="3181350">
                <a:moveTo>
                  <a:pt x="0" y="0"/>
                </a:moveTo>
                <a:lnTo>
                  <a:pt x="1343025" y="0"/>
                </a:lnTo>
                <a:lnTo>
                  <a:pt x="1343025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704975" y="2981325"/>
            <a:ext cx="1333500" cy="942975"/>
          </a:xfrm>
          <a:custGeom>
            <a:avLst/>
            <a:gdLst/>
            <a:ahLst/>
            <a:cxnLst/>
            <a:rect l="l" t="t" r="r" b="b"/>
            <a:pathLst>
              <a:path w="1333500" h="942975">
                <a:moveTo>
                  <a:pt x="0" y="0"/>
                </a:moveTo>
                <a:lnTo>
                  <a:pt x="1333500" y="0"/>
                </a:lnTo>
                <a:lnTo>
                  <a:pt x="1333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04975" y="317182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704975" y="3914775"/>
            <a:ext cx="1333500" cy="762000"/>
          </a:xfrm>
          <a:custGeom>
            <a:avLst/>
            <a:gdLst/>
            <a:ahLst/>
            <a:cxnLst/>
            <a:rect l="l" t="t" r="r" b="b"/>
            <a:pathLst>
              <a:path w="1333500" h="762000">
                <a:moveTo>
                  <a:pt x="0" y="0"/>
                </a:moveTo>
                <a:lnTo>
                  <a:pt x="1333500" y="0"/>
                </a:lnTo>
                <a:lnTo>
                  <a:pt x="13335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704975" y="391477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04975" y="4667250"/>
            <a:ext cx="1333500" cy="942975"/>
          </a:xfrm>
          <a:custGeom>
            <a:avLst/>
            <a:gdLst/>
            <a:ahLst/>
            <a:cxnLst/>
            <a:rect l="l" t="t" r="r" b="b"/>
            <a:pathLst>
              <a:path w="1333500" h="942975">
                <a:moveTo>
                  <a:pt x="0" y="0"/>
                </a:moveTo>
                <a:lnTo>
                  <a:pt x="1333500" y="0"/>
                </a:lnTo>
                <a:lnTo>
                  <a:pt x="1333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704975" y="484822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028950" y="3733800"/>
            <a:ext cx="581025" cy="561975"/>
          </a:xfrm>
          <a:custGeom>
            <a:avLst/>
            <a:gdLst/>
            <a:ahLst/>
            <a:cxnLst/>
            <a:rect l="l" t="t" r="r" b="b"/>
            <a:pathLst>
              <a:path w="581025" h="56197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471215" y="1676400"/>
            <a:ext cx="2847975" cy="4676775"/>
          </a:xfrm>
          <a:custGeom>
            <a:avLst/>
            <a:gdLst/>
            <a:ahLst/>
            <a:cxnLst/>
            <a:rect l="l" t="t" r="r" b="b"/>
            <a:pathLst>
              <a:path w="2847975" h="4676775">
                <a:moveTo>
                  <a:pt x="0" y="0"/>
                </a:moveTo>
                <a:lnTo>
                  <a:pt x="2847975" y="0"/>
                </a:lnTo>
                <a:lnTo>
                  <a:pt x="2847975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600450" y="1866900"/>
            <a:ext cx="2286000" cy="561975"/>
          </a:xfrm>
          <a:custGeom>
            <a:avLst/>
            <a:gdLst/>
            <a:ahLst/>
            <a:cxnLst/>
            <a:rect l="l" t="t" r="r" b="b"/>
            <a:pathLst>
              <a:path w="2286000" h="561975">
                <a:moveTo>
                  <a:pt x="0" y="0"/>
                </a:moveTo>
                <a:lnTo>
                  <a:pt x="2286000" y="0"/>
                </a:lnTo>
                <a:lnTo>
                  <a:pt x="22860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885894" y="2002525"/>
            <a:ext cx="1960093" cy="231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1"/>
              </a:lnSpc>
            </a:pPr>
            <a:r>
              <a:rPr lang="en-US" sz="1379" b="1" dirty="0">
                <a:solidFill>
                  <a:srgbClr val="FFFFFF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2. EDGE PROCESSING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10711" y="2416983"/>
            <a:ext cx="2325167" cy="39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131" b="1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ESP32 acquires, filters &amp; processes sensor data in real-time.</a:t>
            </a:r>
          </a:p>
        </p:txBody>
      </p:sp>
      <p:sp>
        <p:nvSpPr>
          <p:cNvPr id="27" name="Freeform 27"/>
          <p:cNvSpPr/>
          <p:nvPr/>
        </p:nvSpPr>
        <p:spPr>
          <a:xfrm>
            <a:off x="4162425" y="2800350"/>
            <a:ext cx="1343025" cy="2619375"/>
          </a:xfrm>
          <a:custGeom>
            <a:avLst/>
            <a:gdLst/>
            <a:ahLst/>
            <a:cxnLst/>
            <a:rect l="l" t="t" r="r" b="b"/>
            <a:pathLst>
              <a:path w="1343025" h="2619375">
                <a:moveTo>
                  <a:pt x="0" y="0"/>
                </a:moveTo>
                <a:lnTo>
                  <a:pt x="1343025" y="0"/>
                </a:lnTo>
                <a:lnTo>
                  <a:pt x="1343025" y="2619375"/>
                </a:lnTo>
                <a:lnTo>
                  <a:pt x="0" y="26193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600450" y="52197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647008" y="5827072"/>
            <a:ext cx="752780" cy="301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lang="en-US" sz="883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Data Acquisition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4352925" y="5219700"/>
            <a:ext cx="200025" cy="942975"/>
          </a:xfrm>
          <a:custGeom>
            <a:avLst/>
            <a:gdLst/>
            <a:ahLst/>
            <a:cxnLst/>
            <a:rect l="l" t="t" r="r" b="b"/>
            <a:pathLst>
              <a:path w="200025" h="942975">
                <a:moveTo>
                  <a:pt x="0" y="0"/>
                </a:moveTo>
                <a:lnTo>
                  <a:pt x="200025" y="0"/>
                </a:lnTo>
                <a:lnTo>
                  <a:pt x="200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4543425" y="5219700"/>
            <a:ext cx="581025" cy="571500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4554779" y="5818448"/>
            <a:ext cx="605180" cy="31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"/>
              </a:lnSpc>
            </a:pPr>
            <a:r>
              <a:rPr lang="en-US" sz="954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Filtering &amp; Validation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5114925" y="5219700"/>
            <a:ext cx="200025" cy="942975"/>
          </a:xfrm>
          <a:custGeom>
            <a:avLst/>
            <a:gdLst/>
            <a:ahLst/>
            <a:cxnLst/>
            <a:rect l="l" t="t" r="r" b="b"/>
            <a:pathLst>
              <a:path w="200025" h="942975">
                <a:moveTo>
                  <a:pt x="0" y="0"/>
                </a:moveTo>
                <a:lnTo>
                  <a:pt x="200025" y="0"/>
                </a:lnTo>
                <a:lnTo>
                  <a:pt x="200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5495925" y="52197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5376942" y="5844772"/>
            <a:ext cx="731672" cy="292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848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Local Processing</a:t>
            </a:r>
          </a:p>
        </p:txBody>
      </p:sp>
      <p:sp>
        <p:nvSpPr>
          <p:cNvPr id="36" name="Freeform 36"/>
          <p:cNvSpPr/>
          <p:nvPr/>
        </p:nvSpPr>
        <p:spPr>
          <a:xfrm>
            <a:off x="6057900" y="3733800"/>
            <a:ext cx="581025" cy="561975"/>
          </a:xfrm>
          <a:custGeom>
            <a:avLst/>
            <a:gdLst/>
            <a:ahLst/>
            <a:cxnLst/>
            <a:rect l="l" t="t" r="r" b="b"/>
            <a:pathLst>
              <a:path w="581025" h="56197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438900" y="1676400"/>
            <a:ext cx="2667000" cy="4676775"/>
          </a:xfrm>
          <a:custGeom>
            <a:avLst/>
            <a:gdLst/>
            <a:ahLst/>
            <a:cxnLst/>
            <a:rect l="l" t="t" r="r" b="b"/>
            <a:pathLst>
              <a:path w="2667000" h="4676775">
                <a:moveTo>
                  <a:pt x="0" y="0"/>
                </a:moveTo>
                <a:lnTo>
                  <a:pt x="2667000" y="0"/>
                </a:lnTo>
                <a:lnTo>
                  <a:pt x="2667000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6629400" y="1866900"/>
            <a:ext cx="2476500" cy="561975"/>
          </a:xfrm>
          <a:custGeom>
            <a:avLst/>
            <a:gdLst/>
            <a:ahLst/>
            <a:cxnLst/>
            <a:rect l="l" t="t" r="r" b="b"/>
            <a:pathLst>
              <a:path w="2476500" h="561975">
                <a:moveTo>
                  <a:pt x="0" y="0"/>
                </a:moveTo>
                <a:lnTo>
                  <a:pt x="2476500" y="0"/>
                </a:lnTo>
                <a:lnTo>
                  <a:pt x="2476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6800317" y="2020224"/>
            <a:ext cx="2006651" cy="21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273" b="1" dirty="0">
                <a:solidFill>
                  <a:srgbClr val="FFFFFF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3. CONNECTIVITY LAYER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11797" y="2417883"/>
            <a:ext cx="1847393" cy="398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Secure transmission of data to the cloud.</a:t>
            </a:r>
          </a:p>
        </p:txBody>
      </p:sp>
      <p:sp>
        <p:nvSpPr>
          <p:cNvPr id="41" name="Freeform 41"/>
          <p:cNvSpPr/>
          <p:nvPr/>
        </p:nvSpPr>
        <p:spPr>
          <a:xfrm>
            <a:off x="6819900" y="3171825"/>
            <a:ext cx="962025" cy="752475"/>
          </a:xfrm>
          <a:custGeom>
            <a:avLst/>
            <a:gdLst/>
            <a:ahLst/>
            <a:cxnLst/>
            <a:rect l="l" t="t" r="r" b="b"/>
            <a:pathLst>
              <a:path w="962025" h="752475">
                <a:moveTo>
                  <a:pt x="0" y="0"/>
                </a:moveTo>
                <a:lnTo>
                  <a:pt x="962025" y="0"/>
                </a:lnTo>
                <a:lnTo>
                  <a:pt x="962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7010400" y="4286250"/>
            <a:ext cx="581025" cy="942975"/>
          </a:xfrm>
          <a:custGeom>
            <a:avLst/>
            <a:gdLst/>
            <a:ahLst/>
            <a:cxnLst/>
            <a:rect l="l" t="t" r="r" b="b"/>
            <a:pathLst>
              <a:path w="581025" h="942975">
                <a:moveTo>
                  <a:pt x="0" y="0"/>
                </a:moveTo>
                <a:lnTo>
                  <a:pt x="581025" y="0"/>
                </a:lnTo>
                <a:lnTo>
                  <a:pt x="581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6943649" y="5197617"/>
            <a:ext cx="764438" cy="21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273" b="1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Bluetooth</a:t>
            </a:r>
          </a:p>
        </p:txBody>
      </p:sp>
      <p:sp>
        <p:nvSpPr>
          <p:cNvPr id="44" name="Freeform 44"/>
          <p:cNvSpPr/>
          <p:nvPr/>
        </p:nvSpPr>
        <p:spPr>
          <a:xfrm>
            <a:off x="7772400" y="3352800"/>
            <a:ext cx="190500" cy="2066925"/>
          </a:xfrm>
          <a:custGeom>
            <a:avLst/>
            <a:gdLst/>
            <a:ahLst/>
            <a:cxnLst/>
            <a:rect l="l" t="t" r="r" b="b"/>
            <a:pathLst>
              <a:path w="190500" h="2066925">
                <a:moveTo>
                  <a:pt x="0" y="0"/>
                </a:moveTo>
                <a:lnTo>
                  <a:pt x="190500" y="0"/>
                </a:lnTo>
                <a:lnTo>
                  <a:pt x="190500" y="2066925"/>
                </a:lnTo>
                <a:lnTo>
                  <a:pt x="0" y="20669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7962900" y="3914775"/>
            <a:ext cx="952500" cy="942975"/>
          </a:xfrm>
          <a:custGeom>
            <a:avLst/>
            <a:gdLst/>
            <a:ahLst/>
            <a:cxnLst/>
            <a:rect l="l" t="t" r="r" b="b"/>
            <a:pathLst>
              <a:path w="952500" h="942975">
                <a:moveTo>
                  <a:pt x="0" y="0"/>
                </a:moveTo>
                <a:lnTo>
                  <a:pt x="952500" y="0"/>
                </a:lnTo>
                <a:lnTo>
                  <a:pt x="952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8905875" y="3733800"/>
            <a:ext cx="581025" cy="561975"/>
          </a:xfrm>
          <a:custGeom>
            <a:avLst/>
            <a:gdLst/>
            <a:ahLst/>
            <a:cxnLst/>
            <a:rect l="l" t="t" r="r" b="b"/>
            <a:pathLst>
              <a:path w="581025" h="56197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0033254" y="2002525"/>
            <a:ext cx="1465174" cy="24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"/>
              </a:lnSpc>
            </a:pPr>
            <a:r>
              <a:rPr lang="en-US" sz="1379" b="1">
                <a:solidFill>
                  <a:srgbClr val="FFFFFF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4. CLOUD LAYER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98812" y="2417883"/>
            <a:ext cx="2006651" cy="398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Cloud platform stores, manages &amp; analyzes data.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804343" y="2015912"/>
            <a:ext cx="1927022" cy="22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08" b="1" dirty="0">
                <a:solidFill>
                  <a:srgbClr val="FFFFFF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5. APPLICATION LAYER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108856" y="6596806"/>
            <a:ext cx="1082954" cy="24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415" b="1">
                <a:solidFill>
                  <a:srgbClr val="008F8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DATA FLOW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80364" y="7472014"/>
            <a:ext cx="121036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Vital signs captured by sensors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293315" y="7469557"/>
            <a:ext cx="82814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Processed by ESP32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32273" y="7480072"/>
            <a:ext cx="95554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Sent via Wi-Fi / Bluetooth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315521" y="7462318"/>
            <a:ext cx="668884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Stored in the cloud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73229" y="7458089"/>
            <a:ext cx="76443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Analyzed &amp; monitored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732587" y="7406744"/>
            <a:ext cx="955548" cy="487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"/>
              </a:lnSpc>
            </a:pPr>
            <a:r>
              <a:rPr lang="en-US" sz="105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Alerts &amp; insights to caregivers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645689" y="6620073"/>
            <a:ext cx="3217012" cy="223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79" b="1" dirty="0">
                <a:solidFill>
                  <a:srgbClr val="008F8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TECHNICAL STRATEGY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582507" y="7019473"/>
            <a:ext cx="2197759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85"/>
              </a:lnSpc>
            </a:pP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Real-time Monitoring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588546" y="7313711"/>
            <a:ext cx="219776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lang="en-US" sz="11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Continuous acquisition and instant updates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582507" y="7741318"/>
            <a:ext cx="1465174" cy="17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025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Threshold-based Alerts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581381" y="8079993"/>
            <a:ext cx="242072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lang="en-US" sz="11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Rule engine detects anomalies &amp; triggers alerts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328215" y="4915488"/>
            <a:ext cx="605180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8"/>
              </a:lnSpc>
            </a:pP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Body Temperature Sensor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079151" y="3386782"/>
            <a:ext cx="109888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1200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Heart Rate Sensor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166610" y="3977630"/>
            <a:ext cx="366293" cy="17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060" b="1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Wi-Fi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885956" y="5142332"/>
            <a:ext cx="1560728" cy="35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06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Cloud Services (Firebase / Blynk / AWS)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651035" y="5818448"/>
            <a:ext cx="771524" cy="152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6"/>
              </a:lnSpc>
            </a:pPr>
            <a:r>
              <a:rPr lang="en-US" sz="954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Data Storage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783970" y="5754774"/>
            <a:ext cx="1100022" cy="343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989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Analytics &amp; Insights</a:t>
            </a:r>
          </a:p>
        </p:txBody>
      </p:sp>
      <p:sp>
        <p:nvSpPr>
          <p:cNvPr id="82" name="Freeform 37">
            <a:extLst>
              <a:ext uri="{FF2B5EF4-FFF2-40B4-BE49-F238E27FC236}">
                <a16:creationId xmlns:a16="http://schemas.microsoft.com/office/drawing/2014/main" id="{3637CDA3-5033-9FC5-92CD-507688693519}"/>
              </a:ext>
            </a:extLst>
          </p:cNvPr>
          <p:cNvSpPr/>
          <p:nvPr/>
        </p:nvSpPr>
        <p:spPr>
          <a:xfrm>
            <a:off x="12502824" y="1713275"/>
            <a:ext cx="2667000" cy="4676775"/>
          </a:xfrm>
          <a:custGeom>
            <a:avLst/>
            <a:gdLst/>
            <a:ahLst/>
            <a:cxnLst/>
            <a:rect l="l" t="t" r="r" b="b"/>
            <a:pathLst>
              <a:path w="2667000" h="4676775">
                <a:moveTo>
                  <a:pt x="0" y="0"/>
                </a:moveTo>
                <a:lnTo>
                  <a:pt x="2667000" y="0"/>
                </a:lnTo>
                <a:lnTo>
                  <a:pt x="2667000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5D45AD4-A570-23C7-3FBC-BC05D95843C3}"/>
              </a:ext>
            </a:extLst>
          </p:cNvPr>
          <p:cNvCxnSpPr>
            <a:cxnSpLocks/>
          </p:cNvCxnSpPr>
          <p:nvPr/>
        </p:nvCxnSpPr>
        <p:spPr>
          <a:xfrm>
            <a:off x="1833116" y="7648575"/>
            <a:ext cx="3372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A88076D-77FF-FABC-97B7-8382475D5218}"/>
              </a:ext>
            </a:extLst>
          </p:cNvPr>
          <p:cNvCxnSpPr>
            <a:cxnSpLocks/>
          </p:cNvCxnSpPr>
          <p:nvPr/>
        </p:nvCxnSpPr>
        <p:spPr>
          <a:xfrm>
            <a:off x="3206055" y="7677150"/>
            <a:ext cx="3372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744C8B2-6128-C03C-71E6-44C5AB563B02}"/>
              </a:ext>
            </a:extLst>
          </p:cNvPr>
          <p:cNvCxnSpPr>
            <a:cxnSpLocks/>
          </p:cNvCxnSpPr>
          <p:nvPr/>
        </p:nvCxnSpPr>
        <p:spPr>
          <a:xfrm>
            <a:off x="4730055" y="7677149"/>
            <a:ext cx="3372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EF203BF-E447-1616-E674-FAE2CE5BDB3C}"/>
              </a:ext>
            </a:extLst>
          </p:cNvPr>
          <p:cNvCxnSpPr>
            <a:cxnSpLocks/>
          </p:cNvCxnSpPr>
          <p:nvPr/>
        </p:nvCxnSpPr>
        <p:spPr>
          <a:xfrm>
            <a:off x="6101655" y="7677148"/>
            <a:ext cx="3372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A026362-7CD5-11F8-A0DA-B5B73ED18B1F}"/>
              </a:ext>
            </a:extLst>
          </p:cNvPr>
          <p:cNvCxnSpPr>
            <a:cxnSpLocks/>
          </p:cNvCxnSpPr>
          <p:nvPr/>
        </p:nvCxnSpPr>
        <p:spPr>
          <a:xfrm>
            <a:off x="7277100" y="7677147"/>
            <a:ext cx="3372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reeform 38">
            <a:extLst>
              <a:ext uri="{FF2B5EF4-FFF2-40B4-BE49-F238E27FC236}">
                <a16:creationId xmlns:a16="http://schemas.microsoft.com/office/drawing/2014/main" id="{53FD4AAC-7285-452D-8814-71F45331E128}"/>
              </a:ext>
            </a:extLst>
          </p:cNvPr>
          <p:cNvSpPr/>
          <p:nvPr/>
        </p:nvSpPr>
        <p:spPr>
          <a:xfrm>
            <a:off x="9637242" y="1862322"/>
            <a:ext cx="2476500" cy="561975"/>
          </a:xfrm>
          <a:custGeom>
            <a:avLst/>
            <a:gdLst/>
            <a:ahLst/>
            <a:cxnLst/>
            <a:rect l="l" t="t" r="r" b="b"/>
            <a:pathLst>
              <a:path w="2476500" h="561975">
                <a:moveTo>
                  <a:pt x="0" y="0"/>
                </a:moveTo>
                <a:lnTo>
                  <a:pt x="2476500" y="0"/>
                </a:lnTo>
                <a:lnTo>
                  <a:pt x="2476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92" name="TextBox 39">
            <a:extLst>
              <a:ext uri="{FF2B5EF4-FFF2-40B4-BE49-F238E27FC236}">
                <a16:creationId xmlns:a16="http://schemas.microsoft.com/office/drawing/2014/main" id="{728F802A-EB57-8B1D-7528-6832F993AF2B}"/>
              </a:ext>
            </a:extLst>
          </p:cNvPr>
          <p:cNvSpPr txBox="1"/>
          <p:nvPr/>
        </p:nvSpPr>
        <p:spPr>
          <a:xfrm>
            <a:off x="9866721" y="2015462"/>
            <a:ext cx="2006651" cy="21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400" b="1" dirty="0">
                <a:solidFill>
                  <a:srgbClr val="FFFFFF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4. Cloud Platform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4E69EA1A-D87B-369C-0CD5-9FAA92FB9F7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974" y="2975678"/>
            <a:ext cx="2359837" cy="2359837"/>
          </a:xfrm>
          <a:prstGeom prst="rect">
            <a:avLst/>
          </a:prstGeom>
        </p:spPr>
      </p:pic>
      <p:sp>
        <p:nvSpPr>
          <p:cNvPr id="95" name="Freeform 38">
            <a:extLst>
              <a:ext uri="{FF2B5EF4-FFF2-40B4-BE49-F238E27FC236}">
                <a16:creationId xmlns:a16="http://schemas.microsoft.com/office/drawing/2014/main" id="{8DF92261-D575-488F-E395-04D30CEC1321}"/>
              </a:ext>
            </a:extLst>
          </p:cNvPr>
          <p:cNvSpPr/>
          <p:nvPr/>
        </p:nvSpPr>
        <p:spPr>
          <a:xfrm>
            <a:off x="12658330" y="1844259"/>
            <a:ext cx="2476500" cy="561975"/>
          </a:xfrm>
          <a:custGeom>
            <a:avLst/>
            <a:gdLst/>
            <a:ahLst/>
            <a:cxnLst/>
            <a:rect l="l" t="t" r="r" b="b"/>
            <a:pathLst>
              <a:path w="2476500" h="561975">
                <a:moveTo>
                  <a:pt x="0" y="0"/>
                </a:moveTo>
                <a:lnTo>
                  <a:pt x="2476500" y="0"/>
                </a:lnTo>
                <a:lnTo>
                  <a:pt x="2476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96" name="TextBox 39">
            <a:extLst>
              <a:ext uri="{FF2B5EF4-FFF2-40B4-BE49-F238E27FC236}">
                <a16:creationId xmlns:a16="http://schemas.microsoft.com/office/drawing/2014/main" id="{C6B02CE1-173D-11F5-34F6-79B92ED74E93}"/>
              </a:ext>
            </a:extLst>
          </p:cNvPr>
          <p:cNvSpPr txBox="1"/>
          <p:nvPr/>
        </p:nvSpPr>
        <p:spPr>
          <a:xfrm>
            <a:off x="12788417" y="1999081"/>
            <a:ext cx="2006651" cy="21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400" b="1" dirty="0">
                <a:solidFill>
                  <a:srgbClr val="FFFFFF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5. Visualization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931750" y="2416983"/>
            <a:ext cx="1688135" cy="61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Real-time visualization &amp; alerting for </a:t>
            </a:r>
            <a:r>
              <a:rPr lang="en-US" sz="1200" b="1" dirty="0" err="1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careegivers</a:t>
            </a:r>
            <a:r>
              <a:rPr lang="en-US" sz="1200" b="1" dirty="0">
                <a:solidFill>
                  <a:srgbClr val="002F5D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7250D6D0-B8E8-483A-1E56-9F689502D27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1584" y="2973435"/>
            <a:ext cx="2246265" cy="2246265"/>
          </a:xfrm>
          <a:prstGeom prst="rect">
            <a:avLst/>
          </a:prstGeom>
        </p:spPr>
      </p:pic>
      <p:sp>
        <p:nvSpPr>
          <p:cNvPr id="101" name="Freeform 4">
            <a:extLst>
              <a:ext uri="{FF2B5EF4-FFF2-40B4-BE49-F238E27FC236}">
                <a16:creationId xmlns:a16="http://schemas.microsoft.com/office/drawing/2014/main" id="{03FDDC66-69AF-072E-63A5-0272E8D4AB5E}"/>
              </a:ext>
            </a:extLst>
          </p:cNvPr>
          <p:cNvSpPr/>
          <p:nvPr/>
        </p:nvSpPr>
        <p:spPr>
          <a:xfrm>
            <a:off x="-8041" y="7096125"/>
            <a:ext cx="2085975" cy="1876425"/>
          </a:xfrm>
          <a:custGeom>
            <a:avLst/>
            <a:gdLst/>
            <a:ahLst/>
            <a:cxnLst/>
            <a:rect l="l" t="t" r="r" b="b"/>
            <a:pathLst>
              <a:path w="2085975" h="1876425">
                <a:moveTo>
                  <a:pt x="0" y="0"/>
                </a:moveTo>
                <a:lnTo>
                  <a:pt x="2085975" y="0"/>
                </a:lnTo>
                <a:lnTo>
                  <a:pt x="20859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102" name="Freeform 46">
            <a:extLst>
              <a:ext uri="{FF2B5EF4-FFF2-40B4-BE49-F238E27FC236}">
                <a16:creationId xmlns:a16="http://schemas.microsoft.com/office/drawing/2014/main" id="{76908BE8-C2AA-A009-8AEF-72CC4E1BD2C9}"/>
              </a:ext>
            </a:extLst>
          </p:cNvPr>
          <p:cNvSpPr/>
          <p:nvPr/>
        </p:nvSpPr>
        <p:spPr>
          <a:xfrm>
            <a:off x="12132414" y="3696642"/>
            <a:ext cx="581025" cy="561975"/>
          </a:xfrm>
          <a:custGeom>
            <a:avLst/>
            <a:gdLst/>
            <a:ahLst/>
            <a:cxnLst/>
            <a:rect l="l" t="t" r="r" b="b"/>
            <a:pathLst>
              <a:path w="581025" h="56197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925800" cy="8963025"/>
          </a:xfrm>
          <a:custGeom>
            <a:avLst/>
            <a:gdLst/>
            <a:ahLst/>
            <a:cxnLst/>
            <a:rect l="l" t="t" r="r" b="b"/>
            <a:pathLst>
              <a:path w="15925800" h="8963025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2400" dirty="0">
              <a:latin typeface="Aptos" panose="020B00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657475" cy="2057400"/>
          </a:xfrm>
          <a:custGeom>
            <a:avLst/>
            <a:gdLst/>
            <a:ahLst/>
            <a:cxnLst/>
            <a:rect l="l" t="t" r="r" b="b"/>
            <a:pathLst>
              <a:path w="2657475" h="2057400">
                <a:moveTo>
                  <a:pt x="0" y="0"/>
                </a:moveTo>
                <a:lnTo>
                  <a:pt x="2657475" y="0"/>
                </a:lnTo>
                <a:lnTo>
                  <a:pt x="265747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0975" y="180975"/>
            <a:ext cx="771525" cy="762000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20800" y="0"/>
            <a:ext cx="1905000" cy="1495425"/>
          </a:xfrm>
          <a:custGeom>
            <a:avLst/>
            <a:gdLst/>
            <a:ahLst/>
            <a:cxnLst/>
            <a:rect l="l" t="t" r="r" b="b"/>
            <a:pathLst>
              <a:path w="1905000" h="1495425">
                <a:moveTo>
                  <a:pt x="0" y="0"/>
                </a:moveTo>
                <a:lnTo>
                  <a:pt x="1905000" y="0"/>
                </a:lnTo>
                <a:lnTo>
                  <a:pt x="19050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47935" y="-41422"/>
            <a:ext cx="9985477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US" sz="7200" b="1" dirty="0">
                <a:solidFill>
                  <a:srgbClr val="001C4B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IMPACTS &amp; </a:t>
            </a:r>
            <a:r>
              <a:rPr lang="en-US" sz="7200" b="1" dirty="0">
                <a:solidFill>
                  <a:srgbClr val="00805C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BENEFITS</a:t>
            </a:r>
            <a:r>
              <a:rPr lang="en-US" sz="7200" b="1" dirty="0">
                <a:solidFill>
                  <a:srgbClr val="001C4B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44033" y="974312"/>
            <a:ext cx="5637733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2000" b="1">
                <a:solidFill>
                  <a:srgbClr val="001C4B"/>
                </a:solidFill>
                <a:latin typeface="Aptos" panose="020B0004020202020204" pitchFamily="34" charset="0"/>
                <a:ea typeface="Montserrat Medium"/>
                <a:cs typeface="Montserrat Medium"/>
                <a:sym typeface="Montserrat Medium"/>
              </a:rPr>
              <a:t>Transforming Patient Care with Real-time Insights</a:t>
            </a:r>
          </a:p>
        </p:txBody>
      </p:sp>
      <p:sp>
        <p:nvSpPr>
          <p:cNvPr id="8" name="Freeform 8"/>
          <p:cNvSpPr/>
          <p:nvPr/>
        </p:nvSpPr>
        <p:spPr>
          <a:xfrm>
            <a:off x="1133475" y="1485900"/>
            <a:ext cx="4562475" cy="390525"/>
          </a:xfrm>
          <a:custGeom>
            <a:avLst/>
            <a:gdLst/>
            <a:ahLst/>
            <a:cxnLst/>
            <a:rect l="l" t="t" r="r" b="b"/>
            <a:pathLst>
              <a:path w="4562475" h="390525">
                <a:moveTo>
                  <a:pt x="0" y="0"/>
                </a:moveTo>
                <a:lnTo>
                  <a:pt x="4562475" y="0"/>
                </a:lnTo>
                <a:lnTo>
                  <a:pt x="4562475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076450" y="1304925"/>
            <a:ext cx="2095500" cy="571500"/>
          </a:xfrm>
          <a:custGeom>
            <a:avLst/>
            <a:gdLst/>
            <a:ahLst/>
            <a:cxnLst/>
            <a:rect l="l" t="t" r="r" b="b"/>
            <a:pathLst>
              <a:path w="2095500" h="571500">
                <a:moveTo>
                  <a:pt x="0" y="0"/>
                </a:moveTo>
                <a:lnTo>
                  <a:pt x="2095500" y="0"/>
                </a:lnTo>
                <a:lnTo>
                  <a:pt x="2095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49983" y="1477257"/>
            <a:ext cx="1799615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</a:pPr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IMPACTS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5876925" y="1304925"/>
            <a:ext cx="4171950" cy="571500"/>
          </a:xfrm>
          <a:custGeom>
            <a:avLst/>
            <a:gdLst/>
            <a:ahLst/>
            <a:cxnLst/>
            <a:rect l="l" t="t" r="r" b="b"/>
            <a:pathLst>
              <a:path w="4171950" h="571500">
                <a:moveTo>
                  <a:pt x="0" y="0"/>
                </a:moveTo>
                <a:lnTo>
                  <a:pt x="4171950" y="0"/>
                </a:lnTo>
                <a:lnTo>
                  <a:pt x="41719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29850" y="1485900"/>
            <a:ext cx="4562475" cy="390525"/>
          </a:xfrm>
          <a:custGeom>
            <a:avLst/>
            <a:gdLst/>
            <a:ahLst/>
            <a:cxnLst/>
            <a:rect l="l" t="t" r="r" b="b"/>
            <a:pathLst>
              <a:path w="4562475" h="390525">
                <a:moveTo>
                  <a:pt x="0" y="0"/>
                </a:moveTo>
                <a:lnTo>
                  <a:pt x="4562475" y="0"/>
                </a:lnTo>
                <a:lnTo>
                  <a:pt x="4562475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753850" y="1304925"/>
            <a:ext cx="2095500" cy="571500"/>
          </a:xfrm>
          <a:custGeom>
            <a:avLst/>
            <a:gdLst/>
            <a:ahLst/>
            <a:cxnLst/>
            <a:rect l="l" t="t" r="r" b="b"/>
            <a:pathLst>
              <a:path w="2095500" h="571500">
                <a:moveTo>
                  <a:pt x="0" y="0"/>
                </a:moveTo>
                <a:lnTo>
                  <a:pt x="2095500" y="0"/>
                </a:lnTo>
                <a:lnTo>
                  <a:pt x="2095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928424" y="1477257"/>
            <a:ext cx="1799615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</a:pPr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BENEFITS</a:t>
            </a:r>
          </a:p>
        </p:txBody>
      </p:sp>
      <p:sp>
        <p:nvSpPr>
          <p:cNvPr id="15" name="Freeform 15"/>
          <p:cNvSpPr/>
          <p:nvPr/>
        </p:nvSpPr>
        <p:spPr>
          <a:xfrm>
            <a:off x="752475" y="1866900"/>
            <a:ext cx="4371975" cy="1314450"/>
          </a:xfrm>
          <a:custGeom>
            <a:avLst/>
            <a:gdLst/>
            <a:ahLst/>
            <a:cxnLst/>
            <a:rect l="l" t="t" r="r" b="b"/>
            <a:pathLst>
              <a:path w="4371975" h="1314450">
                <a:moveTo>
                  <a:pt x="0" y="0"/>
                </a:moveTo>
                <a:lnTo>
                  <a:pt x="4371975" y="0"/>
                </a:lnTo>
                <a:lnTo>
                  <a:pt x="4371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42975" y="2047875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42975" y="2047875"/>
            <a:ext cx="771525" cy="762000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022577" y="2452537"/>
            <a:ext cx="2420722" cy="49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lang="en-US" sz="105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Real-time monitoring and alerts help identify abnormal conditions early, enabling timely medical intervention.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2475" y="2981325"/>
            <a:ext cx="4371975" cy="1314450"/>
          </a:xfrm>
          <a:custGeom>
            <a:avLst/>
            <a:gdLst/>
            <a:ahLst/>
            <a:cxnLst/>
            <a:rect l="l" t="t" r="r" b="b"/>
            <a:pathLst>
              <a:path w="4371975" h="1314450">
                <a:moveTo>
                  <a:pt x="0" y="0"/>
                </a:moveTo>
                <a:lnTo>
                  <a:pt x="4371975" y="0"/>
                </a:lnTo>
                <a:lnTo>
                  <a:pt x="4371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42975" y="3352800"/>
            <a:ext cx="962025" cy="571500"/>
          </a:xfrm>
          <a:custGeom>
            <a:avLst/>
            <a:gdLst/>
            <a:ahLst/>
            <a:cxnLst/>
            <a:rect l="l" t="t" r="r" b="b"/>
            <a:pathLst>
              <a:path w="962025" h="571500">
                <a:moveTo>
                  <a:pt x="0" y="0"/>
                </a:moveTo>
                <a:lnTo>
                  <a:pt x="962025" y="0"/>
                </a:lnTo>
                <a:lnTo>
                  <a:pt x="962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022577" y="3585103"/>
            <a:ext cx="2325167" cy="56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Continuous tracking of vital signs reduces risks and enhances overall patient well-being.</a:t>
            </a:r>
          </a:p>
        </p:txBody>
      </p:sp>
      <p:sp>
        <p:nvSpPr>
          <p:cNvPr id="23" name="Freeform 23"/>
          <p:cNvSpPr/>
          <p:nvPr/>
        </p:nvSpPr>
        <p:spPr>
          <a:xfrm>
            <a:off x="752475" y="4105275"/>
            <a:ext cx="4371975" cy="1314450"/>
          </a:xfrm>
          <a:custGeom>
            <a:avLst/>
            <a:gdLst/>
            <a:ahLst/>
            <a:cxnLst/>
            <a:rect l="l" t="t" r="r" b="b"/>
            <a:pathLst>
              <a:path w="4371975" h="1314450">
                <a:moveTo>
                  <a:pt x="0" y="0"/>
                </a:moveTo>
                <a:lnTo>
                  <a:pt x="4371975" y="0"/>
                </a:lnTo>
                <a:lnTo>
                  <a:pt x="4371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42975" y="4286250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2975" y="4476750"/>
            <a:ext cx="771525" cy="571500"/>
          </a:xfrm>
          <a:custGeom>
            <a:avLst/>
            <a:gdLst/>
            <a:ahLst/>
            <a:cxnLst/>
            <a:rect l="l" t="t" r="r" b="b"/>
            <a:pathLst>
              <a:path w="771525" h="571500">
                <a:moveTo>
                  <a:pt x="0" y="0"/>
                </a:moveTo>
                <a:lnTo>
                  <a:pt x="771525" y="0"/>
                </a:lnTo>
                <a:lnTo>
                  <a:pt x="771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022577" y="4688454"/>
            <a:ext cx="2579980" cy="56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Remote monitoring minimizes the need for frequent hospital visits and allows care at home.</a:t>
            </a:r>
          </a:p>
        </p:txBody>
      </p:sp>
      <p:sp>
        <p:nvSpPr>
          <p:cNvPr id="27" name="Freeform 27"/>
          <p:cNvSpPr/>
          <p:nvPr/>
        </p:nvSpPr>
        <p:spPr>
          <a:xfrm>
            <a:off x="752475" y="5219700"/>
            <a:ext cx="4371975" cy="1323975"/>
          </a:xfrm>
          <a:custGeom>
            <a:avLst/>
            <a:gdLst/>
            <a:ahLst/>
            <a:cxnLst/>
            <a:rect l="l" t="t" r="r" b="b"/>
            <a:pathLst>
              <a:path w="4371975" h="1323975">
                <a:moveTo>
                  <a:pt x="0" y="0"/>
                </a:moveTo>
                <a:lnTo>
                  <a:pt x="4371975" y="0"/>
                </a:lnTo>
                <a:lnTo>
                  <a:pt x="4371975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42975" y="5219700"/>
            <a:ext cx="962025" cy="1133475"/>
          </a:xfrm>
          <a:custGeom>
            <a:avLst/>
            <a:gdLst/>
            <a:ahLst/>
            <a:cxnLst/>
            <a:rect l="l" t="t" r="r" b="b"/>
            <a:pathLst>
              <a:path w="962025" h="1133475">
                <a:moveTo>
                  <a:pt x="0" y="0"/>
                </a:moveTo>
                <a:lnTo>
                  <a:pt x="962025" y="0"/>
                </a:lnTo>
                <a:lnTo>
                  <a:pt x="9620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33475" y="5410200"/>
            <a:ext cx="581025" cy="752475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2022576" y="5425385"/>
            <a:ext cx="2206523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400" b="1" dirty="0">
                <a:solidFill>
                  <a:srgbClr val="004AAD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FASTER RESPONSE TIME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22577" y="5779550"/>
            <a:ext cx="2579980" cy="530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Instant alerts and remote access enable quicker decision-making during critical situations.</a:t>
            </a:r>
          </a:p>
        </p:txBody>
      </p:sp>
      <p:sp>
        <p:nvSpPr>
          <p:cNvPr id="32" name="Freeform 32"/>
          <p:cNvSpPr/>
          <p:nvPr/>
        </p:nvSpPr>
        <p:spPr>
          <a:xfrm>
            <a:off x="752475" y="6343650"/>
            <a:ext cx="4371975" cy="1133475"/>
          </a:xfrm>
          <a:custGeom>
            <a:avLst/>
            <a:gdLst/>
            <a:ahLst/>
            <a:cxnLst/>
            <a:rect l="l" t="t" r="r" b="b"/>
            <a:pathLst>
              <a:path w="4371975" h="1133475">
                <a:moveTo>
                  <a:pt x="0" y="0"/>
                </a:moveTo>
                <a:lnTo>
                  <a:pt x="4371975" y="0"/>
                </a:lnTo>
                <a:lnTo>
                  <a:pt x="43719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42975" y="6343650"/>
            <a:ext cx="962025" cy="1133475"/>
          </a:xfrm>
          <a:custGeom>
            <a:avLst/>
            <a:gdLst/>
            <a:ahLst/>
            <a:cxnLst/>
            <a:rect l="l" t="t" r="r" b="b"/>
            <a:pathLst>
              <a:path w="962025" h="1133475">
                <a:moveTo>
                  <a:pt x="0" y="0"/>
                </a:moveTo>
                <a:lnTo>
                  <a:pt x="962025" y="0"/>
                </a:lnTo>
                <a:lnTo>
                  <a:pt x="9620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133475" y="6534150"/>
            <a:ext cx="581025" cy="752475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022577" y="6563239"/>
            <a:ext cx="2579980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400" b="1" dirty="0">
                <a:solidFill>
                  <a:srgbClr val="004AAD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LOWER HEALTHCARE COSTS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22577" y="6844083"/>
            <a:ext cx="2532202" cy="56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00" b="1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Early detection and continuous care help reduce complications and lower overall healthcare expenses.</a:t>
            </a:r>
          </a:p>
        </p:txBody>
      </p:sp>
      <p:sp>
        <p:nvSpPr>
          <p:cNvPr id="37" name="Freeform 37"/>
          <p:cNvSpPr/>
          <p:nvPr/>
        </p:nvSpPr>
        <p:spPr>
          <a:xfrm>
            <a:off x="5686425" y="2238375"/>
            <a:ext cx="4552950" cy="4676775"/>
          </a:xfrm>
          <a:custGeom>
            <a:avLst/>
            <a:gdLst/>
            <a:ahLst/>
            <a:cxnLst/>
            <a:rect l="l" t="t" r="r" b="b"/>
            <a:pathLst>
              <a:path w="4552950" h="4676775">
                <a:moveTo>
                  <a:pt x="0" y="0"/>
                </a:moveTo>
                <a:lnTo>
                  <a:pt x="4552950" y="0"/>
                </a:lnTo>
                <a:lnTo>
                  <a:pt x="4552950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6057900" y="2609850"/>
            <a:ext cx="3619500" cy="3552825"/>
          </a:xfrm>
          <a:custGeom>
            <a:avLst/>
            <a:gdLst/>
            <a:ahLst/>
            <a:cxnLst/>
            <a:rect l="l" t="t" r="r" b="b"/>
            <a:pathLst>
              <a:path w="3619500" h="3552825">
                <a:moveTo>
                  <a:pt x="0" y="0"/>
                </a:moveTo>
                <a:lnTo>
                  <a:pt x="3619500" y="0"/>
                </a:lnTo>
                <a:lnTo>
                  <a:pt x="3619500" y="3552825"/>
                </a:lnTo>
                <a:lnTo>
                  <a:pt x="0" y="35528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6057900" y="2981325"/>
            <a:ext cx="3619500" cy="1695450"/>
          </a:xfrm>
          <a:custGeom>
            <a:avLst/>
            <a:gdLst/>
            <a:ahLst/>
            <a:cxnLst/>
            <a:rect l="l" t="t" r="r" b="b"/>
            <a:pathLst>
              <a:path w="3619500" h="1695450">
                <a:moveTo>
                  <a:pt x="0" y="0"/>
                </a:moveTo>
                <a:lnTo>
                  <a:pt x="3619500" y="0"/>
                </a:lnTo>
                <a:lnTo>
                  <a:pt x="361950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6438900" y="3733800"/>
            <a:ext cx="1343025" cy="1876425"/>
          </a:xfrm>
          <a:custGeom>
            <a:avLst/>
            <a:gdLst/>
            <a:ahLst/>
            <a:cxnLst/>
            <a:rect l="l" t="t" r="r" b="b"/>
            <a:pathLst>
              <a:path w="1343025" h="1876425">
                <a:moveTo>
                  <a:pt x="0" y="0"/>
                </a:moveTo>
                <a:lnTo>
                  <a:pt x="1343025" y="0"/>
                </a:lnTo>
                <a:lnTo>
                  <a:pt x="134302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7581900" y="2981325"/>
            <a:ext cx="1524000" cy="2628900"/>
          </a:xfrm>
          <a:custGeom>
            <a:avLst/>
            <a:gdLst/>
            <a:ahLst/>
            <a:cxnLst/>
            <a:rect l="l" t="t" r="r" b="b"/>
            <a:pathLst>
              <a:path w="1524000" h="2628900">
                <a:moveTo>
                  <a:pt x="0" y="0"/>
                </a:moveTo>
                <a:lnTo>
                  <a:pt x="1524000" y="0"/>
                </a:lnTo>
                <a:lnTo>
                  <a:pt x="15240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7550048" y="615315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0"/>
                </a:moveTo>
                <a:lnTo>
                  <a:pt x="762000" y="0"/>
                </a:lnTo>
                <a:lnTo>
                  <a:pt x="762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6816242" y="5599087"/>
            <a:ext cx="2293315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b="1">
                <a:solidFill>
                  <a:srgbClr val="000000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IOT-BASED HEALTH MONITORING SYSTEM</a:t>
            </a:r>
          </a:p>
        </p:txBody>
      </p:sp>
      <p:sp>
        <p:nvSpPr>
          <p:cNvPr id="44" name="Freeform 44"/>
          <p:cNvSpPr/>
          <p:nvPr/>
        </p:nvSpPr>
        <p:spPr>
          <a:xfrm>
            <a:off x="10814534" y="1878366"/>
            <a:ext cx="4511234" cy="1314450"/>
          </a:xfrm>
          <a:custGeom>
            <a:avLst/>
            <a:gdLst/>
            <a:ahLst/>
            <a:cxnLst/>
            <a:rect l="l" t="t" r="r" b="b"/>
            <a:pathLst>
              <a:path w="4371975" h="1314450">
                <a:moveTo>
                  <a:pt x="0" y="0"/>
                </a:moveTo>
                <a:lnTo>
                  <a:pt x="4371975" y="0"/>
                </a:lnTo>
                <a:lnTo>
                  <a:pt x="4371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2022577" y="2139817"/>
            <a:ext cx="2771089" cy="18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200" b="1">
                <a:solidFill>
                  <a:srgbClr val="004AAD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EARLY DETECTION OF EMERGENCIES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22577" y="3247370"/>
            <a:ext cx="2696642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400" b="1" dirty="0">
                <a:solidFill>
                  <a:srgbClr val="004AAD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IMPROVED PATIENT SAFETY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022577" y="4358785"/>
            <a:ext cx="2339873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400" b="1" dirty="0">
                <a:solidFill>
                  <a:srgbClr val="004AAD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REDUCED HOSPITAL VISITS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055831" y="2135955"/>
            <a:ext cx="2726968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400" b="1" dirty="0">
                <a:solidFill>
                  <a:srgbClr val="00805C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BETTER PATIENT OUTCOMES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309241" y="8049043"/>
            <a:ext cx="1242212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OUR VISION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672911" y="8083560"/>
            <a:ext cx="1442389" cy="34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6"/>
              </a:lnSpc>
            </a:pP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Healthier</a:t>
            </a: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 Patients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440674" y="8089424"/>
            <a:ext cx="891845" cy="378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5"/>
              </a:lnSpc>
            </a:pP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Smarter Care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969551" y="8042488"/>
            <a:ext cx="1098880" cy="3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"/>
              </a:lnSpc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Better Outcomes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639623" y="8002580"/>
            <a:ext cx="1528877" cy="37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Sustainable Healthcare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013302" y="7873877"/>
            <a:ext cx="2197760" cy="57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Building a smarter, healthier tomorrow through connected care and real-time monitoring.</a:t>
            </a:r>
          </a:p>
        </p:txBody>
      </p:sp>
      <p:sp>
        <p:nvSpPr>
          <p:cNvPr id="67" name="Freeform 44">
            <a:extLst>
              <a:ext uri="{FF2B5EF4-FFF2-40B4-BE49-F238E27FC236}">
                <a16:creationId xmlns:a16="http://schemas.microsoft.com/office/drawing/2014/main" id="{B45B90EC-3922-CD90-42FC-9DFA789A2D30}"/>
              </a:ext>
            </a:extLst>
          </p:cNvPr>
          <p:cNvSpPr/>
          <p:nvPr/>
        </p:nvSpPr>
        <p:spPr>
          <a:xfrm>
            <a:off x="10761687" y="4242834"/>
            <a:ext cx="4371975" cy="1102452"/>
          </a:xfrm>
          <a:custGeom>
            <a:avLst/>
            <a:gdLst/>
            <a:ahLst/>
            <a:cxnLst/>
            <a:rect l="l" t="t" r="r" b="b"/>
            <a:pathLst>
              <a:path w="4371975" h="1314450">
                <a:moveTo>
                  <a:pt x="0" y="0"/>
                </a:moveTo>
                <a:lnTo>
                  <a:pt x="4371975" y="0"/>
                </a:lnTo>
                <a:lnTo>
                  <a:pt x="4371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IN" sz="2400" dirty="0">
              <a:latin typeface="Aptos" panose="020B0004020202020204" pitchFamily="34" charset="0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2055831" y="2489286"/>
            <a:ext cx="232516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Continuous care and timely alerts lead to improved recovery and better long-term outcomes.</a:t>
            </a:r>
          </a:p>
        </p:txBody>
      </p:sp>
      <p:sp>
        <p:nvSpPr>
          <p:cNvPr id="66" name="Freeform 44">
            <a:extLst>
              <a:ext uri="{FF2B5EF4-FFF2-40B4-BE49-F238E27FC236}">
                <a16:creationId xmlns:a16="http://schemas.microsoft.com/office/drawing/2014/main" id="{F63C13BD-EA2D-F67F-9C41-B09ED321C40E}"/>
              </a:ext>
            </a:extLst>
          </p:cNvPr>
          <p:cNvSpPr/>
          <p:nvPr/>
        </p:nvSpPr>
        <p:spPr>
          <a:xfrm>
            <a:off x="10761688" y="3037057"/>
            <a:ext cx="4371975" cy="1314450"/>
          </a:xfrm>
          <a:custGeom>
            <a:avLst/>
            <a:gdLst/>
            <a:ahLst/>
            <a:cxnLst/>
            <a:rect l="l" t="t" r="r" b="b"/>
            <a:pathLst>
              <a:path w="4371975" h="1314450">
                <a:moveTo>
                  <a:pt x="0" y="0"/>
                </a:moveTo>
                <a:lnTo>
                  <a:pt x="4371975" y="0"/>
                </a:lnTo>
                <a:lnTo>
                  <a:pt x="4371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2055831" y="3526752"/>
            <a:ext cx="2325167" cy="54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Caregivers can monitor patients remotely from anywhere, anytime with complete peace of mind.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055831" y="3247370"/>
            <a:ext cx="2726968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400" b="1" dirty="0">
                <a:solidFill>
                  <a:srgbClr val="00805C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EMPOWERED CAREGIVERS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055830" y="4358785"/>
            <a:ext cx="2612669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400" b="1" dirty="0">
                <a:solidFill>
                  <a:srgbClr val="00805C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DATA-DRIVEN INSIGHTS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046306" y="4688454"/>
            <a:ext cx="2926994" cy="566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Historical data and analytics help identify trends and support better clinical decisions.</a:t>
            </a:r>
          </a:p>
        </p:txBody>
      </p:sp>
      <p:sp>
        <p:nvSpPr>
          <p:cNvPr id="68" name="Freeform 44">
            <a:extLst>
              <a:ext uri="{FF2B5EF4-FFF2-40B4-BE49-F238E27FC236}">
                <a16:creationId xmlns:a16="http://schemas.microsoft.com/office/drawing/2014/main" id="{A6F8A2FB-C58B-814A-267B-8FB566FD9077}"/>
              </a:ext>
            </a:extLst>
          </p:cNvPr>
          <p:cNvSpPr/>
          <p:nvPr/>
        </p:nvSpPr>
        <p:spPr>
          <a:xfrm>
            <a:off x="10761686" y="5266952"/>
            <a:ext cx="4371975" cy="1206334"/>
          </a:xfrm>
          <a:custGeom>
            <a:avLst/>
            <a:gdLst/>
            <a:ahLst/>
            <a:cxnLst/>
            <a:rect l="l" t="t" r="r" b="b"/>
            <a:pathLst>
              <a:path w="4371975" h="1314450">
                <a:moveTo>
                  <a:pt x="0" y="0"/>
                </a:moveTo>
                <a:lnTo>
                  <a:pt x="4371975" y="0"/>
                </a:lnTo>
                <a:lnTo>
                  <a:pt x="4371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IN" sz="2400" dirty="0">
              <a:latin typeface="Aptos" panose="020B0004020202020204" pitchFamily="34" charset="0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2055830" y="5461237"/>
            <a:ext cx="2293315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400" b="1" dirty="0">
                <a:solidFill>
                  <a:srgbClr val="00805C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SCALABLE &amp; FLEXIBLE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046306" y="5846370"/>
            <a:ext cx="2736494" cy="566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The system can be easily scaled to monitor multiple patients simultaneously.</a:t>
            </a:r>
          </a:p>
        </p:txBody>
      </p:sp>
      <p:sp>
        <p:nvSpPr>
          <p:cNvPr id="69" name="Freeform 44">
            <a:extLst>
              <a:ext uri="{FF2B5EF4-FFF2-40B4-BE49-F238E27FC236}">
                <a16:creationId xmlns:a16="http://schemas.microsoft.com/office/drawing/2014/main" id="{1D92E569-D807-FD06-358B-D740236A5A4A}"/>
              </a:ext>
            </a:extLst>
          </p:cNvPr>
          <p:cNvSpPr/>
          <p:nvPr/>
        </p:nvSpPr>
        <p:spPr>
          <a:xfrm>
            <a:off x="10761685" y="6378734"/>
            <a:ext cx="4371975" cy="1206334"/>
          </a:xfrm>
          <a:custGeom>
            <a:avLst/>
            <a:gdLst/>
            <a:ahLst/>
            <a:cxnLst/>
            <a:rect l="l" t="t" r="r" b="b"/>
            <a:pathLst>
              <a:path w="4371975" h="1314450">
                <a:moveTo>
                  <a:pt x="0" y="0"/>
                </a:moveTo>
                <a:lnTo>
                  <a:pt x="4371975" y="0"/>
                </a:lnTo>
                <a:lnTo>
                  <a:pt x="4371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IN" sz="2400" dirty="0">
              <a:latin typeface="Aptos" panose="020B0004020202020204" pitchFamily="34" charset="0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2055830" y="6563689"/>
            <a:ext cx="1964969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400" b="1" dirty="0">
                <a:solidFill>
                  <a:srgbClr val="00805C"/>
                </a:solidFill>
                <a:latin typeface="Aptos" panose="020B0004020202020204" pitchFamily="34" charset="0"/>
                <a:ea typeface="Montserrat Bold"/>
                <a:cs typeface="Montserrat Bold"/>
                <a:sym typeface="Montserrat Bold"/>
              </a:rPr>
              <a:t>SECURE &amp; RELIABLE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055830" y="6844083"/>
            <a:ext cx="2726969" cy="566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00" b="1" dirty="0">
                <a:solidFill>
                  <a:srgbClr val="000000"/>
                </a:solidFill>
                <a:latin typeface="Aptos" panose="020B0004020202020204" pitchFamily="34" charset="0"/>
                <a:ea typeface="Montserrat Semi-Bold"/>
                <a:cs typeface="Montserrat Semi-Bold"/>
                <a:sym typeface="Montserrat Semi-Bold"/>
              </a:rPr>
              <a:t>Encrypted data transmission and secure cloud storage ensure privacy, reliability, and data protection.</a:t>
            </a:r>
          </a:p>
        </p:txBody>
      </p:sp>
      <p:sp>
        <p:nvSpPr>
          <p:cNvPr id="71" name="Freeform 4">
            <a:extLst>
              <a:ext uri="{FF2B5EF4-FFF2-40B4-BE49-F238E27FC236}">
                <a16:creationId xmlns:a16="http://schemas.microsoft.com/office/drawing/2014/main" id="{34A95BE3-7FBE-F5D8-71FF-451509080F0F}"/>
              </a:ext>
            </a:extLst>
          </p:cNvPr>
          <p:cNvSpPr/>
          <p:nvPr/>
        </p:nvSpPr>
        <p:spPr>
          <a:xfrm>
            <a:off x="-8041" y="7096125"/>
            <a:ext cx="2085975" cy="1876425"/>
          </a:xfrm>
          <a:custGeom>
            <a:avLst/>
            <a:gdLst/>
            <a:ahLst/>
            <a:cxnLst/>
            <a:rect l="l" t="t" r="r" b="b"/>
            <a:pathLst>
              <a:path w="2085975" h="1876425">
                <a:moveTo>
                  <a:pt x="0" y="0"/>
                </a:moveTo>
                <a:lnTo>
                  <a:pt x="2085975" y="0"/>
                </a:lnTo>
                <a:lnTo>
                  <a:pt x="20859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498F-F4B2-905F-B101-F34608D1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25402B-E8CF-02E9-00B9-5D289538D8E9}"/>
              </a:ext>
            </a:extLst>
          </p:cNvPr>
          <p:cNvSpPr/>
          <p:nvPr/>
        </p:nvSpPr>
        <p:spPr>
          <a:xfrm>
            <a:off x="60119" y="29173"/>
            <a:ext cx="15925800" cy="8963025"/>
          </a:xfrm>
          <a:custGeom>
            <a:avLst/>
            <a:gdLst/>
            <a:ahLst/>
            <a:cxnLst/>
            <a:rect l="l" t="t" r="r" b="b"/>
            <a:pathLst>
              <a:path w="15925800" h="8963025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F624688-5569-B9E2-B1E3-BC230D10A664}"/>
              </a:ext>
            </a:extLst>
          </p:cNvPr>
          <p:cNvSpPr/>
          <p:nvPr/>
        </p:nvSpPr>
        <p:spPr>
          <a:xfrm>
            <a:off x="0" y="0"/>
            <a:ext cx="2085975" cy="1876425"/>
          </a:xfrm>
          <a:custGeom>
            <a:avLst/>
            <a:gdLst/>
            <a:ahLst/>
            <a:cxnLst/>
            <a:rect l="l" t="t" r="r" b="b"/>
            <a:pathLst>
              <a:path w="2085975" h="1876425">
                <a:moveTo>
                  <a:pt x="0" y="0"/>
                </a:moveTo>
                <a:lnTo>
                  <a:pt x="2085975" y="0"/>
                </a:lnTo>
                <a:lnTo>
                  <a:pt x="20859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B35EDEA-1C2E-CCE4-1726-1E53A74AC53E}"/>
              </a:ext>
            </a:extLst>
          </p:cNvPr>
          <p:cNvSpPr/>
          <p:nvPr/>
        </p:nvSpPr>
        <p:spPr>
          <a:xfrm>
            <a:off x="180975" y="180975"/>
            <a:ext cx="771525" cy="762000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51598B0-3DFE-2A7D-FBDF-D6444F104C20}"/>
              </a:ext>
            </a:extLst>
          </p:cNvPr>
          <p:cNvSpPr txBox="1"/>
          <p:nvPr/>
        </p:nvSpPr>
        <p:spPr>
          <a:xfrm>
            <a:off x="3201086" y="250159"/>
            <a:ext cx="4921072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1"/>
              </a:lnSpc>
            </a:pPr>
            <a:r>
              <a:rPr lang="en-US" sz="6000" b="1">
                <a:solidFill>
                  <a:srgbClr val="001C58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FEASIBILITY &amp;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2E78BED-EBCE-38B0-8F8F-913E80AE1AFD}"/>
              </a:ext>
            </a:extLst>
          </p:cNvPr>
          <p:cNvSpPr txBox="1"/>
          <p:nvPr/>
        </p:nvSpPr>
        <p:spPr>
          <a:xfrm>
            <a:off x="8281416" y="257623"/>
            <a:ext cx="4650334" cy="735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9"/>
              </a:lnSpc>
            </a:pPr>
            <a:r>
              <a:rPr lang="en-US" sz="6000" b="1">
                <a:solidFill>
                  <a:srgbClr val="1A8F6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AVAILABILITY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4B904C0-CA1A-0C18-691C-3C67E06277C5}"/>
              </a:ext>
            </a:extLst>
          </p:cNvPr>
          <p:cNvSpPr/>
          <p:nvPr/>
        </p:nvSpPr>
        <p:spPr>
          <a:xfrm>
            <a:off x="3219450" y="933450"/>
            <a:ext cx="3038475" cy="561975"/>
          </a:xfrm>
          <a:custGeom>
            <a:avLst/>
            <a:gdLst/>
            <a:ahLst/>
            <a:cxnLst/>
            <a:rect l="l" t="t" r="r" b="b"/>
            <a:pathLst>
              <a:path w="3038475" h="561975">
                <a:moveTo>
                  <a:pt x="0" y="0"/>
                </a:moveTo>
                <a:lnTo>
                  <a:pt x="3038475" y="0"/>
                </a:lnTo>
                <a:lnTo>
                  <a:pt x="30384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B12422D-3D94-E409-9A85-1E98ADDC2AB8}"/>
              </a:ext>
            </a:extLst>
          </p:cNvPr>
          <p:cNvSpPr/>
          <p:nvPr/>
        </p:nvSpPr>
        <p:spPr>
          <a:xfrm>
            <a:off x="9858375" y="933450"/>
            <a:ext cx="3228975" cy="561975"/>
          </a:xfrm>
          <a:custGeom>
            <a:avLst/>
            <a:gdLst/>
            <a:ahLst/>
            <a:cxnLst/>
            <a:rect l="l" t="t" r="r" b="b"/>
            <a:pathLst>
              <a:path w="3228975" h="561975">
                <a:moveTo>
                  <a:pt x="0" y="0"/>
                </a:moveTo>
                <a:lnTo>
                  <a:pt x="3228975" y="0"/>
                </a:lnTo>
                <a:lnTo>
                  <a:pt x="32289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C5AB480-2667-B0BF-9EBB-E6A3034D373B}"/>
              </a:ext>
            </a:extLst>
          </p:cNvPr>
          <p:cNvSpPr/>
          <p:nvPr/>
        </p:nvSpPr>
        <p:spPr>
          <a:xfrm>
            <a:off x="561975" y="1485900"/>
            <a:ext cx="6267450" cy="571500"/>
          </a:xfrm>
          <a:custGeom>
            <a:avLst/>
            <a:gdLst/>
            <a:ahLst/>
            <a:cxnLst/>
            <a:rect l="l" t="t" r="r" b="b"/>
            <a:pathLst>
              <a:path w="6267450" h="571500">
                <a:moveTo>
                  <a:pt x="0" y="0"/>
                </a:moveTo>
                <a:lnTo>
                  <a:pt x="6267450" y="0"/>
                </a:lnTo>
                <a:lnTo>
                  <a:pt x="6267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F5CDBA8-A066-68BE-D9F7-44E8817160FE}"/>
              </a:ext>
            </a:extLst>
          </p:cNvPr>
          <p:cNvSpPr/>
          <p:nvPr/>
        </p:nvSpPr>
        <p:spPr>
          <a:xfrm>
            <a:off x="1323975" y="1304925"/>
            <a:ext cx="762000" cy="942975"/>
          </a:xfrm>
          <a:custGeom>
            <a:avLst/>
            <a:gdLst/>
            <a:ahLst/>
            <a:cxnLst/>
            <a:rect l="l" t="t" r="r" b="b"/>
            <a:pathLst>
              <a:path w="762000" h="942975">
                <a:moveTo>
                  <a:pt x="0" y="0"/>
                </a:moveTo>
                <a:lnTo>
                  <a:pt x="762000" y="0"/>
                </a:lnTo>
                <a:lnTo>
                  <a:pt x="762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94556B7-5257-3999-6075-9AA611DC6944}"/>
              </a:ext>
            </a:extLst>
          </p:cNvPr>
          <p:cNvSpPr/>
          <p:nvPr/>
        </p:nvSpPr>
        <p:spPr>
          <a:xfrm>
            <a:off x="1323975" y="1485900"/>
            <a:ext cx="581025" cy="571500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D2C0B33-0D95-C284-F3ED-30ED50A6062F}"/>
              </a:ext>
            </a:extLst>
          </p:cNvPr>
          <p:cNvSpPr txBox="1"/>
          <p:nvPr/>
        </p:nvSpPr>
        <p:spPr>
          <a:xfrm>
            <a:off x="2197760" y="1675646"/>
            <a:ext cx="1592580" cy="260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400" b="1">
                <a:solidFill>
                  <a:srgbClr val="FFFFF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FEASIBILITY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40EEC63-C3F3-A41A-5D1F-DF13B73E394D}"/>
              </a:ext>
            </a:extLst>
          </p:cNvPr>
          <p:cNvSpPr txBox="1"/>
          <p:nvPr/>
        </p:nvSpPr>
        <p:spPr>
          <a:xfrm>
            <a:off x="1560728" y="2180220"/>
            <a:ext cx="461848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"/>
              </a:lnSpc>
            </a:pPr>
            <a:r>
              <a:rPr lang="en-US" sz="1400" b="1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The system is technically, operationally and economically feasible using readily available technologies and resources.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278C81D-2A7D-E765-F8B6-00C97CF2B516}"/>
              </a:ext>
            </a:extLst>
          </p:cNvPr>
          <p:cNvSpPr/>
          <p:nvPr/>
        </p:nvSpPr>
        <p:spPr>
          <a:xfrm>
            <a:off x="561975" y="2609850"/>
            <a:ext cx="6267450" cy="1314450"/>
          </a:xfrm>
          <a:custGeom>
            <a:avLst/>
            <a:gdLst/>
            <a:ahLst/>
            <a:cxnLst/>
            <a:rect l="l" t="t" r="r" b="b"/>
            <a:pathLst>
              <a:path w="6267450" h="1314450">
                <a:moveTo>
                  <a:pt x="0" y="0"/>
                </a:moveTo>
                <a:lnTo>
                  <a:pt x="6267450" y="0"/>
                </a:lnTo>
                <a:lnTo>
                  <a:pt x="626745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3C3F4C0-5359-7D1D-FB04-5B14301FABF5}"/>
              </a:ext>
            </a:extLst>
          </p:cNvPr>
          <p:cNvSpPr/>
          <p:nvPr/>
        </p:nvSpPr>
        <p:spPr>
          <a:xfrm>
            <a:off x="752475" y="2800350"/>
            <a:ext cx="771525" cy="752475"/>
          </a:xfrm>
          <a:custGeom>
            <a:avLst/>
            <a:gdLst/>
            <a:ahLst/>
            <a:cxnLst/>
            <a:rect l="l" t="t" r="r" b="b"/>
            <a:pathLst>
              <a:path w="771525" h="752475">
                <a:moveTo>
                  <a:pt x="0" y="0"/>
                </a:moveTo>
                <a:lnTo>
                  <a:pt x="771525" y="0"/>
                </a:lnTo>
                <a:lnTo>
                  <a:pt x="7715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0903986-A63D-48B3-7D92-3D869198CA76}"/>
              </a:ext>
            </a:extLst>
          </p:cNvPr>
          <p:cNvSpPr txBox="1"/>
          <p:nvPr/>
        </p:nvSpPr>
        <p:spPr>
          <a:xfrm>
            <a:off x="1783690" y="3119720"/>
            <a:ext cx="296219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lang="en-US" sz="12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Built using proven, low-power hardware (ESP32), MAx3000, 0D18B20 and reliable communication (Wi-Fi / Bluetooth).</a:t>
            </a: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7318D4FA-4CB3-C59B-CB2B-F8078D9A436D}"/>
              </a:ext>
            </a:extLst>
          </p:cNvPr>
          <p:cNvSpPr/>
          <p:nvPr/>
        </p:nvSpPr>
        <p:spPr>
          <a:xfrm>
            <a:off x="5114925" y="2800350"/>
            <a:ext cx="200025" cy="942975"/>
          </a:xfrm>
          <a:custGeom>
            <a:avLst/>
            <a:gdLst/>
            <a:ahLst/>
            <a:cxnLst/>
            <a:rect l="l" t="t" r="r" b="b"/>
            <a:pathLst>
              <a:path w="200025" h="942975">
                <a:moveTo>
                  <a:pt x="0" y="0"/>
                </a:moveTo>
                <a:lnTo>
                  <a:pt x="200025" y="0"/>
                </a:lnTo>
                <a:lnTo>
                  <a:pt x="200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3C2ECCD1-10F4-0462-8290-803F08DF173D}"/>
              </a:ext>
            </a:extLst>
          </p:cNvPr>
          <p:cNvSpPr/>
          <p:nvPr/>
        </p:nvSpPr>
        <p:spPr>
          <a:xfrm>
            <a:off x="5686425" y="2800350"/>
            <a:ext cx="571500" cy="752475"/>
          </a:xfrm>
          <a:custGeom>
            <a:avLst/>
            <a:gdLst/>
            <a:ahLst/>
            <a:cxnLst/>
            <a:rect l="l" t="t" r="r" b="b"/>
            <a:pathLst>
              <a:path w="571500" h="752475">
                <a:moveTo>
                  <a:pt x="0" y="0"/>
                </a:moveTo>
                <a:lnTo>
                  <a:pt x="571500" y="0"/>
                </a:lnTo>
                <a:lnTo>
                  <a:pt x="5715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013DCBD-5817-5AF9-3970-80D4528AF304}"/>
              </a:ext>
            </a:extLst>
          </p:cNvPr>
          <p:cNvSpPr txBox="1"/>
          <p:nvPr/>
        </p:nvSpPr>
        <p:spPr>
          <a:xfrm>
            <a:off x="5685511" y="3401439"/>
            <a:ext cx="63703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1000" b="1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Proven Technology</a:t>
            </a: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D02C2BB-51F0-2CEE-F2A4-4B0682DF4513}"/>
              </a:ext>
            </a:extLst>
          </p:cNvPr>
          <p:cNvSpPr/>
          <p:nvPr/>
        </p:nvSpPr>
        <p:spPr>
          <a:xfrm>
            <a:off x="561975" y="3733800"/>
            <a:ext cx="6267450" cy="1123950"/>
          </a:xfrm>
          <a:custGeom>
            <a:avLst/>
            <a:gdLst/>
            <a:ahLst/>
            <a:cxnLst/>
            <a:rect l="l" t="t" r="r" b="b"/>
            <a:pathLst>
              <a:path w="6267450" h="1123950">
                <a:moveTo>
                  <a:pt x="0" y="0"/>
                </a:moveTo>
                <a:lnTo>
                  <a:pt x="6267450" y="0"/>
                </a:lnTo>
                <a:lnTo>
                  <a:pt x="62674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35D75E1C-A6F4-DDF1-8AFC-2F4BBD460C98}"/>
              </a:ext>
            </a:extLst>
          </p:cNvPr>
          <p:cNvSpPr/>
          <p:nvPr/>
        </p:nvSpPr>
        <p:spPr>
          <a:xfrm>
            <a:off x="752475" y="3733800"/>
            <a:ext cx="771525" cy="942975"/>
          </a:xfrm>
          <a:custGeom>
            <a:avLst/>
            <a:gdLst/>
            <a:ahLst/>
            <a:cxnLst/>
            <a:rect l="l" t="t" r="r" b="b"/>
            <a:pathLst>
              <a:path w="771525" h="942975">
                <a:moveTo>
                  <a:pt x="0" y="0"/>
                </a:moveTo>
                <a:lnTo>
                  <a:pt x="771525" y="0"/>
                </a:lnTo>
                <a:lnTo>
                  <a:pt x="771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2FF1337-AEEB-FB21-B685-DB441CA0F365}"/>
              </a:ext>
            </a:extLst>
          </p:cNvPr>
          <p:cNvSpPr txBox="1"/>
          <p:nvPr/>
        </p:nvSpPr>
        <p:spPr>
          <a:xfrm>
            <a:off x="1783690" y="4231207"/>
            <a:ext cx="264368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2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Simple to use and maintain. Minimal training required for caregivers and healthcare staff.</a:t>
            </a:r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8058A162-F92F-9F61-BD64-0C567BC9F991}"/>
              </a:ext>
            </a:extLst>
          </p:cNvPr>
          <p:cNvSpPr/>
          <p:nvPr/>
        </p:nvSpPr>
        <p:spPr>
          <a:xfrm>
            <a:off x="5114925" y="3914775"/>
            <a:ext cx="200025" cy="762000"/>
          </a:xfrm>
          <a:custGeom>
            <a:avLst/>
            <a:gdLst/>
            <a:ahLst/>
            <a:cxnLst/>
            <a:rect l="l" t="t" r="r" b="b"/>
            <a:pathLst>
              <a:path w="200025" h="762000">
                <a:moveTo>
                  <a:pt x="0" y="0"/>
                </a:moveTo>
                <a:lnTo>
                  <a:pt x="200025" y="0"/>
                </a:lnTo>
                <a:lnTo>
                  <a:pt x="200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8336914-2A9D-5BF3-1E49-C772A2BE8654}"/>
              </a:ext>
            </a:extLst>
          </p:cNvPr>
          <p:cNvSpPr/>
          <p:nvPr/>
        </p:nvSpPr>
        <p:spPr>
          <a:xfrm>
            <a:off x="5686425" y="391477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989FA17-D2B1-9C37-CB5C-43789B858655}"/>
              </a:ext>
            </a:extLst>
          </p:cNvPr>
          <p:cNvSpPr/>
          <p:nvPr/>
        </p:nvSpPr>
        <p:spPr>
          <a:xfrm>
            <a:off x="561975" y="4667250"/>
            <a:ext cx="6267450" cy="1314450"/>
          </a:xfrm>
          <a:custGeom>
            <a:avLst/>
            <a:gdLst/>
            <a:ahLst/>
            <a:cxnLst/>
            <a:rect l="l" t="t" r="r" b="b"/>
            <a:pathLst>
              <a:path w="6267450" h="1314450">
                <a:moveTo>
                  <a:pt x="0" y="0"/>
                </a:moveTo>
                <a:lnTo>
                  <a:pt x="6267450" y="0"/>
                </a:lnTo>
                <a:lnTo>
                  <a:pt x="626745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FEC311A6-F3D5-5973-5958-AD546C6F5F29}"/>
              </a:ext>
            </a:extLst>
          </p:cNvPr>
          <p:cNvSpPr/>
          <p:nvPr/>
        </p:nvSpPr>
        <p:spPr>
          <a:xfrm>
            <a:off x="752475" y="4848225"/>
            <a:ext cx="771525" cy="762000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8C3B03F-9008-62C9-8A5D-2949485ED286}"/>
              </a:ext>
            </a:extLst>
          </p:cNvPr>
          <p:cNvSpPr txBox="1"/>
          <p:nvPr/>
        </p:nvSpPr>
        <p:spPr>
          <a:xfrm>
            <a:off x="1783689" y="5062970"/>
            <a:ext cx="3101263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400" b="1" dirty="0">
                <a:solidFill>
                  <a:srgbClr val="004AAD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ECONOMIC FEASIBILITY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B7C41AB-157E-38E7-65F6-91AA2BAE88E7}"/>
              </a:ext>
            </a:extLst>
          </p:cNvPr>
          <p:cNvSpPr txBox="1"/>
          <p:nvPr/>
        </p:nvSpPr>
        <p:spPr>
          <a:xfrm>
            <a:off x="1783690" y="5244029"/>
            <a:ext cx="296219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2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Low-cost components and open-source platforms make the system affordable and cost-effective.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7C3C10EE-4D3C-81E5-D0AC-1C5AF66DB14C}"/>
              </a:ext>
            </a:extLst>
          </p:cNvPr>
          <p:cNvSpPr/>
          <p:nvPr/>
        </p:nvSpPr>
        <p:spPr>
          <a:xfrm>
            <a:off x="5114925" y="4848225"/>
            <a:ext cx="200025" cy="942975"/>
          </a:xfrm>
          <a:custGeom>
            <a:avLst/>
            <a:gdLst/>
            <a:ahLst/>
            <a:cxnLst/>
            <a:rect l="l" t="t" r="r" b="b"/>
            <a:pathLst>
              <a:path w="200025" h="942975">
                <a:moveTo>
                  <a:pt x="0" y="0"/>
                </a:moveTo>
                <a:lnTo>
                  <a:pt x="200025" y="0"/>
                </a:lnTo>
                <a:lnTo>
                  <a:pt x="200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FFDA93AF-05A4-013A-065D-819C7EF74063}"/>
              </a:ext>
            </a:extLst>
          </p:cNvPr>
          <p:cNvSpPr/>
          <p:nvPr/>
        </p:nvSpPr>
        <p:spPr>
          <a:xfrm>
            <a:off x="5686425" y="484822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774D89C-DADD-2C21-1197-3866C349FE79}"/>
              </a:ext>
            </a:extLst>
          </p:cNvPr>
          <p:cNvSpPr txBox="1"/>
          <p:nvPr/>
        </p:nvSpPr>
        <p:spPr>
          <a:xfrm>
            <a:off x="5605882" y="5472460"/>
            <a:ext cx="81221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1000" b="1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Affordable &amp; Cost-Effective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20B300EA-55E0-408C-D308-BDDB60D13DE4}"/>
              </a:ext>
            </a:extLst>
          </p:cNvPr>
          <p:cNvSpPr/>
          <p:nvPr/>
        </p:nvSpPr>
        <p:spPr>
          <a:xfrm>
            <a:off x="561975" y="5781675"/>
            <a:ext cx="6267450" cy="1133475"/>
          </a:xfrm>
          <a:custGeom>
            <a:avLst/>
            <a:gdLst/>
            <a:ahLst/>
            <a:cxnLst/>
            <a:rect l="l" t="t" r="r" b="b"/>
            <a:pathLst>
              <a:path w="6267450" h="1133475">
                <a:moveTo>
                  <a:pt x="0" y="0"/>
                </a:moveTo>
                <a:lnTo>
                  <a:pt x="6267450" y="0"/>
                </a:lnTo>
                <a:lnTo>
                  <a:pt x="626745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C586B6D8-A08A-C21E-9497-D779FC1BB8D2}"/>
              </a:ext>
            </a:extLst>
          </p:cNvPr>
          <p:cNvSpPr/>
          <p:nvPr/>
        </p:nvSpPr>
        <p:spPr>
          <a:xfrm>
            <a:off x="752475" y="5781675"/>
            <a:ext cx="771525" cy="942975"/>
          </a:xfrm>
          <a:custGeom>
            <a:avLst/>
            <a:gdLst/>
            <a:ahLst/>
            <a:cxnLst/>
            <a:rect l="l" t="t" r="r" b="b"/>
            <a:pathLst>
              <a:path w="771525" h="942975">
                <a:moveTo>
                  <a:pt x="0" y="0"/>
                </a:moveTo>
                <a:lnTo>
                  <a:pt x="771525" y="0"/>
                </a:lnTo>
                <a:lnTo>
                  <a:pt x="771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20159179-E000-E3C1-8390-79F632F28F63}"/>
              </a:ext>
            </a:extLst>
          </p:cNvPr>
          <p:cNvSpPr txBox="1"/>
          <p:nvPr/>
        </p:nvSpPr>
        <p:spPr>
          <a:xfrm>
            <a:off x="1783690" y="6265814"/>
            <a:ext cx="2834792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2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Complies with data privacy best practices. Secure transmission and storage of patient data.</a:t>
            </a: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311B4060-B9F3-973B-F9E5-BD8AE3B4DF90}"/>
              </a:ext>
            </a:extLst>
          </p:cNvPr>
          <p:cNvSpPr/>
          <p:nvPr/>
        </p:nvSpPr>
        <p:spPr>
          <a:xfrm>
            <a:off x="5114925" y="5972175"/>
            <a:ext cx="200025" cy="752475"/>
          </a:xfrm>
          <a:custGeom>
            <a:avLst/>
            <a:gdLst/>
            <a:ahLst/>
            <a:cxnLst/>
            <a:rect l="l" t="t" r="r" b="b"/>
            <a:pathLst>
              <a:path w="200025" h="752475">
                <a:moveTo>
                  <a:pt x="0" y="0"/>
                </a:moveTo>
                <a:lnTo>
                  <a:pt x="200025" y="0"/>
                </a:lnTo>
                <a:lnTo>
                  <a:pt x="200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DE19FCFF-83F3-2855-F567-E66BA3C5B4B1}"/>
              </a:ext>
            </a:extLst>
          </p:cNvPr>
          <p:cNvSpPr/>
          <p:nvPr/>
        </p:nvSpPr>
        <p:spPr>
          <a:xfrm>
            <a:off x="5686425" y="597217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EB0C4652-B696-5695-7ED5-EB5CC226556E}"/>
              </a:ext>
            </a:extLst>
          </p:cNvPr>
          <p:cNvSpPr/>
          <p:nvPr/>
        </p:nvSpPr>
        <p:spPr>
          <a:xfrm>
            <a:off x="561975" y="6715125"/>
            <a:ext cx="6267450" cy="1133475"/>
          </a:xfrm>
          <a:custGeom>
            <a:avLst/>
            <a:gdLst/>
            <a:ahLst/>
            <a:cxnLst/>
            <a:rect l="l" t="t" r="r" b="b"/>
            <a:pathLst>
              <a:path w="6267450" h="1133475">
                <a:moveTo>
                  <a:pt x="0" y="0"/>
                </a:moveTo>
                <a:lnTo>
                  <a:pt x="6267450" y="0"/>
                </a:lnTo>
                <a:lnTo>
                  <a:pt x="626745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2C9D731B-B632-6849-E655-A9CA21650B0F}"/>
              </a:ext>
            </a:extLst>
          </p:cNvPr>
          <p:cNvSpPr/>
          <p:nvPr/>
        </p:nvSpPr>
        <p:spPr>
          <a:xfrm>
            <a:off x="752475" y="6715125"/>
            <a:ext cx="771525" cy="942975"/>
          </a:xfrm>
          <a:custGeom>
            <a:avLst/>
            <a:gdLst/>
            <a:ahLst/>
            <a:cxnLst/>
            <a:rect l="l" t="t" r="r" b="b"/>
            <a:pathLst>
              <a:path w="771525" h="942975">
                <a:moveTo>
                  <a:pt x="0" y="0"/>
                </a:moveTo>
                <a:lnTo>
                  <a:pt x="771525" y="0"/>
                </a:lnTo>
                <a:lnTo>
                  <a:pt x="771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A4147351-7EDC-37BC-2E4E-6811981757B5}"/>
              </a:ext>
            </a:extLst>
          </p:cNvPr>
          <p:cNvSpPr txBox="1"/>
          <p:nvPr/>
        </p:nvSpPr>
        <p:spPr>
          <a:xfrm>
            <a:off x="1783690" y="7225307"/>
            <a:ext cx="2866644" cy="370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Cloud-based architecture allows easy scaling to monitor multiple patients simultaneously.</a:t>
            </a:r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4B23E76A-174B-6BE7-F43B-3CAAA9B6F87C}"/>
              </a:ext>
            </a:extLst>
          </p:cNvPr>
          <p:cNvSpPr/>
          <p:nvPr/>
        </p:nvSpPr>
        <p:spPr>
          <a:xfrm>
            <a:off x="5114925" y="6905625"/>
            <a:ext cx="200025" cy="752475"/>
          </a:xfrm>
          <a:custGeom>
            <a:avLst/>
            <a:gdLst/>
            <a:ahLst/>
            <a:cxnLst/>
            <a:rect l="l" t="t" r="r" b="b"/>
            <a:pathLst>
              <a:path w="200025" h="752475">
                <a:moveTo>
                  <a:pt x="0" y="0"/>
                </a:moveTo>
                <a:lnTo>
                  <a:pt x="200025" y="0"/>
                </a:lnTo>
                <a:lnTo>
                  <a:pt x="200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804CAA10-00FF-8A8C-D3D5-98906240CF52}"/>
              </a:ext>
            </a:extLst>
          </p:cNvPr>
          <p:cNvSpPr/>
          <p:nvPr/>
        </p:nvSpPr>
        <p:spPr>
          <a:xfrm>
            <a:off x="5686425" y="6905625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0"/>
                </a:moveTo>
                <a:lnTo>
                  <a:pt x="762000" y="0"/>
                </a:lnTo>
                <a:lnTo>
                  <a:pt x="762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E74DA9F3-584E-C5BB-44E4-CC62E9D5BB82}"/>
              </a:ext>
            </a:extLst>
          </p:cNvPr>
          <p:cNvSpPr/>
          <p:nvPr/>
        </p:nvSpPr>
        <p:spPr>
          <a:xfrm>
            <a:off x="7391400" y="1676400"/>
            <a:ext cx="200025" cy="5800725"/>
          </a:xfrm>
          <a:custGeom>
            <a:avLst/>
            <a:gdLst/>
            <a:ahLst/>
            <a:cxnLst/>
            <a:rect l="l" t="t" r="r" b="b"/>
            <a:pathLst>
              <a:path w="200025" h="5800725">
                <a:moveTo>
                  <a:pt x="0" y="0"/>
                </a:moveTo>
                <a:lnTo>
                  <a:pt x="200025" y="0"/>
                </a:lnTo>
                <a:lnTo>
                  <a:pt x="200025" y="5800725"/>
                </a:lnTo>
                <a:lnTo>
                  <a:pt x="0" y="58007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8F2701AC-F557-F4D6-3519-4121FC11C11C}"/>
              </a:ext>
            </a:extLst>
          </p:cNvPr>
          <p:cNvSpPr txBox="1"/>
          <p:nvPr/>
        </p:nvSpPr>
        <p:spPr>
          <a:xfrm>
            <a:off x="6274765" y="1100175"/>
            <a:ext cx="337627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6"/>
              </a:lnSpc>
            </a:pPr>
            <a:r>
              <a:rPr lang="en-US" sz="2000" b="1">
                <a:solidFill>
                  <a:srgbClr val="001C58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Practical. Accessible. Scalable.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250D59C6-3179-1C4B-64FF-B9B2A9213EC3}"/>
              </a:ext>
            </a:extLst>
          </p:cNvPr>
          <p:cNvSpPr txBox="1"/>
          <p:nvPr/>
        </p:nvSpPr>
        <p:spPr>
          <a:xfrm>
            <a:off x="1783690" y="2866468"/>
            <a:ext cx="1879244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8"/>
              </a:lnSpc>
            </a:pPr>
            <a:r>
              <a:rPr lang="en-US" sz="1400" b="1" dirty="0">
                <a:solidFill>
                  <a:srgbClr val="004AAD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TECHNICAL FEASIBILITY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3C03EA84-2B1F-7693-694E-14CFC37A9202}"/>
              </a:ext>
            </a:extLst>
          </p:cNvPr>
          <p:cNvSpPr txBox="1"/>
          <p:nvPr/>
        </p:nvSpPr>
        <p:spPr>
          <a:xfrm>
            <a:off x="1783690" y="3995809"/>
            <a:ext cx="2834792" cy="195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28"/>
              </a:lnSpc>
            </a:pPr>
            <a:r>
              <a:rPr lang="en-US" sz="1400" b="1" dirty="0">
                <a:solidFill>
                  <a:srgbClr val="004AAD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OPERATIONAL FEASIBILITY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92213527-EED0-B993-39FB-5DC3860B84C9}"/>
              </a:ext>
            </a:extLst>
          </p:cNvPr>
          <p:cNvSpPr txBox="1"/>
          <p:nvPr/>
        </p:nvSpPr>
        <p:spPr>
          <a:xfrm>
            <a:off x="5637733" y="4459638"/>
            <a:ext cx="76443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1000" b="1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Easy to Use &amp; Maintain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CFA13FBC-09E7-C750-C22B-F5583FA79C9C}"/>
              </a:ext>
            </a:extLst>
          </p:cNvPr>
          <p:cNvSpPr txBox="1"/>
          <p:nvPr/>
        </p:nvSpPr>
        <p:spPr>
          <a:xfrm>
            <a:off x="1783690" y="6084756"/>
            <a:ext cx="2959760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400" b="1" dirty="0">
                <a:solidFill>
                  <a:srgbClr val="004AAD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LEGAL &amp; DATA FEASIBILITY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795C6B28-91D6-E89E-90DC-3204EA163854}"/>
              </a:ext>
            </a:extLst>
          </p:cNvPr>
          <p:cNvSpPr txBox="1"/>
          <p:nvPr/>
        </p:nvSpPr>
        <p:spPr>
          <a:xfrm>
            <a:off x="5701436" y="6494245"/>
            <a:ext cx="60518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1000" b="1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Secure &amp; Compliant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F12281D9-E3E7-386D-6FB0-A4E2A0DE6488}"/>
              </a:ext>
            </a:extLst>
          </p:cNvPr>
          <p:cNvSpPr txBox="1"/>
          <p:nvPr/>
        </p:nvSpPr>
        <p:spPr>
          <a:xfrm>
            <a:off x="1783690" y="6998422"/>
            <a:ext cx="1958873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8"/>
              </a:lnSpc>
            </a:pPr>
            <a:r>
              <a:rPr lang="en-US" sz="1400" b="1">
                <a:solidFill>
                  <a:srgbClr val="004AAD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SCALABILITY FEASIBILITY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FB4EC21-27BF-B116-24C0-5D2EDB7BFDC0}"/>
              </a:ext>
            </a:extLst>
          </p:cNvPr>
          <p:cNvSpPr txBox="1"/>
          <p:nvPr/>
        </p:nvSpPr>
        <p:spPr>
          <a:xfrm>
            <a:off x="5637733" y="7453289"/>
            <a:ext cx="76443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1000" b="1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Scalable Architecture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600DFA24-75A2-8CE6-39C2-C6908742607D}"/>
              </a:ext>
            </a:extLst>
          </p:cNvPr>
          <p:cNvSpPr txBox="1"/>
          <p:nvPr/>
        </p:nvSpPr>
        <p:spPr>
          <a:xfrm>
            <a:off x="2134057" y="8220470"/>
            <a:ext cx="891845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b="1" dirty="0">
                <a:solidFill>
                  <a:srgbClr val="001C58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Goal: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B8FBD216-7B1F-C944-0214-3DBE76D3418E}"/>
              </a:ext>
            </a:extLst>
          </p:cNvPr>
          <p:cNvSpPr txBox="1"/>
          <p:nvPr/>
        </p:nvSpPr>
        <p:spPr>
          <a:xfrm>
            <a:off x="3503676" y="8168083"/>
            <a:ext cx="503255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400" b="1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To deliver a feasible, accessible and reliable health monitoring solution that can be deployed widely and make a real impact on patient care.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8C6187E8-3C48-7421-A1AA-46BD74356C00}"/>
              </a:ext>
            </a:extLst>
          </p:cNvPr>
          <p:cNvSpPr txBox="1"/>
          <p:nvPr/>
        </p:nvSpPr>
        <p:spPr>
          <a:xfrm>
            <a:off x="9921773" y="1675646"/>
            <a:ext cx="1831467" cy="260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400" b="1">
                <a:solidFill>
                  <a:srgbClr val="FFFFF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AVAILABILITY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50D9C6F6-A7B9-EC5A-E16C-7DB211F23BD5}"/>
              </a:ext>
            </a:extLst>
          </p:cNvPr>
          <p:cNvSpPr txBox="1"/>
          <p:nvPr/>
        </p:nvSpPr>
        <p:spPr>
          <a:xfrm>
            <a:off x="9603257" y="2180220"/>
            <a:ext cx="3869969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"/>
              </a:lnSpc>
            </a:pPr>
            <a:r>
              <a:rPr lang="en-US" sz="14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All components and platforms used are easily available and widely supported.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7362EE30-8D02-51E5-A8CC-5D110FB053EF}"/>
              </a:ext>
            </a:extLst>
          </p:cNvPr>
          <p:cNvSpPr txBox="1"/>
          <p:nvPr/>
        </p:nvSpPr>
        <p:spPr>
          <a:xfrm>
            <a:off x="8524797" y="2933023"/>
            <a:ext cx="98740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200" b="1" dirty="0">
                <a:solidFill>
                  <a:srgbClr val="1A8F6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HARDWARE COMPONENTS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1A771888-7ACC-39C6-F767-E057F9094655}"/>
              </a:ext>
            </a:extLst>
          </p:cNvPr>
          <p:cNvSpPr txBox="1"/>
          <p:nvPr/>
        </p:nvSpPr>
        <p:spPr>
          <a:xfrm>
            <a:off x="9921773" y="2933114"/>
            <a:ext cx="939622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lang="en-US" sz="1400" b="1">
                <a:solidFill>
                  <a:srgbClr val="1A8F6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SOFTWARE &amp; PLATFORMS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37A92A8A-C803-AC9C-595E-F00EF384DEED}"/>
              </a:ext>
            </a:extLst>
          </p:cNvPr>
          <p:cNvSpPr txBox="1"/>
          <p:nvPr/>
        </p:nvSpPr>
        <p:spPr>
          <a:xfrm>
            <a:off x="11402873" y="2952164"/>
            <a:ext cx="9874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100" b="1">
                <a:solidFill>
                  <a:srgbClr val="1A8F6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DEVELOPMENT TOOLS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DA95E851-3C52-0ED2-CB5F-6935226D67C9}"/>
              </a:ext>
            </a:extLst>
          </p:cNvPr>
          <p:cNvSpPr txBox="1"/>
          <p:nvPr/>
        </p:nvSpPr>
        <p:spPr>
          <a:xfrm>
            <a:off x="12724714" y="3006238"/>
            <a:ext cx="987400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100" b="1">
                <a:solidFill>
                  <a:srgbClr val="1A8F6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CONNECTIVITY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2E0BFA9A-936C-DD66-4AAD-C6565D436D3E}"/>
              </a:ext>
            </a:extLst>
          </p:cNvPr>
          <p:cNvSpPr txBox="1"/>
          <p:nvPr/>
        </p:nvSpPr>
        <p:spPr>
          <a:xfrm>
            <a:off x="14205814" y="2942639"/>
            <a:ext cx="859993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200" b="1">
                <a:solidFill>
                  <a:srgbClr val="1A8F6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SUPPORT &amp; COMMUNITY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731A7289-81AB-F663-A850-CFC7A92BDC99}"/>
              </a:ext>
            </a:extLst>
          </p:cNvPr>
          <p:cNvSpPr txBox="1"/>
          <p:nvPr/>
        </p:nvSpPr>
        <p:spPr>
          <a:xfrm>
            <a:off x="8440674" y="4510686"/>
            <a:ext cx="9874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105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ESP32, MAXX00100</a:t>
            </a:r>
          </a:p>
          <a:p>
            <a:pPr algn="ctr">
              <a:lnSpc>
                <a:spcPts val="1187"/>
              </a:lnSpc>
            </a:pPr>
            <a:r>
              <a:rPr lang="en-US" sz="105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DSH1B20, DHT22</a:t>
            </a:r>
          </a:p>
          <a:p>
            <a:pPr algn="ctr">
              <a:lnSpc>
                <a:spcPts val="1187"/>
              </a:lnSpc>
            </a:pPr>
            <a:r>
              <a:rPr lang="en-US" sz="105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and other modules are widely available online and in local markets.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A0CC4DC7-A769-018C-E8FA-7AD7516D33F8}"/>
              </a:ext>
            </a:extLst>
          </p:cNvPr>
          <p:cNvSpPr txBox="1"/>
          <p:nvPr/>
        </p:nvSpPr>
        <p:spPr>
          <a:xfrm>
            <a:off x="9921773" y="4519383"/>
            <a:ext cx="9874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105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Cloud platforms like </a:t>
            </a:r>
            <a:r>
              <a:rPr lang="en-US" sz="1050" b="1" dirty="0" err="1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FireBase</a:t>
            </a:r>
            <a:r>
              <a:rPr lang="en-US" sz="105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 / Blynk and other modules are reliable, scalable, and widely used.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0D2732E3-C0D6-2777-578F-E7D3B73F034A}"/>
              </a:ext>
            </a:extLst>
          </p:cNvPr>
          <p:cNvSpPr txBox="1"/>
          <p:nvPr/>
        </p:nvSpPr>
        <p:spPr>
          <a:xfrm>
            <a:off x="11402873" y="4482561"/>
            <a:ext cx="9874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lang="en-US" sz="105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Open-source IDGs (Arduino IDE, VVS Code) and libraries ensure easy development and support.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B6E1828A-93C9-5FB3-0FE3-E14DACF24785}"/>
              </a:ext>
            </a:extLst>
          </p:cNvPr>
          <p:cNvSpPr txBox="1"/>
          <p:nvPr/>
        </p:nvSpPr>
        <p:spPr>
          <a:xfrm>
            <a:off x="12724714" y="4482561"/>
            <a:ext cx="9874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lang="en-US" sz="105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Wi-Fi and Bluetooth modules are commonly available and ensure reliable connectivity.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DD3CB2F1-DBD9-5079-00E6-C1452DA4206C}"/>
              </a:ext>
            </a:extLst>
          </p:cNvPr>
          <p:cNvSpPr txBox="1"/>
          <p:nvPr/>
        </p:nvSpPr>
        <p:spPr>
          <a:xfrm>
            <a:off x="14205814" y="4482561"/>
            <a:ext cx="9874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lang="en-US" sz="105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Large developer community and documentation ensure continuous support and updates.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2E532C1A-E3AE-7B6E-33ED-10538F266B02}"/>
              </a:ext>
            </a:extLst>
          </p:cNvPr>
          <p:cNvSpPr txBox="1"/>
          <p:nvPr/>
        </p:nvSpPr>
        <p:spPr>
          <a:xfrm>
            <a:off x="10511028" y="5905495"/>
            <a:ext cx="229331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"/>
              </a:lnSpc>
            </a:pPr>
            <a:r>
              <a:rPr lang="en-US" sz="1400" b="1" dirty="0">
                <a:solidFill>
                  <a:srgbClr val="1A8F6F"/>
                </a:solidFill>
                <a:latin typeface="Arial Narrow" panose="020B0606020202030204" pitchFamily="34" charset="0"/>
                <a:ea typeface="Roboto Bold"/>
                <a:cs typeface="Roboto Bold"/>
                <a:sym typeface="Roboto Bold"/>
              </a:rPr>
              <a:t>WHY IT’S READY AVAILABLE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6F58E43C-0C90-9B40-110D-4385A07AAA3C}"/>
              </a:ext>
            </a:extLst>
          </p:cNvPr>
          <p:cNvSpPr txBox="1"/>
          <p:nvPr/>
        </p:nvSpPr>
        <p:spPr>
          <a:xfrm>
            <a:off x="8392897" y="6953860"/>
            <a:ext cx="987400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</a:pPr>
            <a:r>
              <a:rPr lang="en-US" sz="11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Components widely available online &amp; offline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C71E624E-D66F-CAB6-C5DE-FDFD5F484388}"/>
              </a:ext>
            </a:extLst>
          </p:cNvPr>
          <p:cNvSpPr txBox="1"/>
          <p:nvPr/>
        </p:nvSpPr>
        <p:spPr>
          <a:xfrm>
            <a:off x="10001402" y="6920522"/>
            <a:ext cx="1114806" cy="39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"/>
              </a:lnSpc>
            </a:pPr>
            <a:r>
              <a:rPr lang="en-US" sz="11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Affordable and easily replaceable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747AE3E5-956F-470B-DD73-64B119C98552}"/>
              </a:ext>
            </a:extLst>
          </p:cNvPr>
          <p:cNvSpPr txBox="1"/>
          <p:nvPr/>
        </p:nvSpPr>
        <p:spPr>
          <a:xfrm>
            <a:off x="11275466" y="6905625"/>
            <a:ext cx="111480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</a:pPr>
            <a:r>
              <a:rPr lang="en-US" sz="11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Low maintenance and long-term reliability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489F6B62-48DC-3152-57DE-8FE160E761BD}"/>
              </a:ext>
            </a:extLst>
          </p:cNvPr>
          <p:cNvSpPr txBox="1"/>
          <p:nvPr/>
        </p:nvSpPr>
        <p:spPr>
          <a:xfrm>
            <a:off x="12593650" y="6920522"/>
            <a:ext cx="987400" cy="39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"/>
              </a:lnSpc>
            </a:pPr>
            <a:r>
              <a:rPr lang="en-US" sz="11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Cloud services with high uptime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CD3321D0-7937-DC66-05BA-655C0AA90FAF}"/>
              </a:ext>
            </a:extLst>
          </p:cNvPr>
          <p:cNvSpPr txBox="1"/>
          <p:nvPr/>
        </p:nvSpPr>
        <p:spPr>
          <a:xfrm>
            <a:off x="14050203" y="6844533"/>
            <a:ext cx="987400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3"/>
              </a:lnSpc>
            </a:pPr>
            <a:r>
              <a:rPr lang="en-US" sz="1100" b="1" dirty="0">
                <a:solidFill>
                  <a:srgbClr val="001C58"/>
                </a:solidFill>
                <a:latin typeface="Arial Narrow" panose="020B0606020202030204" pitchFamily="34" charset="0"/>
                <a:ea typeface="Roboto"/>
                <a:cs typeface="Roboto"/>
                <a:sym typeface="Roboto"/>
              </a:rPr>
              <a:t>Regular updates and community support</a:t>
            </a:r>
          </a:p>
        </p:txBody>
      </p:sp>
      <p:sp>
        <p:nvSpPr>
          <p:cNvPr id="77" name="Freeform 27">
            <a:extLst>
              <a:ext uri="{FF2B5EF4-FFF2-40B4-BE49-F238E27FC236}">
                <a16:creationId xmlns:a16="http://schemas.microsoft.com/office/drawing/2014/main" id="{2918A8DD-6F7E-56A6-6C38-9253C496EB30}"/>
              </a:ext>
            </a:extLst>
          </p:cNvPr>
          <p:cNvSpPr/>
          <p:nvPr/>
        </p:nvSpPr>
        <p:spPr>
          <a:xfrm>
            <a:off x="8437291" y="3323539"/>
            <a:ext cx="815522" cy="1231106"/>
          </a:xfrm>
          <a:custGeom>
            <a:avLst/>
            <a:gdLst/>
            <a:ahLst/>
            <a:cxnLst/>
            <a:rect l="l" t="t" r="r" b="b"/>
            <a:pathLst>
              <a:path w="1343025" h="2619375">
                <a:moveTo>
                  <a:pt x="0" y="0"/>
                </a:moveTo>
                <a:lnTo>
                  <a:pt x="1343025" y="0"/>
                </a:lnTo>
                <a:lnTo>
                  <a:pt x="1343025" y="2619375"/>
                </a:lnTo>
                <a:lnTo>
                  <a:pt x="0" y="26193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7F63AB7D-9B35-39B9-393C-49626381722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890" y="3335258"/>
            <a:ext cx="1080923" cy="108092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D071CF2-FE6F-D836-6323-565DB0325F6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798" y="3323120"/>
            <a:ext cx="1080923" cy="1080923"/>
          </a:xfrm>
          <a:prstGeom prst="rect">
            <a:avLst/>
          </a:prstGeom>
        </p:spPr>
      </p:pic>
      <p:sp>
        <p:nvSpPr>
          <p:cNvPr id="83" name="Freeform 41">
            <a:extLst>
              <a:ext uri="{FF2B5EF4-FFF2-40B4-BE49-F238E27FC236}">
                <a16:creationId xmlns:a16="http://schemas.microsoft.com/office/drawing/2014/main" id="{F1301BE1-347B-8E58-6431-3C709A620B98}"/>
              </a:ext>
            </a:extLst>
          </p:cNvPr>
          <p:cNvSpPr/>
          <p:nvPr/>
        </p:nvSpPr>
        <p:spPr>
          <a:xfrm>
            <a:off x="12711223" y="3451941"/>
            <a:ext cx="962025" cy="752475"/>
          </a:xfrm>
          <a:custGeom>
            <a:avLst/>
            <a:gdLst/>
            <a:ahLst/>
            <a:cxnLst/>
            <a:rect l="l" t="t" r="r" b="b"/>
            <a:pathLst>
              <a:path w="962025" h="752475">
                <a:moveTo>
                  <a:pt x="0" y="0"/>
                </a:moveTo>
                <a:lnTo>
                  <a:pt x="962025" y="0"/>
                </a:lnTo>
                <a:lnTo>
                  <a:pt x="962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87" name="Freeform 21">
            <a:extLst>
              <a:ext uri="{FF2B5EF4-FFF2-40B4-BE49-F238E27FC236}">
                <a16:creationId xmlns:a16="http://schemas.microsoft.com/office/drawing/2014/main" id="{0B20530B-5B4B-6255-4E0A-79F645DC6A4B}"/>
              </a:ext>
            </a:extLst>
          </p:cNvPr>
          <p:cNvSpPr/>
          <p:nvPr/>
        </p:nvSpPr>
        <p:spPr>
          <a:xfrm>
            <a:off x="14133987" y="3542503"/>
            <a:ext cx="962025" cy="571500"/>
          </a:xfrm>
          <a:custGeom>
            <a:avLst/>
            <a:gdLst/>
            <a:ahLst/>
            <a:cxnLst/>
            <a:rect l="l" t="t" r="r" b="b"/>
            <a:pathLst>
              <a:path w="962025" h="571500">
                <a:moveTo>
                  <a:pt x="0" y="0"/>
                </a:moveTo>
                <a:lnTo>
                  <a:pt x="962025" y="0"/>
                </a:lnTo>
                <a:lnTo>
                  <a:pt x="962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4048E11C-AA34-7984-1375-C895DA96439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471" y="6065230"/>
            <a:ext cx="882788" cy="88278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23B3149-26F3-B3E4-A89C-092D4B1BB68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631" y="6147288"/>
            <a:ext cx="767862" cy="767862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22A374FA-915C-5DA2-E2EB-4A7F5D2468C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3139" y="6003213"/>
            <a:ext cx="1080923" cy="1080923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6E20D1EF-E443-1058-7F2D-F1A18B8D2C6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5863" y="6082855"/>
            <a:ext cx="795037" cy="79503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6A008180-D1A7-7314-2169-222796A8F60F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184" y="6030600"/>
            <a:ext cx="882788" cy="88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0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2466975" cy="1876425"/>
          </a:xfrm>
          <a:custGeom>
            <a:avLst/>
            <a:gdLst/>
            <a:ahLst/>
            <a:cxnLst/>
            <a:rect l="l" t="t" r="r" b="b"/>
            <a:pathLst>
              <a:path w="2466975" h="1876425">
                <a:moveTo>
                  <a:pt x="0" y="0"/>
                </a:moveTo>
                <a:lnTo>
                  <a:pt x="2466975" y="0"/>
                </a:lnTo>
                <a:lnTo>
                  <a:pt x="24669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0975" y="180975"/>
            <a:ext cx="771525" cy="762000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62934" y="47166"/>
            <a:ext cx="8695487" cy="88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1"/>
              </a:lnSpc>
            </a:pPr>
            <a:r>
              <a:rPr lang="en-US" sz="5243" b="1">
                <a:solidFill>
                  <a:srgbClr val="001C69"/>
                </a:solidFill>
                <a:latin typeface="+mj-lt"/>
                <a:ea typeface="Nourd Semi-Bold"/>
                <a:cs typeface="Nourd Semi-Bold"/>
                <a:sym typeface="Nourd Semi-Bold"/>
              </a:rPr>
              <a:t>RESEARCH &amp; </a:t>
            </a:r>
            <a:r>
              <a:rPr lang="en-US" sz="5243" b="1">
                <a:solidFill>
                  <a:srgbClr val="008F78"/>
                </a:solidFill>
                <a:latin typeface="+mj-lt"/>
                <a:ea typeface="Nourd Semi-Bold"/>
                <a:cs typeface="Nourd Semi-Bold"/>
                <a:sym typeface="Nourd Semi-Bold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98111" y="997113"/>
            <a:ext cx="6529578" cy="288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1698" b="1">
                <a:solidFill>
                  <a:srgbClr val="004AAD"/>
                </a:solidFill>
                <a:latin typeface="+mj-lt"/>
                <a:ea typeface="Nourd Semi-Bold"/>
                <a:cs typeface="Nourd Semi-Bold"/>
                <a:sym typeface="Nourd Semi-Bold"/>
              </a:rPr>
              <a:t>Building on Existing Research. Delivering Real-World Impact.</a:t>
            </a:r>
          </a:p>
        </p:txBody>
      </p:sp>
      <p:sp>
        <p:nvSpPr>
          <p:cNvPr id="7" name="Freeform 7"/>
          <p:cNvSpPr/>
          <p:nvPr/>
        </p:nvSpPr>
        <p:spPr>
          <a:xfrm>
            <a:off x="4543425" y="1114425"/>
            <a:ext cx="6838950" cy="571500"/>
          </a:xfrm>
          <a:custGeom>
            <a:avLst/>
            <a:gdLst/>
            <a:ahLst/>
            <a:cxnLst/>
            <a:rect l="l" t="t" r="r" b="b"/>
            <a:pathLst>
              <a:path w="6838950" h="571500">
                <a:moveTo>
                  <a:pt x="0" y="0"/>
                </a:moveTo>
                <a:lnTo>
                  <a:pt x="6838950" y="0"/>
                </a:lnTo>
                <a:lnTo>
                  <a:pt x="68389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39825" y="180975"/>
            <a:ext cx="1905000" cy="942975"/>
          </a:xfrm>
          <a:custGeom>
            <a:avLst/>
            <a:gdLst/>
            <a:ahLst/>
            <a:cxnLst/>
            <a:rect l="l" t="t" r="r" b="b"/>
            <a:pathLst>
              <a:path w="1905000" h="942975">
                <a:moveTo>
                  <a:pt x="0" y="0"/>
                </a:moveTo>
                <a:lnTo>
                  <a:pt x="1905000" y="0"/>
                </a:lnTo>
                <a:lnTo>
                  <a:pt x="1905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1975" y="1676400"/>
            <a:ext cx="6267450" cy="6172200"/>
          </a:xfrm>
          <a:custGeom>
            <a:avLst/>
            <a:gdLst/>
            <a:ahLst/>
            <a:cxnLst/>
            <a:rect l="l" t="t" r="r" b="b"/>
            <a:pathLst>
              <a:path w="6267450" h="6172200">
                <a:moveTo>
                  <a:pt x="0" y="0"/>
                </a:moveTo>
                <a:lnTo>
                  <a:pt x="6267450" y="0"/>
                </a:lnTo>
                <a:lnTo>
                  <a:pt x="626745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42975" y="1304925"/>
            <a:ext cx="771525" cy="942975"/>
          </a:xfrm>
          <a:custGeom>
            <a:avLst/>
            <a:gdLst/>
            <a:ahLst/>
            <a:cxnLst/>
            <a:rect l="l" t="t" r="r" b="b"/>
            <a:pathLst>
              <a:path w="771525" h="942975">
                <a:moveTo>
                  <a:pt x="0" y="0"/>
                </a:moveTo>
                <a:lnTo>
                  <a:pt x="771525" y="0"/>
                </a:lnTo>
                <a:lnTo>
                  <a:pt x="771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33475" y="1485900"/>
            <a:ext cx="581025" cy="571500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14475" y="1485900"/>
            <a:ext cx="3228975" cy="571500"/>
          </a:xfrm>
          <a:custGeom>
            <a:avLst/>
            <a:gdLst/>
            <a:ahLst/>
            <a:cxnLst/>
            <a:rect l="l" t="t" r="r" b="b"/>
            <a:pathLst>
              <a:path w="3228975" h="571500">
                <a:moveTo>
                  <a:pt x="0" y="0"/>
                </a:moveTo>
                <a:lnTo>
                  <a:pt x="3228975" y="0"/>
                </a:lnTo>
                <a:lnTo>
                  <a:pt x="3228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63319" y="1645355"/>
            <a:ext cx="2468499" cy="25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6" b="1">
                <a:solidFill>
                  <a:srgbClr val="FFFFFF"/>
                </a:solidFill>
                <a:latin typeface="+mj-lt"/>
                <a:ea typeface="Nourd Semi-Bold"/>
                <a:cs typeface="Nourd Semi-Bold"/>
                <a:sym typeface="Nourd Semi-Bold"/>
              </a:rPr>
              <a:t>BACKGROUND RESEARCH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8135" y="2070375"/>
            <a:ext cx="4268114" cy="59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167">
                <a:solidFill>
                  <a:srgbClr val="001C69"/>
                </a:solidFill>
                <a:latin typeface="+mj-lt"/>
                <a:ea typeface="Nourd"/>
                <a:cs typeface="Nourd"/>
                <a:sym typeface="Nourd"/>
              </a:rPr>
              <a:t>Extensive research in IoT, wearable sensors, cloud computing, and health informatics has enabled the development of robust and scalable remote patient monitoring systems.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752475" y="2609850"/>
            <a:ext cx="5505450" cy="1133475"/>
          </a:xfrm>
          <a:custGeom>
            <a:avLst/>
            <a:gdLst/>
            <a:ahLst/>
            <a:cxnLst/>
            <a:rect l="l" t="t" r="r" b="b"/>
            <a:pathLst>
              <a:path w="5505450" h="1133475">
                <a:moveTo>
                  <a:pt x="0" y="0"/>
                </a:moveTo>
                <a:lnTo>
                  <a:pt x="5505450" y="0"/>
                </a:lnTo>
                <a:lnTo>
                  <a:pt x="550545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42975" y="2800350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895475" y="2800350"/>
            <a:ext cx="190500" cy="942975"/>
          </a:xfrm>
          <a:custGeom>
            <a:avLst/>
            <a:gdLst/>
            <a:ahLst/>
            <a:cxnLst/>
            <a:rect l="l" t="t" r="r" b="b"/>
            <a:pathLst>
              <a:path w="190500" h="942975">
                <a:moveTo>
                  <a:pt x="0" y="0"/>
                </a:moveTo>
                <a:lnTo>
                  <a:pt x="190500" y="0"/>
                </a:lnTo>
                <a:lnTo>
                  <a:pt x="190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213686" y="3255675"/>
            <a:ext cx="3920414" cy="329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8"/>
              </a:lnSpc>
            </a:pPr>
            <a:r>
              <a:rPr lang="en-US" sz="1200" dirty="0">
                <a:solidFill>
                  <a:srgbClr val="001C69"/>
                </a:solidFill>
                <a:latin typeface="+mj-lt"/>
                <a:ea typeface="Nourd"/>
                <a:cs typeface="Nourd"/>
                <a:sym typeface="Nourd"/>
              </a:rPr>
              <a:t>IoT technologies enable continuous health monitoring and real-time data transmission, improving patient care and operational efficiency.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2475" y="3733800"/>
            <a:ext cx="5505450" cy="942975"/>
          </a:xfrm>
          <a:custGeom>
            <a:avLst/>
            <a:gdLst/>
            <a:ahLst/>
            <a:cxnLst/>
            <a:rect l="l" t="t" r="r" b="b"/>
            <a:pathLst>
              <a:path w="5505450" h="942975">
                <a:moveTo>
                  <a:pt x="0" y="0"/>
                </a:moveTo>
                <a:lnTo>
                  <a:pt x="5505450" y="0"/>
                </a:lnTo>
                <a:lnTo>
                  <a:pt x="55054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42975" y="3733800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895475" y="3733800"/>
            <a:ext cx="190500" cy="942975"/>
          </a:xfrm>
          <a:custGeom>
            <a:avLst/>
            <a:gdLst/>
            <a:ahLst/>
            <a:cxnLst/>
            <a:rect l="l" t="t" r="r" b="b"/>
            <a:pathLst>
              <a:path w="190500" h="942975">
                <a:moveTo>
                  <a:pt x="0" y="0"/>
                </a:moveTo>
                <a:lnTo>
                  <a:pt x="190500" y="0"/>
                </a:lnTo>
                <a:lnTo>
                  <a:pt x="190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213686" y="4143404"/>
            <a:ext cx="3503676" cy="3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7"/>
              </a:lnSpc>
            </a:pPr>
            <a:r>
              <a:rPr lang="en-US" sz="1200" dirty="0">
                <a:solidFill>
                  <a:srgbClr val="001C69"/>
                </a:solidFill>
                <a:latin typeface="+mj-lt"/>
                <a:ea typeface="Nourd"/>
                <a:cs typeface="Nourd"/>
                <a:sym typeface="Nourd"/>
              </a:rPr>
              <a:t>Sensors like MAx30100 and DS18B2D provide accurate and non-invasive measurement of vital signs such as heart rate, SpO2, and body temperature.</a:t>
            </a:r>
          </a:p>
        </p:txBody>
      </p:sp>
      <p:sp>
        <p:nvSpPr>
          <p:cNvPr id="23" name="Freeform 23"/>
          <p:cNvSpPr/>
          <p:nvPr/>
        </p:nvSpPr>
        <p:spPr>
          <a:xfrm>
            <a:off x="752475" y="4667250"/>
            <a:ext cx="5505450" cy="942975"/>
          </a:xfrm>
          <a:custGeom>
            <a:avLst/>
            <a:gdLst/>
            <a:ahLst/>
            <a:cxnLst/>
            <a:rect l="l" t="t" r="r" b="b"/>
            <a:pathLst>
              <a:path w="5505450" h="942975">
                <a:moveTo>
                  <a:pt x="0" y="0"/>
                </a:moveTo>
                <a:lnTo>
                  <a:pt x="5505450" y="0"/>
                </a:lnTo>
                <a:lnTo>
                  <a:pt x="55054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42975" y="4667250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895475" y="4667250"/>
            <a:ext cx="190500" cy="942975"/>
          </a:xfrm>
          <a:custGeom>
            <a:avLst/>
            <a:gdLst/>
            <a:ahLst/>
            <a:cxnLst/>
            <a:rect l="l" t="t" r="r" b="b"/>
            <a:pathLst>
              <a:path w="190500" h="942975">
                <a:moveTo>
                  <a:pt x="0" y="0"/>
                </a:moveTo>
                <a:lnTo>
                  <a:pt x="190500" y="0"/>
                </a:lnTo>
                <a:lnTo>
                  <a:pt x="190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213686" y="5035772"/>
            <a:ext cx="337627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200" dirty="0">
                <a:solidFill>
                  <a:srgbClr val="001C69"/>
                </a:solidFill>
                <a:latin typeface="+mj-lt"/>
                <a:ea typeface="Nourd"/>
                <a:cs typeface="Nourd"/>
                <a:sym typeface="Nourd"/>
              </a:rPr>
              <a:t>Cloud platforms (Firebase/Blynk/AWS) ensure secure data storage, real-time synchronization, and seamless access from anywhere.</a:t>
            </a:r>
          </a:p>
        </p:txBody>
      </p:sp>
      <p:sp>
        <p:nvSpPr>
          <p:cNvPr id="27" name="Freeform 27"/>
          <p:cNvSpPr/>
          <p:nvPr/>
        </p:nvSpPr>
        <p:spPr>
          <a:xfrm>
            <a:off x="752475" y="5600700"/>
            <a:ext cx="5505450" cy="942975"/>
          </a:xfrm>
          <a:custGeom>
            <a:avLst/>
            <a:gdLst/>
            <a:ahLst/>
            <a:cxnLst/>
            <a:rect l="l" t="t" r="r" b="b"/>
            <a:pathLst>
              <a:path w="5505450" h="942975">
                <a:moveTo>
                  <a:pt x="0" y="0"/>
                </a:moveTo>
                <a:lnTo>
                  <a:pt x="5505450" y="0"/>
                </a:lnTo>
                <a:lnTo>
                  <a:pt x="55054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42975" y="5600700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895475" y="5600700"/>
            <a:ext cx="190500" cy="942975"/>
          </a:xfrm>
          <a:custGeom>
            <a:avLst/>
            <a:gdLst/>
            <a:ahLst/>
            <a:cxnLst/>
            <a:rect l="l" t="t" r="r" b="b"/>
            <a:pathLst>
              <a:path w="190500" h="942975">
                <a:moveTo>
                  <a:pt x="0" y="0"/>
                </a:moveTo>
                <a:lnTo>
                  <a:pt x="190500" y="0"/>
                </a:lnTo>
                <a:lnTo>
                  <a:pt x="190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2213686" y="5985853"/>
            <a:ext cx="328071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200" dirty="0">
                <a:solidFill>
                  <a:srgbClr val="001C69"/>
                </a:solidFill>
                <a:latin typeface="+mj-lt"/>
                <a:ea typeface="Nourd"/>
                <a:cs typeface="Nourd"/>
                <a:sym typeface="Nourd"/>
              </a:rPr>
              <a:t>Threshold-based alert mechanisms enhance patient safety by enabling instant notifications for abnormal health events.</a:t>
            </a:r>
          </a:p>
        </p:txBody>
      </p:sp>
      <p:sp>
        <p:nvSpPr>
          <p:cNvPr id="31" name="Freeform 31"/>
          <p:cNvSpPr/>
          <p:nvPr/>
        </p:nvSpPr>
        <p:spPr>
          <a:xfrm>
            <a:off x="752475" y="6534150"/>
            <a:ext cx="5505450" cy="1123950"/>
          </a:xfrm>
          <a:custGeom>
            <a:avLst/>
            <a:gdLst/>
            <a:ahLst/>
            <a:cxnLst/>
            <a:rect l="l" t="t" r="r" b="b"/>
            <a:pathLst>
              <a:path w="5505450" h="1123950">
                <a:moveTo>
                  <a:pt x="0" y="0"/>
                </a:moveTo>
                <a:lnTo>
                  <a:pt x="5505450" y="0"/>
                </a:lnTo>
                <a:lnTo>
                  <a:pt x="55054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42975" y="6534150"/>
            <a:ext cx="962025" cy="942975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895475" y="6715125"/>
            <a:ext cx="190500" cy="762000"/>
          </a:xfrm>
          <a:custGeom>
            <a:avLst/>
            <a:gdLst/>
            <a:ahLst/>
            <a:cxnLst/>
            <a:rect l="l" t="t" r="r" b="b"/>
            <a:pathLst>
              <a:path w="190500" h="762000">
                <a:moveTo>
                  <a:pt x="0" y="0"/>
                </a:moveTo>
                <a:lnTo>
                  <a:pt x="190500" y="0"/>
                </a:lnTo>
                <a:lnTo>
                  <a:pt x="1905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2213686" y="6721836"/>
            <a:ext cx="1114806" cy="20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 b="1">
                <a:solidFill>
                  <a:srgbClr val="008F78"/>
                </a:solidFill>
                <a:latin typeface="+mj-lt"/>
                <a:ea typeface="Nourd Semi-Bold"/>
                <a:cs typeface="Nourd Semi-Bold"/>
                <a:sym typeface="Nourd Semi-Bold"/>
              </a:rPr>
              <a:t>Impact of RPM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13686" y="6962823"/>
            <a:ext cx="318516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100" dirty="0">
                <a:solidFill>
                  <a:srgbClr val="001C69"/>
                </a:solidFill>
                <a:latin typeface="+mj-lt"/>
                <a:ea typeface="Nourd"/>
                <a:cs typeface="Nourd"/>
                <a:sym typeface="Nourd"/>
              </a:rPr>
              <a:t>Research shows Remote Patient Monitoring (RPM) reduces hospital readmissions, improves outcomes, and lowers healthcare costs.</a:t>
            </a:r>
          </a:p>
        </p:txBody>
      </p:sp>
      <p:sp>
        <p:nvSpPr>
          <p:cNvPr id="36" name="Freeform 36"/>
          <p:cNvSpPr/>
          <p:nvPr/>
        </p:nvSpPr>
        <p:spPr>
          <a:xfrm>
            <a:off x="7581900" y="1485900"/>
            <a:ext cx="7210425" cy="571500"/>
          </a:xfrm>
          <a:custGeom>
            <a:avLst/>
            <a:gdLst/>
            <a:ahLst/>
            <a:cxnLst/>
            <a:rect l="l" t="t" r="r" b="b"/>
            <a:pathLst>
              <a:path w="7210425" h="571500">
                <a:moveTo>
                  <a:pt x="0" y="0"/>
                </a:moveTo>
                <a:lnTo>
                  <a:pt x="7210425" y="0"/>
                </a:lnTo>
                <a:lnTo>
                  <a:pt x="72104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7581900" y="1304925"/>
            <a:ext cx="762000" cy="942975"/>
          </a:xfrm>
          <a:custGeom>
            <a:avLst/>
            <a:gdLst/>
            <a:ahLst/>
            <a:cxnLst/>
            <a:rect l="l" t="t" r="r" b="b"/>
            <a:pathLst>
              <a:path w="762000" h="942975">
                <a:moveTo>
                  <a:pt x="0" y="0"/>
                </a:moveTo>
                <a:lnTo>
                  <a:pt x="762000" y="0"/>
                </a:lnTo>
                <a:lnTo>
                  <a:pt x="762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8456600" y="1663619"/>
            <a:ext cx="1258138" cy="26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 b="1">
                <a:solidFill>
                  <a:srgbClr val="FFFFFF"/>
                </a:solidFill>
                <a:latin typeface="+mj-lt"/>
                <a:ea typeface="Nourd Semi-Bold"/>
                <a:cs typeface="Nourd Semi-Bold"/>
                <a:sym typeface="Nourd Semi-Bold"/>
              </a:rPr>
              <a:t>REFERENCES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13686" y="2881237"/>
            <a:ext cx="1369619" cy="216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273" b="1" dirty="0">
                <a:solidFill>
                  <a:srgbClr val="004AAD"/>
                </a:solidFill>
                <a:latin typeface="+mj-lt"/>
                <a:ea typeface="Nourd Semi-Bold"/>
                <a:cs typeface="Nourd Semi-Bold"/>
                <a:sym typeface="Nourd Semi-Bold"/>
              </a:rPr>
              <a:t>IoT in Healthcare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213686" y="3835742"/>
            <a:ext cx="1369619" cy="20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 b="1">
                <a:solidFill>
                  <a:srgbClr val="004AAD"/>
                </a:solidFill>
                <a:latin typeface="+mj-lt"/>
                <a:ea typeface="Nourd Semi-Bold"/>
                <a:cs typeface="Nourd Semi-Bold"/>
                <a:sym typeface="Nourd Semi-Bold"/>
              </a:rPr>
              <a:t>Wearable Sensors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213686" y="4780948"/>
            <a:ext cx="1417396" cy="206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 b="1" dirty="0">
                <a:solidFill>
                  <a:srgbClr val="004AAD"/>
                </a:solidFill>
                <a:latin typeface="+mj-lt"/>
                <a:ea typeface="Nourd Semi-Bold"/>
                <a:cs typeface="Nourd Semi-Bold"/>
                <a:sym typeface="Nourd Semi-Bold"/>
              </a:rPr>
              <a:t>Cloud Computing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213686" y="5731479"/>
            <a:ext cx="1114806" cy="216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273" b="1" dirty="0">
                <a:solidFill>
                  <a:srgbClr val="E46B00"/>
                </a:solidFill>
                <a:latin typeface="+mj-lt"/>
                <a:ea typeface="Nourd Semi-Bold"/>
                <a:cs typeface="Nourd Semi-Bold"/>
                <a:sym typeface="Nourd Semi-Bold"/>
              </a:rPr>
              <a:t>Alert Systems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609663" y="4289779"/>
            <a:ext cx="1563474" cy="24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2000" b="1" dirty="0">
                <a:solidFill>
                  <a:srgbClr val="008F78"/>
                </a:solidFill>
                <a:latin typeface="+mj-lt"/>
                <a:ea typeface="Nourd Semi-Bold"/>
                <a:cs typeface="Nourd Semi-Bold"/>
                <a:sym typeface="Nourd Semi-Bold"/>
              </a:rPr>
              <a:t>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329807" y="4657140"/>
            <a:ext cx="1563474" cy="217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08" b="1" dirty="0">
                <a:solidFill>
                  <a:srgbClr val="008F78"/>
                </a:solidFill>
                <a:latin typeface="+mj-lt"/>
                <a:ea typeface="Nourd Semi-Bold"/>
                <a:cs typeface="Nourd Semi-Bold"/>
                <a:sym typeface="Nourd Semi-Bold"/>
              </a:rPr>
              <a:t>3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151857" y="3600545"/>
            <a:ext cx="429997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b="1" dirty="0">
                <a:solidFill>
                  <a:srgbClr val="008F78"/>
                </a:solidFill>
                <a:latin typeface="+mj-lt"/>
                <a:ea typeface="Nourd Semi-Bold"/>
                <a:cs typeface="Nourd Semi-Bold"/>
                <a:sym typeface="Nourd Semi-Bold"/>
              </a:rPr>
              <a:t>2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688135" y="180137"/>
            <a:ext cx="445922" cy="97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 b="1">
                <a:solidFill>
                  <a:srgbClr val="001C69"/>
                </a:solidFill>
                <a:latin typeface="+mj-lt"/>
                <a:ea typeface="Nourd Semi-Bold"/>
                <a:cs typeface="Nourd Semi-Bold"/>
                <a:sym typeface="Nourd Semi-Bold"/>
              </a:rPr>
              <a:t>Background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88135" y="180137"/>
            <a:ext cx="445922" cy="97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 b="1">
                <a:solidFill>
                  <a:srgbClr val="001C69"/>
                </a:solidFill>
                <a:latin typeface="+mj-lt"/>
                <a:ea typeface="Nourd Semi-Bold"/>
                <a:cs typeface="Nourd Semi-Bold"/>
                <a:sym typeface="Nourd Semi-Bold"/>
              </a:rPr>
              <a:t>Background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688135" y="180137"/>
            <a:ext cx="445922" cy="97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 b="1">
                <a:solidFill>
                  <a:srgbClr val="001C69"/>
                </a:solidFill>
                <a:latin typeface="+mj-lt"/>
                <a:ea typeface="Nourd Semi-Bold"/>
                <a:cs typeface="Nourd Semi-Bold"/>
                <a:sym typeface="Nourd Semi-Bold"/>
              </a:rPr>
              <a:t>Background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688135" y="180137"/>
            <a:ext cx="445922" cy="97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 b="1">
                <a:solidFill>
                  <a:srgbClr val="001C69"/>
                </a:solidFill>
                <a:latin typeface="+mj-lt"/>
                <a:ea typeface="Nourd Semi-Bold"/>
                <a:cs typeface="Nourd Semi-Bold"/>
                <a:sym typeface="Nourd Semi-Bold"/>
              </a:rPr>
              <a:t>Background</a:t>
            </a:r>
          </a:p>
        </p:txBody>
      </p:sp>
      <p:sp>
        <p:nvSpPr>
          <p:cNvPr id="79" name="TextBox 74">
            <a:extLst>
              <a:ext uri="{FF2B5EF4-FFF2-40B4-BE49-F238E27FC236}">
                <a16:creationId xmlns:a16="http://schemas.microsoft.com/office/drawing/2014/main" id="{B815C17A-5F87-55A3-B85E-D8953DD0F9AF}"/>
              </a:ext>
            </a:extLst>
          </p:cNvPr>
          <p:cNvSpPr txBox="1"/>
          <p:nvPr/>
        </p:nvSpPr>
        <p:spPr>
          <a:xfrm>
            <a:off x="7151857" y="2333368"/>
            <a:ext cx="429997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b="1" dirty="0">
                <a:solidFill>
                  <a:srgbClr val="008F78"/>
                </a:solidFill>
                <a:latin typeface="+mj-lt"/>
                <a:ea typeface="Nourd Semi-Bold"/>
                <a:cs typeface="Nourd Semi-Bold"/>
                <a:sym typeface="Nourd Semi-Bold"/>
              </a:rPr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125C84-2D62-A9AD-5FC5-B7A98B173631}"/>
              </a:ext>
            </a:extLst>
          </p:cNvPr>
          <p:cNvSpPr txBox="1"/>
          <p:nvPr/>
        </p:nvSpPr>
        <p:spPr>
          <a:xfrm>
            <a:off x="7613028" y="2229717"/>
            <a:ext cx="8131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Internet of Things: A Survey on Enabling Technologies, Protocols, and Applications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Authors: Al-Fuqaha, </a:t>
            </a:r>
            <a:r>
              <a:rPr lang="en-IN" dirty="0" err="1">
                <a:latin typeface="+mj-lt"/>
              </a:rPr>
              <a:t>Guizani</a:t>
            </a:r>
            <a:r>
              <a:rPr lang="en-IN" dirty="0">
                <a:latin typeface="+mj-lt"/>
              </a:rPr>
              <a:t>, Mohammadi, </a:t>
            </a:r>
            <a:r>
              <a:rPr lang="en-IN" dirty="0" err="1">
                <a:latin typeface="+mj-lt"/>
              </a:rPr>
              <a:t>Aledhari</a:t>
            </a:r>
            <a:r>
              <a:rPr lang="en-IN" dirty="0">
                <a:latin typeface="+mj-lt"/>
              </a:rPr>
              <a:t> &amp; Ayyash (2015)</a:t>
            </a:r>
          </a:p>
          <a:p>
            <a:r>
              <a:rPr lang="en-IN" dirty="0">
                <a:latin typeface="+mj-lt"/>
                <a:hlinkClick r:id="rId27"/>
              </a:rPr>
              <a:t>https://www.researchgate.net/publication/279177017_Internet_of_Things_A_Survey_on_Enabling_Technologies_Protocols_and_Applications</a:t>
            </a:r>
            <a:endParaRPr lang="en-IN" dirty="0">
              <a:latin typeface="+mj-l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20B837-3BA7-1401-6A1E-5A52D2891438}"/>
              </a:ext>
            </a:extLst>
          </p:cNvPr>
          <p:cNvSpPr txBox="1"/>
          <p:nvPr/>
        </p:nvSpPr>
        <p:spPr>
          <a:xfrm>
            <a:off x="7567375" y="3483607"/>
            <a:ext cx="8131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IoT-Based Healthcare-Monitoring System towards Improving Quality of Life</a:t>
            </a:r>
          </a:p>
          <a:p>
            <a:r>
              <a:rPr lang="en-IN" dirty="0">
                <a:latin typeface="+mj-lt"/>
                <a:hlinkClick r:id="rId28"/>
              </a:rPr>
              <a:t>https://pmc.ncbi.nlm.nih.gov/articles/PMC9601552/</a:t>
            </a:r>
            <a:endParaRPr lang="en-IN" dirty="0">
              <a:latin typeface="+mj-lt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4493CA-3EB6-7CF3-8393-8866B9CF6182}"/>
              </a:ext>
            </a:extLst>
          </p:cNvPr>
          <p:cNvSpPr txBox="1"/>
          <p:nvPr/>
        </p:nvSpPr>
        <p:spPr>
          <a:xfrm>
            <a:off x="7532902" y="4158556"/>
            <a:ext cx="8131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Internet of Things (IoT) in healthcare</a:t>
            </a:r>
          </a:p>
          <a:p>
            <a:r>
              <a:rPr lang="en-IN" b="1" dirty="0">
                <a:hlinkClick r:id="rId29"/>
              </a:rPr>
              <a:t>https://www.sciencedirect.com/science/article/pii/S2542660523000446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1070</Words>
  <Application>Microsoft Office PowerPoint</Application>
  <PresentationFormat>Custom</PresentationFormat>
  <Paragraphs>190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 Narrow</vt:lpstr>
      <vt:lpstr>Nunito Ultra-Bold</vt:lpstr>
      <vt:lpstr>Aptos</vt:lpstr>
      <vt:lpstr>Aptos Narrow</vt:lpstr>
      <vt:lpstr>Agency FB</vt:lpstr>
      <vt:lpstr>Algerian</vt:lpstr>
      <vt:lpstr>Arial</vt:lpstr>
      <vt:lpstr>Nunito Bold</vt:lpstr>
      <vt:lpstr>Bebas Neue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Apurba Das</dc:creator>
  <cp:lastModifiedBy>Apurba Das</cp:lastModifiedBy>
  <cp:revision>4</cp:revision>
  <dcterms:created xsi:type="dcterms:W3CDTF">2006-08-16T00:00:00Z</dcterms:created>
  <dcterms:modified xsi:type="dcterms:W3CDTF">2026-09-05T19:25:02Z</dcterms:modified>
  <dc:identifier>DAHT4JvuWNQ</dc:identifier>
</cp:coreProperties>
</file>